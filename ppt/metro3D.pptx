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60" r:id="rId3"/>
    <p:sldId id="257" r:id="rId4"/>
    <p:sldId id="258" r:id="rId5"/>
    <p:sldId id="261" r:id="rId6"/>
    <p:sldId id="266" r:id="rId7"/>
    <p:sldId id="259" r:id="rId8"/>
    <p:sldId id="262" r:id="rId9"/>
    <p:sldId id="264" r:id="rId10"/>
    <p:sldId id="272" r:id="rId11"/>
    <p:sldId id="268" r:id="rId12"/>
    <p:sldId id="274" r:id="rId13"/>
    <p:sldId id="277" r:id="rId14"/>
    <p:sldId id="267" r:id="rId15"/>
    <p:sldId id="269" r:id="rId16"/>
    <p:sldId id="275" r:id="rId17"/>
    <p:sldId id="270" r:id="rId18"/>
    <p:sldId id="286" r:id="rId19"/>
    <p:sldId id="263" r:id="rId20"/>
    <p:sldId id="287" r:id="rId21"/>
    <p:sldId id="276" r:id="rId22"/>
    <p:sldId id="285" r:id="rId23"/>
    <p:sldId id="289" r:id="rId24"/>
    <p:sldId id="288" r:id="rId25"/>
    <p:sldId id="290" r:id="rId26"/>
    <p:sldId id="278" r:id="rId27"/>
    <p:sldId id="281" r:id="rId28"/>
    <p:sldId id="283" r:id="rId29"/>
    <p:sldId id="284" r:id="rId30"/>
    <p:sldId id="282" r:id="rId3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67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89240-E3CE-45AD-B130-10A7D5074547}" type="datetimeFigureOut">
              <a:rPr lang="zh-TW" altLang="en-US" smtClean="0"/>
              <a:t>2023/5/23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12FB1B-A1D9-48FA-9FC3-E8DDECFB39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2646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https://www.dbs.ifi.lmu.de/~yu_k/icml2010_3dcnn.pdf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12FB1B-A1D9-48FA-9FC3-E8DDECFB392D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9602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4474C9-1D3E-EBAF-5B30-9213EBBCA5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5DCC786-306C-D0E6-AFEA-2581A69B53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2DDAF21-0C60-D747-6A45-3631ED284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3FD8-A92F-4567-BE82-22BD66FCBEAD}" type="datetimeFigureOut">
              <a:rPr lang="zh-TW" altLang="en-US" smtClean="0"/>
              <a:t>2023/5/23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47BFF28-AE47-EF21-B6F3-F3DA05195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F642F34-0D10-698A-257C-0ED979FDF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25928-9F70-4696-83FB-6CE109F1E8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4837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1BF128-9721-5D61-AB22-AC952DE1A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4D6CC21-0CF4-2940-1532-76AC6D70F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8E773D1-67E9-6209-992D-6BA4503A3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3FD8-A92F-4567-BE82-22BD66FCBEAD}" type="datetimeFigureOut">
              <a:rPr lang="zh-TW" altLang="en-US" smtClean="0"/>
              <a:t>2023/5/23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18B5562-FA2B-A92C-EC78-0F330F889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56C35A2-A8B5-8C58-1036-201A5682B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25928-9F70-4696-83FB-6CE109F1E8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9318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402512-0475-1851-62F9-A61CB40B5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0753601-1E7F-9091-A6D6-B9D451F00F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866ED77-A4D6-F8D9-5334-C99383F15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3FD8-A92F-4567-BE82-22BD66FCBEAD}" type="datetimeFigureOut">
              <a:rPr lang="zh-TW" altLang="en-US" smtClean="0"/>
              <a:t>2023/5/23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3C1D3D5-175D-60B5-66D9-17FCF3FB4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9128E09-8980-4CAE-816A-491298FD8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25928-9F70-4696-83FB-6CE109F1E8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6632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E0A686-946B-9110-9F15-8E21EFDB5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CC1B23-17B0-37C4-B14B-99F5808316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723F81F-95D0-513F-E1F9-B6880648A0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6781F2A-F3CF-C2DE-FE96-B2029A1A7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3FD8-A92F-4567-BE82-22BD66FCBEAD}" type="datetimeFigureOut">
              <a:rPr lang="zh-TW" altLang="en-US" smtClean="0"/>
              <a:t>2023/5/23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9A0547D-5A41-EC38-8DD0-853D7C7E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6E73D8A-4661-516D-7050-C16A183A3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25928-9F70-4696-83FB-6CE109F1E8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3241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DC0DC7-7824-0260-981C-9ED7AEFA7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1AF9D47-B65D-2838-61D7-ECAF8EB85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9065E8F-E042-9B8A-21AE-ED41FD7ECB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03EEB5A-5126-770C-9F84-3A369F4235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9AE064B-3EC0-6E52-12EB-AA406259B7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CE869A6-110B-9814-6172-85E272D8D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3FD8-A92F-4567-BE82-22BD66FCBEAD}" type="datetimeFigureOut">
              <a:rPr lang="zh-TW" altLang="en-US" smtClean="0"/>
              <a:t>2023/5/23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1D305A6-B145-0635-75B7-362D023A5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5565F1F-992B-8859-7935-1CA184308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25928-9F70-4696-83FB-6CE109F1E8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595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6DC4B8-A8BC-009E-D294-D7E7E182B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BA68B7C-39C7-9F9A-BED2-1CA59D77D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3FD8-A92F-4567-BE82-22BD66FCBEAD}" type="datetimeFigureOut">
              <a:rPr lang="zh-TW" altLang="en-US" smtClean="0"/>
              <a:t>2023/5/23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E204D1F-04C6-132C-7335-E8C7034AA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A844614-9B28-2ECA-9BC1-A55532AD1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25928-9F70-4696-83FB-6CE109F1E8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4161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1DF12AE-6047-0EFD-BD3B-E2D24B645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3FD8-A92F-4567-BE82-22BD66FCBEAD}" type="datetimeFigureOut">
              <a:rPr lang="zh-TW" altLang="en-US" smtClean="0"/>
              <a:t>2023/5/23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E0AA4C7-BDA5-23A4-29E0-0612D24FD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62300DE-DA92-F041-5AC1-3886839B1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25928-9F70-4696-83FB-6CE109F1E8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398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899552-0735-CC3D-3D23-4B4813F64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CD0AF0-ADBE-9A98-BA4B-DCA21C196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B5B3C73-BFB9-D912-B41B-E337EFB805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92CD46B-B352-8081-9CEC-4CA35567A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3FD8-A92F-4567-BE82-22BD66FCBEAD}" type="datetimeFigureOut">
              <a:rPr lang="zh-TW" altLang="en-US" smtClean="0"/>
              <a:t>2023/5/23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82AFA10-5580-D4C3-B0FD-D126FAE7A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0B2BA3A-ADA9-BF76-249D-84DACBB7A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25928-9F70-4696-83FB-6CE109F1E8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4792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2E741B-5B48-4EAE-0799-3CE84445C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65771C9-7257-DA3A-4936-21890613CA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5559F8C-8ED9-B8D6-1F02-B42E96818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4C3B321-9E95-1824-87AD-A1514717C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3FD8-A92F-4567-BE82-22BD66FCBEAD}" type="datetimeFigureOut">
              <a:rPr lang="zh-TW" altLang="en-US" smtClean="0"/>
              <a:t>2023/5/23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E8F4FB8-1D06-8051-B4A4-D041ACC4A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5133D07-BBAB-F7EC-C3B6-5D198892F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25928-9F70-4696-83FB-6CE109F1E8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1135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0DFA37-2744-20F4-B502-623FE66F3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3E990D6-EB43-E2C3-CA91-90F8BE6E0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1C51834-EF26-CF34-5CFD-865143575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3FD8-A92F-4567-BE82-22BD66FCBEAD}" type="datetimeFigureOut">
              <a:rPr lang="zh-TW" altLang="en-US" smtClean="0"/>
              <a:t>2023/5/23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4115351-74C0-62E3-D679-75290DC1A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1D8CA64-7156-BAEF-A3FE-6EA1D151F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25928-9F70-4696-83FB-6CE109F1E8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0318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4E4C528-8328-7A94-3F61-63EE86E386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AFA0644-41EC-24F0-6443-3FBE32F53F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ABD104B-CB4B-14D8-8CE4-0EC027818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3FD8-A92F-4567-BE82-22BD66FCBEAD}" type="datetimeFigureOut">
              <a:rPr lang="zh-TW" altLang="en-US" smtClean="0"/>
              <a:t>2023/5/23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50DF825-EED4-E0BD-FF6E-8241AC01B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3AF01EA-47E8-941E-B52A-1318EBE42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25928-9F70-4696-83FB-6CE109F1E8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2082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4EEBE66-91C9-DB44-D077-047E06257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5DCC38F-A7EE-F845-BF3F-FFC5C5534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6E4BF89-7498-DFD4-BDEF-2AABB690F7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83FD8-A92F-4567-BE82-22BD66FCBEAD}" type="datetimeFigureOut">
              <a:rPr lang="zh-TW" altLang="en-US" smtClean="0"/>
              <a:t>2023/5/23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B17D2E3-632D-BB41-3566-30707A8483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1FABFF5-42FE-7CE9-4BC7-AEC3C0AEED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725928-9F70-4696-83FB-6CE109F1E8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3671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47050B-B28D-85DC-5901-829F9FF74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40509"/>
            <a:ext cx="9144000" cy="2826326"/>
          </a:xfrm>
        </p:spPr>
        <p:txBody>
          <a:bodyPr>
            <a:normAutofit/>
          </a:bodyPr>
          <a:lstStyle/>
          <a:p>
            <a:r>
              <a:rPr lang="en-US" altLang="zh-TW" sz="4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 deep neural network model with GCN and 3D convolutional network for short-term metro passenger flow forecasting</a:t>
            </a:r>
            <a:endParaRPr lang="zh-TW" alt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944A4FA-474E-B1A8-5F0F-BCF2640E2AFB}"/>
              </a:ext>
            </a:extLst>
          </p:cNvPr>
          <p:cNvSpPr txBox="1"/>
          <p:nvPr/>
        </p:nvSpPr>
        <p:spPr>
          <a:xfrm>
            <a:off x="1616363" y="4004025"/>
            <a:ext cx="85251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TW" dirty="0"/>
              <a:t>Xuanrong Zhang,   Cheng Wang,  Jianwei Chen,   Ding Chen</a:t>
            </a:r>
          </a:p>
          <a:p>
            <a:pPr algn="ctr"/>
            <a:r>
              <a:rPr lang="en-US" altLang="zh-TW" dirty="0"/>
              <a:t>College of Computer Science and Technology, Huaqiao University, Xiamen, China</a:t>
            </a:r>
          </a:p>
          <a:p>
            <a:pPr algn="ctr"/>
            <a:endParaRPr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6B8EB04B-AFD9-7342-1ED2-4C76FB34B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34" y="6017491"/>
            <a:ext cx="4857750" cy="7620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00495FA2-F496-0A64-9126-5D6D92946C7F}"/>
              </a:ext>
            </a:extLst>
          </p:cNvPr>
          <p:cNvSpPr txBox="1"/>
          <p:nvPr/>
        </p:nvSpPr>
        <p:spPr>
          <a:xfrm>
            <a:off x="134216" y="578165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0" i="0" dirty="0">
                <a:solidFill>
                  <a:srgbClr val="1C1D1E"/>
                </a:solidFill>
                <a:effectLst/>
                <a:latin typeface="Open Sans" panose="020B0604020202020204" pitchFamily="34" charset="0"/>
              </a:rPr>
              <a:t>© 2023 The Authors. </a:t>
            </a:r>
            <a:r>
              <a:rPr lang="en-US" altLang="zh-TW" b="0" i="1" dirty="0">
                <a:solidFill>
                  <a:srgbClr val="1C1D1E"/>
                </a:solidFill>
                <a:effectLst/>
                <a:latin typeface="Open Sans" panose="020B0604020202020204" pitchFamily="34" charset="0"/>
              </a:rPr>
              <a:t>IET Intelligent Transport Systems</a:t>
            </a:r>
            <a:r>
              <a:rPr lang="en-US" altLang="zh-TW" b="0" i="0" dirty="0">
                <a:solidFill>
                  <a:srgbClr val="1C1D1E"/>
                </a:solidFill>
                <a:effectLst/>
                <a:latin typeface="Open Sans" panose="020B0604020202020204" pitchFamily="34" charset="0"/>
              </a:rPr>
              <a:t> published by John Wiley &amp; Sons Ltd on behalf of The Institution of Engineering and Technology.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12605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B541C6C2-5A9F-F4D4-3332-CCB735C3DE70}"/>
              </a:ext>
            </a:extLst>
          </p:cNvPr>
          <p:cNvSpPr txBox="1"/>
          <p:nvPr/>
        </p:nvSpPr>
        <p:spPr>
          <a:xfrm>
            <a:off x="1197091" y="1099927"/>
            <a:ext cx="856990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The purpose of this study is to use historical  smart card data to predict the passenger flow of urban rail  transit networks.</a:t>
            </a: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Passenger data for each metro station is usually aggregated using a specific time interval to form a batch  of time sequence. </a:t>
            </a:r>
            <a:br>
              <a:rPr lang="en-US" altLang="zh-TW" sz="2400" dirty="0"/>
            </a:b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we propose a model called </a:t>
            </a:r>
            <a:r>
              <a:rPr lang="en-US" altLang="zh-TW" sz="2400" dirty="0"/>
              <a:t>(</a:t>
            </a:r>
            <a:r>
              <a:rPr lang="zh-TW" altLang="en-US" sz="2400" b="1" dirty="0"/>
              <a:t>ARConv-GCN</a:t>
            </a:r>
            <a:r>
              <a:rPr lang="en-US" altLang="zh-TW" sz="2400" b="1" dirty="0"/>
              <a:t>)</a:t>
            </a:r>
            <a:r>
              <a:rPr lang="zh-TW" altLang="en-US" sz="2400" b="1" dirty="0"/>
              <a:t> based on graph convolutional neural network (GCN) and 3D convolutional neural  network </a:t>
            </a:r>
            <a:r>
              <a:rPr lang="zh-TW" altLang="en-US" sz="2400" dirty="0"/>
              <a:t>combining with </a:t>
            </a:r>
            <a:r>
              <a:rPr lang="zh-TW" altLang="en-US" sz="2400" b="1" dirty="0"/>
              <a:t>residual structure </a:t>
            </a:r>
            <a:r>
              <a:rPr lang="zh-TW" altLang="en-US" sz="2400" dirty="0"/>
              <a:t>and </a:t>
            </a:r>
            <a:r>
              <a:rPr lang="zh-TW" altLang="en-US" sz="2400" b="1" dirty="0"/>
              <a:t>attention mechanism(ARConv) </a:t>
            </a:r>
            <a:r>
              <a:rPr lang="zh-TW" altLang="en-US" sz="2400" dirty="0"/>
              <a:t>for urban rail transit systematic short-term  passenger flow forecasting.</a:t>
            </a: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41E8324-AE48-A4AA-CC6B-E02557406DA3}"/>
              </a:ext>
            </a:extLst>
          </p:cNvPr>
          <p:cNvSpPr txBox="1"/>
          <p:nvPr/>
        </p:nvSpPr>
        <p:spPr>
          <a:xfrm>
            <a:off x="515344" y="413102"/>
            <a:ext cx="6167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  <a:endParaRPr lang="zh-TW" altLang="en-US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7687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CD99E3D-9A0F-4565-7F3A-1513E0549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904" y="1475396"/>
            <a:ext cx="5484643" cy="3455325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A7752E70-108F-3256-15EE-D07E9735A373}"/>
              </a:ext>
            </a:extLst>
          </p:cNvPr>
          <p:cNvSpPr txBox="1"/>
          <p:nvPr/>
        </p:nvSpPr>
        <p:spPr>
          <a:xfrm>
            <a:off x="5956730" y="1182094"/>
            <a:ext cx="6235268" cy="180016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400" dirty="0"/>
              <a:t>Define the urban rail transit network as a  graph </a:t>
            </a:r>
            <a:r>
              <a:rPr lang="en-US" altLang="zh-TW" sz="2400" b="1" dirty="0"/>
              <a:t>G = (V , E, A) </a:t>
            </a:r>
            <a:r>
              <a:rPr lang="en-US" altLang="zh-TW" sz="2400" dirty="0"/>
              <a:t>as shown in </a:t>
            </a:r>
            <a:r>
              <a:rPr lang="en-US" altLang="zh-TW" sz="2400" b="1" dirty="0"/>
              <a:t>Figure 1</a:t>
            </a:r>
            <a:r>
              <a:rPr lang="en-US" altLang="zh-TW" sz="2400" dirty="0"/>
              <a:t>, where </a:t>
            </a:r>
            <a:r>
              <a:rPr lang="en-US" altLang="zh-TW" sz="2400" b="1" dirty="0"/>
              <a:t>V </a:t>
            </a:r>
            <a:r>
              <a:rPr lang="en-US" altLang="zh-TW" sz="2400" dirty="0"/>
              <a:t>is the set of nodes and </a:t>
            </a:r>
            <a:r>
              <a:rPr lang="en-US" altLang="zh-TW" sz="2400" b="1" dirty="0"/>
              <a:t>E</a:t>
            </a:r>
            <a:r>
              <a:rPr lang="en-US" altLang="zh-TW" sz="2400" dirty="0"/>
              <a:t> denotes the set of edges.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400" b="1" dirty="0"/>
              <a:t>|V | = n </a:t>
            </a:r>
            <a:r>
              <a:rPr lang="en-US" altLang="zh-TW" sz="2400" dirty="0"/>
              <a:t>is the </a:t>
            </a:r>
            <a:r>
              <a:rPr lang="en-US" altLang="zh-TW" sz="2400" b="1" dirty="0"/>
              <a:t>number of stations </a:t>
            </a:r>
            <a:endParaRPr lang="en-US" altLang="zh-TW" sz="24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400" b="1" dirty="0"/>
              <a:t>|E| = e </a:t>
            </a:r>
            <a:r>
              <a:rPr lang="en-US" altLang="zh-TW" sz="2400" dirty="0"/>
              <a:t>is </a:t>
            </a:r>
            <a:r>
              <a:rPr lang="en-US" altLang="zh-TW" sz="2400" b="1" dirty="0"/>
              <a:t>the number of connection between stations.</a:t>
            </a:r>
            <a:r>
              <a:rPr lang="en-US" altLang="zh-TW" sz="2400" dirty="0"/>
              <a:t>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400" b="1" dirty="0"/>
              <a:t>A ∈ R</a:t>
            </a:r>
            <a:r>
              <a:rPr lang="en-US" altLang="zh-TW" sz="2400" b="1" baseline="30000" dirty="0"/>
              <a:t>n*n</a:t>
            </a:r>
            <a:r>
              <a:rPr lang="en-US" altLang="zh-TW" sz="2400" baseline="30000" dirty="0"/>
              <a:t> </a:t>
            </a:r>
            <a:r>
              <a:rPr lang="en-US" altLang="zh-TW" sz="2400" dirty="0"/>
              <a:t>is an </a:t>
            </a:r>
            <a:r>
              <a:rPr lang="en-US" altLang="zh-TW" sz="2400" b="1" dirty="0"/>
              <a:t>adjacency matrix </a:t>
            </a:r>
            <a:r>
              <a:rPr lang="en-US" altLang="zh-TW" sz="2400" dirty="0"/>
              <a:t>which indicate a link between two stations exist or not.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FEDC3B9-35E7-B607-2254-F02DDAF287E2}"/>
              </a:ext>
            </a:extLst>
          </p:cNvPr>
          <p:cNvSpPr txBox="1"/>
          <p:nvPr/>
        </p:nvSpPr>
        <p:spPr>
          <a:xfrm>
            <a:off x="515344" y="413102"/>
            <a:ext cx="6167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endParaRPr lang="zh-TW" altLang="en-US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507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287DA80-085D-2360-B3B4-75BEE43D2B7D}"/>
                  </a:ext>
                </a:extLst>
              </p:cNvPr>
              <p:cNvSpPr txBox="1"/>
              <p:nvPr/>
            </p:nvSpPr>
            <p:spPr>
              <a:xfrm>
                <a:off x="1510471" y="838990"/>
                <a:ext cx="9688296" cy="4525489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/>
              <a:p>
                <a:pPr marL="285750" indent="-2286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sz="2400" dirty="0"/>
                  <a:t>We treat the  passenger flow volume as the </a:t>
                </a:r>
                <a:r>
                  <a:rPr lang="en-US" altLang="zh-TW" sz="2400" b="1" dirty="0"/>
                  <a:t>attribute feature </a:t>
                </a:r>
                <a:r>
                  <a:rPr lang="en-US" altLang="zh-TW" sz="2400" dirty="0"/>
                  <a:t>and the feature matrix </a:t>
                </a:r>
                <a:r>
                  <a:rPr lang="en-US" altLang="zh-TW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TW" sz="2400" b="1" dirty="0"/>
                  <a:t> =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sz="2400" b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2400" b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altLang="zh-TW" sz="2400" b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b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z="2400" b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r</m:t>
                        </m:r>
                      </m:sup>
                    </m:sSubSup>
                  </m:oMath>
                </a14:m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sz="2400" b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2400" b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altLang="zh-TW" sz="2400" b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b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z="2400" b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d</m:t>
                        </m:r>
                      </m:sup>
                    </m:sSubSup>
                  </m:oMath>
                </a14:m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sz="2400" b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2400" b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altLang="zh-TW" sz="2400" b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b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z="2400" b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w</m:t>
                        </m:r>
                      </m:sup>
                    </m:sSubSup>
                  </m:oMath>
                </a14:m>
                <a:r>
                  <a:rPr lang="en-US" altLang="zh-TW" sz="2400" b="1" dirty="0"/>
                  <a:t>) </a:t>
                </a:r>
                <a:r>
                  <a:rPr lang="en-US" altLang="zh-TW" sz="2400" dirty="0"/>
                  <a:t>is composed of recent passenger flow patterns, daily passenger flow patterns and weekly  passenger flow patterns. </a:t>
                </a:r>
              </a:p>
              <a:p>
                <a:pPr marL="285750" indent="-2286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altLang="zh-TW" sz="2400" dirty="0"/>
              </a:p>
              <a:p>
                <a:pPr marL="285750" indent="-2286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sz="2400" b="1" dirty="0"/>
                  <a:t>The recent passenger flow patterns  </a:t>
                </a:r>
                <a:r>
                  <a:rPr lang="en-US" altLang="zh-TW" sz="2400" dirty="0"/>
                  <a:t>represent the passenger flow of the most recent previous periods of the forecast period, </a:t>
                </a:r>
              </a:p>
              <a:p>
                <a:pPr marL="285750" indent="-2286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sz="2400" b="1" dirty="0"/>
                  <a:t>the daily passenger flow patterns  </a:t>
                </a:r>
                <a:r>
                  <a:rPr lang="en-US" altLang="zh-TW" sz="2400" dirty="0"/>
                  <a:t>represent the passenger flow of the same period of the previous day.</a:t>
                </a:r>
              </a:p>
              <a:p>
                <a:pPr marL="285750" indent="-2286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sz="2400" b="1" dirty="0"/>
                  <a:t>the weekly passenger flow patterns </a:t>
                </a:r>
                <a:r>
                  <a:rPr lang="en-US" altLang="zh-TW" sz="2400" dirty="0"/>
                  <a:t>represent the  passenger flow of the same period of the previous week. </a:t>
                </a: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287DA80-085D-2360-B3B4-75BEE43D2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0471" y="838990"/>
                <a:ext cx="9688296" cy="4525489"/>
              </a:xfrm>
              <a:prstGeom prst="rect">
                <a:avLst/>
              </a:prstGeom>
              <a:blipFill>
                <a:blip r:embed="rId2"/>
                <a:stretch>
                  <a:fillRect l="-315" t="-1887" r="-3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6B94348-191A-7782-CF32-58EDD2F36EA2}"/>
              </a:ext>
            </a:extLst>
          </p:cNvPr>
          <p:cNvSpPr txBox="1"/>
          <p:nvPr/>
        </p:nvSpPr>
        <p:spPr>
          <a:xfrm>
            <a:off x="373104" y="331822"/>
            <a:ext cx="6167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endParaRPr lang="zh-TW" altLang="en-US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0046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F7B7A312-5759-D7A5-9C49-E37CF500C323}"/>
                  </a:ext>
                </a:extLst>
              </p:cNvPr>
              <p:cNvSpPr txBox="1"/>
              <p:nvPr/>
            </p:nvSpPr>
            <p:spPr>
              <a:xfrm>
                <a:off x="615003" y="1374554"/>
                <a:ext cx="5948752" cy="540249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indent="-2286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sz="2400" dirty="0"/>
                  <a:t>where </a:t>
                </a:r>
                <a:r>
                  <a:rPr lang="en-US" altLang="zh-TW" sz="2400" b="1" dirty="0"/>
                  <a:t>p</a:t>
                </a:r>
                <a:r>
                  <a:rPr lang="en-US" altLang="zh-TW" sz="2400" dirty="0"/>
                  <a:t> represents the overall of three passenger patterns, including </a:t>
                </a:r>
                <a:r>
                  <a:rPr lang="en-US" altLang="zh-TW" sz="2400" b="1" dirty="0"/>
                  <a:t>recent, daily, and weekly patterns</a:t>
                </a:r>
                <a:r>
                  <a:rPr lang="en-US" altLang="zh-TW" sz="2400" dirty="0"/>
                  <a:t>. </a:t>
                </a:r>
              </a:p>
              <a:p>
                <a:pPr indent="-2286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altLang="zh-TW" sz="2400" dirty="0"/>
              </a:p>
              <a:p>
                <a:pPr indent="-2286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sz="2400" b="1" dirty="0"/>
                  <a:t>m</a:t>
                </a:r>
                <a:r>
                  <a:rPr lang="en-US" altLang="zh-TW" sz="2400" dirty="0"/>
                  <a:t> denotes the past several time steps used to predict.</a:t>
                </a:r>
              </a:p>
              <a:p>
                <a:pPr indent="-2286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altLang="zh-TW" sz="2400" dirty="0"/>
              </a:p>
              <a:p>
                <a:pPr indent="-2286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sz="24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sz="2400" b="1" dirty="0" smtClean="0"/>
                          <m:t>X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2400" b="1" dirty="0" smtClean="0"/>
                          <m:t>j</m:t>
                        </m:r>
                        <m:r>
                          <m:rPr>
                            <m:nor/>
                          </m:rPr>
                          <a:rPr lang="en-US" altLang="zh-TW" sz="2400" b="1" dirty="0" smtClean="0"/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b="1" dirty="0" smtClean="0"/>
                          <m:t>k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z="2400" b="1" dirty="0" smtClean="0"/>
                          <m:t>p</m:t>
                        </m:r>
                      </m:sup>
                    </m:sSubSup>
                  </m:oMath>
                </a14:m>
                <a:r>
                  <a:rPr lang="en-US" altLang="zh-TW" sz="2400" b="1" dirty="0"/>
                  <a:t> </a:t>
                </a:r>
                <a:r>
                  <a:rPr lang="en-US" altLang="zh-TW" sz="2400" dirty="0"/>
                  <a:t>indicates the passenger flow vector of </a:t>
                </a:r>
                <a:r>
                  <a:rPr lang="en-US" altLang="zh-TW" sz="2400" b="1" dirty="0"/>
                  <a:t>the j station </a:t>
                </a:r>
                <a:r>
                  <a:rPr lang="en-US" altLang="zh-TW" sz="2400" dirty="0"/>
                  <a:t>in </a:t>
                </a:r>
                <a:r>
                  <a:rPr lang="en-US" altLang="zh-TW" sz="2400" b="1" dirty="0"/>
                  <a:t>the k time interval </a:t>
                </a:r>
                <a:r>
                  <a:rPr lang="en-US" altLang="zh-TW" sz="2400" dirty="0"/>
                  <a:t>in the p passenger flow patterns and each time interval will generate a feature matrix as input to our model. </a:t>
                </a:r>
              </a:p>
              <a:p>
                <a:pPr indent="-2286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F7B7A312-5759-D7A5-9C49-E37CF500C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003" y="1374554"/>
                <a:ext cx="5948752" cy="5402495"/>
              </a:xfrm>
              <a:prstGeom prst="rect">
                <a:avLst/>
              </a:prstGeom>
              <a:blipFill>
                <a:blip r:embed="rId2"/>
                <a:stretch>
                  <a:fillRect l="-1639" t="-1578" r="-22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圖片 1" descr="一張含有 文字, 筆跡, 行, 字型 的圖片&#10;&#10;自動產生的描述">
            <a:extLst>
              <a:ext uri="{FF2B5EF4-FFF2-40B4-BE49-F238E27FC236}">
                <a16:creationId xmlns:a16="http://schemas.microsoft.com/office/drawing/2014/main" id="{E73FF527-C507-0711-4927-FA0E69869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710" y="1877165"/>
            <a:ext cx="5676166" cy="281886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6400800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784BB73-B11A-C8DF-DF45-3C58C4D8B7F1}"/>
              </a:ext>
            </a:extLst>
          </p:cNvPr>
          <p:cNvSpPr txBox="1"/>
          <p:nvPr/>
        </p:nvSpPr>
        <p:spPr>
          <a:xfrm>
            <a:off x="515344" y="413102"/>
            <a:ext cx="6167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endParaRPr lang="zh-TW" altLang="en-US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804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6400800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784BB73-B11A-C8DF-DF45-3C58C4D8B7F1}"/>
              </a:ext>
            </a:extLst>
          </p:cNvPr>
          <p:cNvSpPr txBox="1"/>
          <p:nvPr/>
        </p:nvSpPr>
        <p:spPr>
          <a:xfrm>
            <a:off x="515344" y="413102"/>
            <a:ext cx="6167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endParaRPr lang="zh-TW" altLang="en-US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E82BC7E-37C2-5A45-6A5C-91D06F3BDD33}"/>
              </a:ext>
            </a:extLst>
          </p:cNvPr>
          <p:cNvSpPr txBox="1"/>
          <p:nvPr/>
        </p:nvSpPr>
        <p:spPr>
          <a:xfrm>
            <a:off x="911910" y="1651633"/>
            <a:ext cx="10554515" cy="96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2915" indent="-462915" defTabSz="123444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Therefore, the problem can be defined according to Equation, whereby </a:t>
            </a: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sz="2400" dirty="0"/>
              <a:t> </a:t>
            </a:r>
            <a:r>
              <a:rPr lang="en-US" altLang="zh-TW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the mapping function to be learn to using the proposed deep learning architecture</a:t>
            </a:r>
            <a:r>
              <a:rPr lang="en-US" altLang="zh-TW" sz="324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zh-TW" altLang="en-US" sz="24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3890CD7-46C5-24DD-A31F-D451DE990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542" y="2987179"/>
            <a:ext cx="6191250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84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CFBC0EB-B650-F76E-E383-0F7028C59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5632"/>
            <a:ext cx="12192000" cy="4396895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7721AF96-7908-C56C-CE1C-A02A593612F9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TW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Architecture</a:t>
            </a:r>
            <a:r>
              <a:rPr lang="en-US" altLang="zh-TW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772064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9324E62-B3C7-7FC1-8AFC-9FB2F3775BA5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TW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Graph convolution network: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1980E6D-C803-6132-41EC-E292CBC1E737}"/>
              </a:ext>
            </a:extLst>
          </p:cNvPr>
          <p:cNvSpPr txBox="1"/>
          <p:nvPr/>
        </p:nvSpPr>
        <p:spPr>
          <a:xfrm>
            <a:off x="788786" y="2416238"/>
            <a:ext cx="1062683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In this section, we apply </a:t>
            </a:r>
            <a:r>
              <a:rPr lang="zh-TW" altLang="en-US" sz="2400" b="1" dirty="0"/>
              <a:t>GCN</a:t>
            </a:r>
            <a:r>
              <a:rPr lang="zh-TW" altLang="en-US" sz="2400" dirty="0"/>
              <a:t> to capture the </a:t>
            </a:r>
            <a:r>
              <a:rPr lang="zh-TW" altLang="en-US" sz="2400" b="1" dirty="0"/>
              <a:t>topological</a:t>
            </a:r>
            <a:r>
              <a:rPr lang="zh-TW" altLang="en-US" sz="2400" dirty="0"/>
              <a:t> relationships between stations  in an urban rail transit network.</a:t>
            </a: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By determining  the relationship between the nodes or links based on </a:t>
            </a:r>
            <a:r>
              <a:rPr lang="en-US" altLang="zh-TW" sz="2400" b="1" dirty="0"/>
              <a:t>physical  topologies</a:t>
            </a:r>
            <a:r>
              <a:rPr lang="en-US" altLang="zh-TW" sz="2400" dirty="0"/>
              <a:t>, </a:t>
            </a:r>
            <a:r>
              <a:rPr lang="en-US" altLang="zh-TW" sz="2400" b="1" dirty="0"/>
              <a:t>GCN</a:t>
            </a:r>
            <a:r>
              <a:rPr lang="en-US" altLang="zh-TW" sz="2400" dirty="0"/>
              <a:t> can encode the </a:t>
            </a:r>
            <a:r>
              <a:rPr lang="en-US" altLang="zh-TW" sz="2400" b="1" dirty="0"/>
              <a:t>topological structure </a:t>
            </a:r>
            <a:r>
              <a:rPr lang="en-US" altLang="zh-TW" sz="2400" dirty="0"/>
              <a:t>of rail transit, thereby capturing the </a:t>
            </a:r>
            <a:r>
              <a:rPr lang="en-US" altLang="zh-TW" sz="2400" b="1" dirty="0"/>
              <a:t>spatial dependence </a:t>
            </a:r>
            <a:r>
              <a:rPr lang="en-US" altLang="zh-TW" sz="2400" dirty="0"/>
              <a:t>of passenger flow.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Since the inflow and outflow are closely related to the passenger flow of </a:t>
            </a:r>
            <a:r>
              <a:rPr lang="en-US" altLang="zh-TW" sz="2400" b="1" dirty="0"/>
              <a:t>recent, daily, and weekly periods</a:t>
            </a:r>
            <a:r>
              <a:rPr lang="en-US" altLang="zh-TW" sz="2400" dirty="0"/>
              <a:t>, we have </a:t>
            </a:r>
            <a:r>
              <a:rPr lang="en-US" altLang="zh-TW" sz="2400" b="1" dirty="0"/>
              <a:t>aggregated</a:t>
            </a:r>
            <a:r>
              <a:rPr lang="en-US" altLang="zh-TW" sz="2400" dirty="0"/>
              <a:t>  the </a:t>
            </a:r>
            <a:r>
              <a:rPr lang="en-US" altLang="zh-TW" sz="2400" b="1" dirty="0"/>
              <a:t>historical</a:t>
            </a:r>
            <a:r>
              <a:rPr lang="en-US" altLang="zh-TW" sz="2400" dirty="0"/>
              <a:t> </a:t>
            </a:r>
            <a:r>
              <a:rPr lang="en-US" altLang="zh-TW" sz="2400" b="1" dirty="0"/>
              <a:t>passenger flows </a:t>
            </a:r>
            <a:r>
              <a:rPr lang="en-US" altLang="zh-TW" sz="2400" dirty="0"/>
              <a:t>into three patterns to input into  the </a:t>
            </a:r>
            <a:r>
              <a:rPr lang="en-US" altLang="zh-TW" sz="2400" b="1" dirty="0"/>
              <a:t>GCN</a:t>
            </a:r>
            <a:r>
              <a:rPr lang="en-US" altLang="zh-TW" sz="2400" dirty="0"/>
              <a:t>: the </a:t>
            </a:r>
            <a:r>
              <a:rPr lang="en-US" altLang="zh-TW" sz="2400" b="1" dirty="0"/>
              <a:t>recent pattern, the daily pattern</a:t>
            </a:r>
            <a:r>
              <a:rPr lang="en-US" altLang="zh-TW" sz="2400" dirty="0"/>
              <a:t>, and </a:t>
            </a:r>
            <a:r>
              <a:rPr lang="en-US" altLang="zh-TW" sz="2400" b="1" dirty="0"/>
              <a:t>the weekly pattern </a:t>
            </a:r>
            <a:r>
              <a:rPr lang="en-US" altLang="zh-TW" sz="2400" dirty="0"/>
              <a:t>with the same time steps. </a:t>
            </a:r>
            <a:endParaRPr lang="zh-TW" alt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4052478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圖片 2" descr="一張含有 字型, 文字, 筆跡, 書法 的圖片&#10;&#10;自動產生的描述">
            <a:extLst>
              <a:ext uri="{FF2B5EF4-FFF2-40B4-BE49-F238E27FC236}">
                <a16:creationId xmlns:a16="http://schemas.microsoft.com/office/drawing/2014/main" id="{BB5561FF-54DC-15A1-CBD0-9950571B3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516" y="841752"/>
            <a:ext cx="7821811" cy="1505697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20437082-68D2-574C-4EEC-AE9477A08185}"/>
              </a:ext>
            </a:extLst>
          </p:cNvPr>
          <p:cNvSpPr txBox="1"/>
          <p:nvPr/>
        </p:nvSpPr>
        <p:spPr>
          <a:xfrm>
            <a:off x="2450342" y="2064864"/>
            <a:ext cx="7242044" cy="420904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400" dirty="0"/>
              <a:t>Where </a:t>
            </a:r>
            <a:r>
              <a:rPr lang="en-US" altLang="zh-TW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∈ </a:t>
            </a:r>
            <a:r>
              <a:rPr lang="en-US" altLang="zh-TW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sz="2400" b="1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n∗n</a:t>
            </a:r>
            <a:r>
              <a:rPr lang="en-US" altLang="zh-TW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/>
              <a:t>is the adjacency matrix based on a predefined physical topologies.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Ã = A + I </a:t>
            </a:r>
            <a:r>
              <a:rPr lang="en-US" altLang="zh-TW" sz="2400" dirty="0"/>
              <a:t>and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/>
              <a:t>is the identity matrix.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D̃ ∈ </a:t>
            </a:r>
            <a:r>
              <a:rPr lang="en-US" altLang="zh-TW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sz="2400" b="1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n∗n</a:t>
            </a:r>
            <a:r>
              <a:rPr lang="en-US" altLang="zh-TW" sz="24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/>
              <a:t>is the normalized node degree matrix of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̃</a:t>
            </a:r>
            <a:r>
              <a:rPr lang="en-US" altLang="zh-TW" sz="2400" b="1" dirty="0"/>
              <a:t> </a:t>
            </a:r>
            <a:r>
              <a:rPr lang="en-US" altLang="zh-TW" sz="2400" dirty="0"/>
              <a:t>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400" b="1" i="1" dirty="0" err="1"/>
              <a:t>X</a:t>
            </a:r>
            <a:r>
              <a:rPr lang="en-US" altLang="zh-TW" sz="2400" b="1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4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∈ </a:t>
            </a:r>
            <a:r>
              <a:rPr lang="en-US" altLang="zh-TW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sz="2400" b="1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n∗m</a:t>
            </a:r>
            <a:r>
              <a:rPr lang="en-US" altLang="zh-TW" sz="24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/>
              <a:t>is the feature matrix of the </a:t>
            </a:r>
            <a:r>
              <a:rPr lang="zh-TW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400" dirty="0"/>
              <a:t> layer and </a:t>
            </a: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/>
              <a:t>represents is the number of features of each of the node.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400" b="1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4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∈ </a:t>
            </a:r>
            <a:r>
              <a:rPr lang="en-US" altLang="zh-TW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sz="2400" b="1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n∗m</a:t>
            </a:r>
            <a:r>
              <a:rPr lang="en-US" altLang="zh-TW" sz="24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/>
              <a:t>is the weight matrix of the </a:t>
            </a:r>
            <a:r>
              <a:rPr lang="zh-TW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400" dirty="0"/>
              <a:t> layer.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sz="2400" b="1" dirty="0"/>
              <a:t>𝜎 </a:t>
            </a:r>
            <a:r>
              <a:rPr lang="en-US" altLang="zh-TW" sz="2400" dirty="0"/>
              <a:t>is the </a:t>
            </a:r>
            <a:r>
              <a:rPr lang="en-US" altLang="zh-TW" sz="2400" b="1" dirty="0" err="1"/>
              <a:t>ReLU</a:t>
            </a:r>
            <a:r>
              <a:rPr lang="en-US" altLang="zh-TW" sz="2400" dirty="0"/>
              <a:t> function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dirty="0"/>
              <a:t> is the bias vector.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08C3C0F-8B8C-DAB2-3A24-DBD36E05A0C5}"/>
              </a:ext>
            </a:extLst>
          </p:cNvPr>
          <p:cNvSpPr txBox="1"/>
          <p:nvPr/>
        </p:nvSpPr>
        <p:spPr>
          <a:xfrm>
            <a:off x="515344" y="413102"/>
            <a:ext cx="6167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GCN:</a:t>
            </a:r>
            <a:endParaRPr lang="zh-TW" altLang="en-US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786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7FC4421-9113-64B5-F2C4-C864A30B4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2763622"/>
            <a:ext cx="4856698" cy="13307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1A04DE72-1140-D8E3-D2CD-10397C3430F8}"/>
                  </a:ext>
                </a:extLst>
              </p:cNvPr>
              <p:cNvSpPr txBox="1"/>
              <p:nvPr/>
            </p:nvSpPr>
            <p:spPr>
              <a:xfrm>
                <a:off x="3260513" y="4081403"/>
                <a:ext cx="7015018" cy="16155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TW" altLang="en-US" sz="2400" dirty="0"/>
                  <a:t>where </a:t>
                </a:r>
                <a:r>
                  <a:rPr lang="zh-TW" alt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zh-TW" altLang="en-US" sz="2400" dirty="0"/>
                  <a:t> is the input for ARConv,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zh-TW" altLang="en-US" sz="2400" b="1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2400" b="1" i="1" baseline="30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inflow</m:t>
                        </m:r>
                        <m:r>
                          <m:rPr>
                            <m:nor/>
                          </m:rPr>
                          <a:rPr lang="zh-TW" altLang="en-US" sz="2400" b="1" i="1" baseline="30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z="24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zh-TW" altLang="en-US" sz="2400" b="1" i="1" baseline="30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l</m:t>
                        </m:r>
                        <m:r>
                          <m:rPr>
                            <m:nor/>
                          </m:rPr>
                          <a:rPr lang="zh-TW" altLang="en-US" sz="2400" b="1" i="1" baseline="30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+</m:t>
                        </m:r>
                        <m:r>
                          <m:rPr>
                            <m:nor/>
                          </m:rPr>
                          <a:rPr lang="zh-TW" altLang="en-US" sz="2400" b="1" i="1" baseline="30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zh-TW" altLang="en-US" sz="2400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zh-TW" altLang="en-US" sz="2400" b="1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2400" b="1" i="1" baseline="3000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outf</m:t>
                        </m:r>
                        <m:r>
                          <m:rPr>
                            <m:nor/>
                          </m:rPr>
                          <a:rPr lang="en-US" altLang="zh-TW" sz="2400" b="1" i="1" baseline="30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low</m:t>
                        </m:r>
                        <m:r>
                          <m:rPr>
                            <m:nor/>
                          </m:rPr>
                          <a:rPr lang="zh-TW" altLang="en-US" sz="2400" b="1" i="1" baseline="30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z="24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zh-TW" altLang="en-US" sz="2400" b="1" i="1" baseline="30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l</m:t>
                        </m:r>
                        <m:r>
                          <m:rPr>
                            <m:nor/>
                          </m:rPr>
                          <a:rPr lang="zh-TW" altLang="en-US" sz="2400" b="1" i="1" baseline="30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+</m:t>
                        </m:r>
                        <m:r>
                          <m:rPr>
                            <m:nor/>
                          </m:rPr>
                          <a:rPr lang="zh-TW" altLang="en-US" sz="2400" b="1" i="1" baseline="30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zh-TW" altLang="en-US" sz="2400" dirty="0"/>
                  <a:t> are the output of the two </a:t>
                </a:r>
                <a:r>
                  <a:rPr lang="zh-TW" altLang="en-US" sz="2400" b="1" dirty="0"/>
                  <a:t>GCN branches</a:t>
                </a:r>
                <a:r>
                  <a:rPr lang="zh-TW" altLang="en-US" sz="2400" dirty="0"/>
                  <a:t>, </a:t>
                </a:r>
                <a:r>
                  <a:rPr lang="zh-TW" altLang="en-US" sz="2400" b="1" dirty="0"/>
                  <a:t>⊕</a:t>
                </a:r>
                <a:r>
                  <a:rPr lang="zh-TW" altLang="en-US" sz="2400" dirty="0"/>
                  <a:t> means </a:t>
                </a:r>
                <a:r>
                  <a:rPr lang="zh-TW" altLang="en-US" sz="2400" b="1" dirty="0"/>
                  <a:t>stacking</a:t>
                </a:r>
                <a:r>
                  <a:rPr lang="zh-TW" altLang="en-US" sz="2400" dirty="0"/>
                  <a:t> the two output tensors together according to the concatenation axis.</a:t>
                </a: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1A04DE72-1140-D8E3-D2CD-10397C3430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0513" y="4081403"/>
                <a:ext cx="7015018" cy="1615507"/>
              </a:xfrm>
              <a:prstGeom prst="rect">
                <a:avLst/>
              </a:prstGeom>
              <a:blipFill>
                <a:blip r:embed="rId3"/>
                <a:stretch>
                  <a:fillRect l="-1216" t="-2642" r="-695" b="-75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2313FF85-B2D0-D291-C9F1-40CA7D09417E}"/>
              </a:ext>
            </a:extLst>
          </p:cNvPr>
          <p:cNvSpPr txBox="1"/>
          <p:nvPr/>
        </p:nvSpPr>
        <p:spPr>
          <a:xfrm>
            <a:off x="3216974" y="837606"/>
            <a:ext cx="666172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Their results are concatenated together before being input  into attention residual 3D convolutional network </a:t>
            </a:r>
            <a:r>
              <a:rPr lang="zh-TW" altLang="en-US" sz="2400" b="1" dirty="0"/>
              <a:t>(ARConv</a:t>
            </a:r>
            <a:r>
              <a:rPr lang="zh-TW" altLang="en-US" sz="2400" dirty="0"/>
              <a:t>) to  deeply integrate inflow and outflow information as shown in  Figure 2 and the following Equation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FF2A405-8165-D910-D1CD-2C34B7BE1F42}"/>
              </a:ext>
            </a:extLst>
          </p:cNvPr>
          <p:cNvSpPr txBox="1"/>
          <p:nvPr/>
        </p:nvSpPr>
        <p:spPr>
          <a:xfrm>
            <a:off x="515344" y="413102"/>
            <a:ext cx="6167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Concatenation:</a:t>
            </a:r>
            <a:endParaRPr lang="zh-TW" altLang="en-US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490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9324E62-B3C7-7FC1-8AFC-9FB2F3775BA5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TW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3D convolutional network: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5651E75-5114-471B-7122-C67DB85DC511}"/>
              </a:ext>
            </a:extLst>
          </p:cNvPr>
          <p:cNvSpPr txBox="1"/>
          <p:nvPr/>
        </p:nvSpPr>
        <p:spPr>
          <a:xfrm>
            <a:off x="901468" y="2508572"/>
            <a:ext cx="633614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W</a:t>
            </a:r>
            <a:r>
              <a:rPr lang="zh-TW" altLang="en-US" sz="2400" dirty="0"/>
              <a:t>ith the passage of time, </a:t>
            </a:r>
            <a:r>
              <a:rPr lang="zh-TW" altLang="en-US" sz="2400" b="1" dirty="0"/>
              <a:t>the passenger flow  </a:t>
            </a:r>
            <a:r>
              <a:rPr lang="zh-TW" altLang="en-US" sz="2400" dirty="0"/>
              <a:t>conditions of </a:t>
            </a:r>
            <a:r>
              <a:rPr lang="zh-TW" altLang="en-US" sz="2400" b="1" dirty="0"/>
              <a:t>different time periods </a:t>
            </a:r>
            <a:r>
              <a:rPr lang="zh-TW" altLang="en-US" sz="2400" dirty="0"/>
              <a:t>will </a:t>
            </a:r>
            <a:r>
              <a:rPr lang="zh-TW" altLang="en-US" sz="2400" b="1" dirty="0"/>
              <a:t>affect</a:t>
            </a:r>
            <a:r>
              <a:rPr lang="zh-TW" altLang="en-US" sz="2400" dirty="0"/>
              <a:t> each other, and  there is a correlation in the time dimension.</a:t>
            </a: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the model needs to learn the temporal and spatial characteristics  of rail passenger flow at the same time.</a:t>
            </a:r>
            <a:endParaRPr lang="zh-TW" altLang="en-US" sz="24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DAC13D7-C0AA-ECDA-45DD-09294B17EAB5}"/>
              </a:ext>
            </a:extLst>
          </p:cNvPr>
          <p:cNvSpPr txBox="1"/>
          <p:nvPr/>
        </p:nvSpPr>
        <p:spPr>
          <a:xfrm>
            <a:off x="7398325" y="2508572"/>
            <a:ext cx="437803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Therefore, we apply </a:t>
            </a:r>
            <a:r>
              <a:rPr lang="zh-TW" altLang="en-US" sz="2400" b="1" dirty="0"/>
              <a:t>3D convolutions network </a:t>
            </a:r>
            <a:r>
              <a:rPr lang="zh-TW" altLang="en-US" sz="2400" dirty="0"/>
              <a:t>to model the </a:t>
            </a:r>
            <a:r>
              <a:rPr lang="zh-TW" altLang="en-US" sz="2400" b="1" dirty="0"/>
              <a:t>spatiotemporal features</a:t>
            </a:r>
            <a:r>
              <a:rPr lang="en-US" altLang="zh-TW" sz="2400" b="1" dirty="0"/>
              <a:t>,</a:t>
            </a:r>
            <a:r>
              <a:rPr lang="en-US" altLang="zh-TW" sz="2400" dirty="0"/>
              <a:t>by aggregating the </a:t>
            </a:r>
            <a:r>
              <a:rPr lang="en-US" altLang="zh-TW" sz="2400" b="1" dirty="0"/>
              <a:t>inflow</a:t>
            </a:r>
            <a:r>
              <a:rPr lang="en-US" altLang="zh-TW" sz="2400" dirty="0"/>
              <a:t> and </a:t>
            </a:r>
            <a:r>
              <a:rPr lang="en-US" altLang="zh-TW" sz="2400" b="1" dirty="0"/>
              <a:t>outflow </a:t>
            </a:r>
            <a:r>
              <a:rPr lang="en-US" altLang="zh-TW" sz="2400" dirty="0"/>
              <a:t> information output by the GCN layer.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29102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FECBD61-23D3-B27E-3779-046251AFF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325" y="1161168"/>
            <a:ext cx="5976786" cy="1264084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8CC8E27F-96DE-AA76-1519-A38E702B071C}"/>
              </a:ext>
            </a:extLst>
          </p:cNvPr>
          <p:cNvSpPr txBox="1"/>
          <p:nvPr/>
        </p:nvSpPr>
        <p:spPr>
          <a:xfrm>
            <a:off x="3048000" y="2425252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where </a:t>
            </a:r>
            <a:r>
              <a:rPr lang="en-US" altLang="zh-TW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400" dirty="0"/>
              <a:t> is the input.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400" dirty="0"/>
              <a:t> is the 3D filters.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TW" sz="2400" dirty="0"/>
              <a:t> is the bias.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Conv3D◦ means the convolution operation including </a:t>
            </a:r>
            <a:r>
              <a:rPr lang="en-US" altLang="zh-TW" sz="2400" b="1" dirty="0"/>
              <a:t>3D convolution </a:t>
            </a:r>
            <a:r>
              <a:rPr lang="en-US" altLang="zh-TW" sz="2400" dirty="0"/>
              <a:t>and </a:t>
            </a:r>
            <a:r>
              <a:rPr lang="en-US" altLang="zh-TW" sz="2400" b="1" dirty="0"/>
              <a:t>3D pooling</a:t>
            </a:r>
            <a:r>
              <a:rPr lang="en-US" altLang="zh-TW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zh-TW" altLang="en-US" sz="24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4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en-US" altLang="zh-TW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/>
              <a:t>is the high-level output feature. 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DFB765E-CD12-CC42-9904-2757F9769346}"/>
              </a:ext>
            </a:extLst>
          </p:cNvPr>
          <p:cNvSpPr txBox="1"/>
          <p:nvPr/>
        </p:nvSpPr>
        <p:spPr>
          <a:xfrm>
            <a:off x="515344" y="413102"/>
            <a:ext cx="6167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 Convolution:</a:t>
            </a:r>
            <a:endParaRPr lang="zh-TW" altLang="en-US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999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843F22E-974E-7057-857A-C66212931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9312" y="1936496"/>
            <a:ext cx="7953375" cy="13906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83BB0499-A0F5-13CB-527F-E3F8049A0041}"/>
                  </a:ext>
                </a:extLst>
              </p:cNvPr>
              <p:cNvSpPr txBox="1"/>
              <p:nvPr/>
            </p:nvSpPr>
            <p:spPr>
              <a:xfrm>
                <a:off x="3341232" y="3327146"/>
                <a:ext cx="6266873" cy="25126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/>
                  <a:t>where </a:t>
                </a:r>
                <a:r>
                  <a:rPr lang="en-US" altLang="zh-TW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TW" sz="2400" dirty="0"/>
                  <a:t> is the feature map index in the </a:t>
                </a: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i−1</a:t>
                </a: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TW" sz="2400" dirty="0" err="1"/>
                  <a:t>th</a:t>
                </a:r>
                <a:r>
                  <a:rPr lang="en-US" altLang="zh-TW" sz="2400" dirty="0"/>
                  <a:t> layer.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32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sz="3200" b="1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w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3200" b="1" i="1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ijm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z="3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3200" b="1" i="1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pqr</m:t>
                        </m:r>
                      </m:sup>
                    </m:sSubSup>
                  </m:oMath>
                </a14:m>
                <a:r>
                  <a:rPr lang="en-US" altLang="zh-TW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/>
                  <a:t>is the </a:t>
                </a: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p, q, r</a:t>
                </a: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TW" sz="2400" dirty="0" err="1"/>
                  <a:t>th</a:t>
                </a:r>
                <a:r>
                  <a:rPr lang="en-US" altLang="zh-TW" sz="2400" dirty="0"/>
                  <a:t> value of the 3D kernel connected to </a:t>
                </a:r>
                <a:r>
                  <a:rPr lang="en-US" altLang="zh-TW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 </a:t>
                </a:r>
                <a:r>
                  <a:rPr lang="en-US" altLang="zh-TW" sz="2400" dirty="0" err="1"/>
                  <a:t>th</a:t>
                </a:r>
                <a:r>
                  <a:rPr lang="en-US" altLang="zh-TW" sz="2400" dirty="0"/>
                  <a:t> feature map in the </a:t>
                </a: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4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–1</a:t>
                </a: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TW" sz="2400" dirty="0" err="1"/>
                  <a:t>th</a:t>
                </a:r>
                <a:r>
                  <a:rPr lang="en-US" altLang="zh-TW" sz="2400" dirty="0"/>
                  <a:t> layer.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P,Q,R</a:t>
                </a: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TW" sz="2400" dirty="0"/>
                  <a:t> is the dimension of 3D filters.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83BB0499-A0F5-13CB-527F-E3F8049A0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1232" y="3327146"/>
                <a:ext cx="6266873" cy="2512611"/>
              </a:xfrm>
              <a:prstGeom prst="rect">
                <a:avLst/>
              </a:prstGeom>
              <a:blipFill>
                <a:blip r:embed="rId4"/>
                <a:stretch>
                  <a:fillRect l="-1265" t="-2184" b="-46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字方塊 3">
            <a:extLst>
              <a:ext uri="{FF2B5EF4-FFF2-40B4-BE49-F238E27FC236}">
                <a16:creationId xmlns:a16="http://schemas.microsoft.com/office/drawing/2014/main" id="{2CF7FE35-FCE0-29DD-918A-5FE65DB6DF2C}"/>
              </a:ext>
            </a:extLst>
          </p:cNvPr>
          <p:cNvSpPr txBox="1"/>
          <p:nvPr/>
        </p:nvSpPr>
        <p:spPr>
          <a:xfrm>
            <a:off x="515344" y="413102"/>
            <a:ext cx="6167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 Convolution:</a:t>
            </a:r>
            <a:endParaRPr lang="zh-TW" altLang="en-US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FF8FDA5-EC32-B739-AD0A-87F6A43E5946}"/>
              </a:ext>
            </a:extLst>
          </p:cNvPr>
          <p:cNvSpPr txBox="1"/>
          <p:nvPr/>
        </p:nvSpPr>
        <p:spPr>
          <a:xfrm>
            <a:off x="3341232" y="867022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The values </a:t>
            </a:r>
            <a:r>
              <a:rPr lang="zh-TW" altLang="en-US" sz="2800" b="1" dirty="0"/>
              <a:t>𝑣 </a:t>
            </a:r>
            <a:r>
              <a:rPr lang="en-US" altLang="zh-TW" sz="2400" dirty="0"/>
              <a:t>at position</a:t>
            </a:r>
            <a:r>
              <a:rPr lang="en-US" altLang="zh-TW" sz="2800" dirty="0"/>
              <a:t> 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x,y,z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sz="2800" b="1" dirty="0"/>
              <a:t> </a:t>
            </a:r>
            <a:r>
              <a:rPr lang="en-US" altLang="zh-TW" sz="2400" dirty="0"/>
              <a:t>in the </a:t>
            </a:r>
            <a:r>
              <a:rPr lang="en-US" altLang="zh-TW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zh-TW" sz="2400" dirty="0" err="1"/>
              <a:t>th</a:t>
            </a:r>
            <a:r>
              <a:rPr lang="en-US" altLang="zh-TW" sz="2400" dirty="0"/>
              <a:t> feature map of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/>
              <a:t>layer can be obtained by following equation 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772281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9324E62-B3C7-7FC1-8AFC-9FB2F3775BA5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TW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Residual structure: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A573F87-F362-5076-D2D1-A874A5263ECE}"/>
              </a:ext>
            </a:extLst>
          </p:cNvPr>
          <p:cNvSpPr txBox="1"/>
          <p:nvPr/>
        </p:nvSpPr>
        <p:spPr>
          <a:xfrm>
            <a:off x="439464" y="2508081"/>
            <a:ext cx="791588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/>
              <a:t>Information loss seems inevitable due to convolution and  pooling mechanisms in 3D convolutions network . So we use </a:t>
            </a:r>
            <a:r>
              <a:rPr lang="zh-TW" altLang="en-US" sz="2400" b="1" dirty="0"/>
              <a:t>residual module </a:t>
            </a:r>
            <a:r>
              <a:rPr lang="zh-TW" altLang="en-US" sz="2400" dirty="0"/>
              <a:t>and </a:t>
            </a:r>
            <a:r>
              <a:rPr lang="zh-TW" altLang="en-US" sz="2400" b="1" dirty="0"/>
              <a:t>attention mechanism </a:t>
            </a:r>
            <a:r>
              <a:rPr lang="zh-TW" altLang="en-US" sz="2400" dirty="0"/>
              <a:t>to improve  this phenomenon. </a:t>
            </a:r>
            <a:endParaRPr lang="en-US" altLang="zh-TW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/>
              <a:t>In order to solve the degradation problem caused by the increase of network depth, we use </a:t>
            </a:r>
            <a:r>
              <a:rPr lang="en-US" altLang="zh-TW" sz="2400" b="1" dirty="0"/>
              <a:t>four normalization layers, four convolutional layers</a:t>
            </a:r>
            <a:r>
              <a:rPr lang="en-US" altLang="zh-TW" sz="2400" dirty="0"/>
              <a:t>, and skip the connections of these layers through identity mapping.</a:t>
            </a:r>
            <a:endParaRPr lang="zh-TW" altLang="en-US" sz="24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C3636E9-999A-6E92-DA54-83F4940954A7}"/>
              </a:ext>
            </a:extLst>
          </p:cNvPr>
          <p:cNvSpPr txBox="1"/>
          <p:nvPr/>
        </p:nvSpPr>
        <p:spPr>
          <a:xfrm>
            <a:off x="8128856" y="2508081"/>
            <a:ext cx="406314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b="1" dirty="0"/>
              <a:t>The residual module </a:t>
            </a:r>
            <a:r>
              <a:rPr lang="zh-TW" altLang="en-US" sz="2400" dirty="0"/>
              <a:t>takes  the shallow features extracted by the </a:t>
            </a:r>
            <a:r>
              <a:rPr lang="zh-TW" altLang="en-US" sz="2400" b="1" dirty="0"/>
              <a:t>3D CNN module</a:t>
            </a:r>
            <a:r>
              <a:rPr lang="zh-TW" altLang="en-US" sz="2400" dirty="0"/>
              <a:t> as input, and then Richer </a:t>
            </a:r>
            <a:r>
              <a:rPr lang="zh-TW" altLang="en-US" sz="2400" b="1" dirty="0"/>
              <a:t>deep spatio</a:t>
            </a:r>
            <a:r>
              <a:rPr lang="en-US" altLang="zh-TW" sz="2400" b="1" dirty="0"/>
              <a:t>-</a:t>
            </a:r>
            <a:r>
              <a:rPr lang="zh-TW" altLang="en-US" sz="2400" b="1" dirty="0"/>
              <a:t>temporal feature </a:t>
            </a:r>
            <a:r>
              <a:rPr lang="zh-TW" altLang="en-US" sz="2400" dirty="0"/>
              <a:t>information is extracted through </a:t>
            </a:r>
            <a:r>
              <a:rPr lang="zh-TW" altLang="en-US" sz="2400" b="1" dirty="0"/>
              <a:t>convolutional layers</a:t>
            </a:r>
            <a:r>
              <a:rPr lang="zh-TW" altLang="en-US" sz="2400" dirty="0"/>
              <a:t> and </a:t>
            </a:r>
            <a:r>
              <a:rPr lang="zh-TW" altLang="en-US" sz="2400" b="1" dirty="0"/>
              <a:t>normalization  layers.</a:t>
            </a:r>
          </a:p>
        </p:txBody>
      </p:sp>
    </p:spTree>
    <p:extLst>
      <p:ext uri="{BB962C8B-B14F-4D97-AF65-F5344CB8AC3E}">
        <p14:creationId xmlns:p14="http://schemas.microsoft.com/office/powerpoint/2010/main" val="2205726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9324E62-B3C7-7FC1-8AFC-9FB2F3775BA5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TW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Attention mechanism: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01A78EE-89D0-4B99-7D7F-EA515A781AE9}"/>
              </a:ext>
            </a:extLst>
          </p:cNvPr>
          <p:cNvSpPr txBox="1"/>
          <p:nvPr/>
        </p:nvSpPr>
        <p:spPr>
          <a:xfrm>
            <a:off x="819960" y="1924820"/>
            <a:ext cx="1055207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Since </a:t>
            </a:r>
            <a:r>
              <a:rPr lang="en-US" altLang="zh-TW" sz="2400" b="1" dirty="0"/>
              <a:t>three patterns of historical passenger flow </a:t>
            </a:r>
            <a:r>
              <a:rPr lang="en-US" altLang="zh-TW" sz="2400" dirty="0"/>
              <a:t>information  have been inputted, they each have a different role in passenger flow prediction.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/>
              <a:t>We used an attention mechanism to calculate a </a:t>
            </a:r>
            <a:r>
              <a:rPr lang="en-US" altLang="zh-TW" sz="2400" b="1" dirty="0"/>
              <a:t>context vector  </a:t>
            </a:r>
            <a:r>
              <a:rPr lang="en-US" altLang="zh-TW" sz="2400" dirty="0"/>
              <a:t>that can express the </a:t>
            </a:r>
            <a:r>
              <a:rPr lang="en-US" altLang="zh-TW" sz="2400" b="1" dirty="0"/>
              <a:t>global trend of passenger flow status </a:t>
            </a:r>
            <a:r>
              <a:rPr lang="en-US" altLang="zh-TW" sz="2400" dirty="0"/>
              <a:t>on the  track in order to learn the importance of passenger flow information at each moment.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/>
              <a:t>From Figure 2, we can see that there  is </a:t>
            </a:r>
            <a:r>
              <a:rPr lang="en-US" altLang="zh-TW" sz="2400" b="1" dirty="0"/>
              <a:t>one addition operation </a:t>
            </a:r>
            <a:r>
              <a:rPr lang="en-US" altLang="zh-TW" sz="2400" dirty="0"/>
              <a:t>and </a:t>
            </a:r>
            <a:r>
              <a:rPr lang="en-US" altLang="zh-TW" sz="2400" b="1" dirty="0"/>
              <a:t>three convolution branches</a:t>
            </a:r>
            <a:r>
              <a:rPr lang="en-US" altLang="zh-TW" sz="2400" dirty="0"/>
              <a:t> in the  </a:t>
            </a:r>
            <a:r>
              <a:rPr lang="en-US" altLang="zh-TW" sz="2400" b="1" dirty="0"/>
              <a:t>attention mechanism </a:t>
            </a:r>
            <a:r>
              <a:rPr lang="en-US" altLang="zh-TW" sz="2400" dirty="0"/>
              <a:t>structure.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/>
              <a:t>There are two different paths in  the </a:t>
            </a:r>
            <a:r>
              <a:rPr lang="en-US" altLang="zh-TW" sz="2400" b="1" dirty="0"/>
              <a:t>convolution branch</a:t>
            </a:r>
            <a:r>
              <a:rPr lang="en-US" altLang="zh-TW" sz="2400" dirty="0"/>
              <a:t>, we use </a:t>
            </a:r>
            <a:r>
              <a:rPr lang="en-US" altLang="zh-TW" sz="2400" b="1" dirty="0"/>
              <a:t>two convolution branches </a:t>
            </a:r>
            <a:r>
              <a:rPr lang="en-US" altLang="zh-TW" sz="2400" dirty="0"/>
              <a:t>constitute the </a:t>
            </a:r>
            <a:r>
              <a:rPr lang="en-US" altLang="zh-TW" sz="2400" b="1" dirty="0">
                <a:solidFill>
                  <a:srgbClr val="FF0000"/>
                </a:solidFill>
              </a:rPr>
              <a:t>traffic flow attention weight </a:t>
            </a:r>
            <a:r>
              <a:rPr lang="en-US" altLang="zh-TW" sz="2400" dirty="0"/>
              <a:t>extraction part, we use  </a:t>
            </a:r>
            <a:r>
              <a:rPr lang="en-US" altLang="zh-TW" sz="2400" b="1" dirty="0"/>
              <a:t>another convolution branch </a:t>
            </a:r>
            <a:r>
              <a:rPr lang="en-US" altLang="zh-TW" sz="2400" dirty="0"/>
              <a:t>for </a:t>
            </a:r>
            <a:r>
              <a:rPr lang="en-US" altLang="zh-TW" sz="2400" b="1" dirty="0">
                <a:solidFill>
                  <a:srgbClr val="FF0000"/>
                </a:solidFill>
              </a:rPr>
              <a:t>traffic flow feature </a:t>
            </a:r>
            <a:r>
              <a:rPr lang="en-US" altLang="zh-TW" sz="2400" dirty="0"/>
              <a:t>extraction part.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47680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8D3C535D-AB16-A3FE-7E2E-BBFD59464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013" y="931307"/>
            <a:ext cx="6693974" cy="3277739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1321B169-C455-AFC6-5EE0-D5E16F75D006}"/>
              </a:ext>
            </a:extLst>
          </p:cNvPr>
          <p:cNvSpPr txBox="1"/>
          <p:nvPr/>
        </p:nvSpPr>
        <p:spPr>
          <a:xfrm>
            <a:off x="2285664" y="4494178"/>
            <a:ext cx="762067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where Conv3D◦ means the 3D convolution operation.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 </a:t>
            </a:r>
            <a:r>
              <a:rPr lang="en-US" altLang="zh-TW" sz="2400" dirty="0"/>
              <a:t>R◦</a:t>
            </a:r>
            <a:r>
              <a:rPr lang="zh-TW" altLang="en-US" sz="2400" dirty="0"/>
              <a:t> </a:t>
            </a:r>
            <a:r>
              <a:rPr lang="en-US" altLang="zh-TW" sz="2400" dirty="0"/>
              <a:t>means the reshape operation.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⊕ means the matrix addition operation 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⊗ means the matrix multiplication operation.</a:t>
            </a:r>
            <a:endParaRPr lang="zh-TW" altLang="en-US" sz="24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F665716-6B5A-EF6A-EBBF-C3E172F6DEFE}"/>
              </a:ext>
            </a:extLst>
          </p:cNvPr>
          <p:cNvSpPr txBox="1"/>
          <p:nvPr/>
        </p:nvSpPr>
        <p:spPr>
          <a:xfrm>
            <a:off x="515344" y="413102"/>
            <a:ext cx="6167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Attention mechanism:</a:t>
            </a:r>
            <a:endParaRPr lang="zh-TW" altLang="en-US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22915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9324E62-B3C7-7FC1-8AFC-9FB2F3775BA5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TW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Loss function: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441511F-4B69-C011-5FC9-8E5E0A342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3985" y="3334759"/>
            <a:ext cx="4268187" cy="141790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E20639A6-EA74-FAFC-6417-660C34F4BB67}"/>
                  </a:ext>
                </a:extLst>
              </p:cNvPr>
              <p:cNvSpPr txBox="1"/>
              <p:nvPr/>
            </p:nvSpPr>
            <p:spPr>
              <a:xfrm>
                <a:off x="2445289" y="4914716"/>
                <a:ext cx="7301420" cy="12445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2400" dirty="0"/>
                  <a:t>Where N is the number of passenger flow </a:t>
                </a:r>
                <a:r>
                  <a:rPr lang="en-US" altLang="zh-TW" sz="2400" b="1" dirty="0"/>
                  <a:t>samples</a:t>
                </a:r>
                <a:r>
                  <a:rPr lang="en-US" altLang="zh-TW" sz="2400" dirty="0"/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TW" sz="24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/>
                  <a:t> is the </a:t>
                </a:r>
                <a:r>
                  <a:rPr lang="en-US" altLang="zh-TW" sz="2400" b="1" dirty="0"/>
                  <a:t>actual</a:t>
                </a:r>
                <a:r>
                  <a:rPr lang="en-US" altLang="zh-TW" sz="2400" dirty="0"/>
                  <a:t> passenger flow value.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y</m:t>
                        </m:r>
                        <m:r>
                          <m:rPr>
                            <m:nor/>
                          </m:rPr>
                          <a:rPr lang="en-US" altLang="zh-TW" sz="24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</m:e>
                    </m:acc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/>
                  <a:t>is the </a:t>
                </a:r>
                <a:r>
                  <a:rPr lang="en-US" altLang="zh-TW" sz="2400" b="1" dirty="0"/>
                  <a:t>predicted</a:t>
                </a:r>
                <a:r>
                  <a:rPr lang="en-US" altLang="zh-TW" sz="2400" dirty="0"/>
                  <a:t> passenger flow value.</a:t>
                </a:r>
                <a:endParaRPr lang="zh-TW" altLang="en-US" sz="2400" dirty="0"/>
              </a:p>
            </p:txBody>
          </p:sp>
        </mc:Choice>
        <mc:Fallback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E20639A6-EA74-FAFC-6417-660C34F4B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289" y="4914716"/>
                <a:ext cx="7301420" cy="1244508"/>
              </a:xfrm>
              <a:prstGeom prst="rect">
                <a:avLst/>
              </a:prstGeom>
              <a:blipFill>
                <a:blip r:embed="rId3"/>
                <a:stretch>
                  <a:fillRect l="-1085" t="-3922" b="-68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>
            <a:extLst>
              <a:ext uri="{FF2B5EF4-FFF2-40B4-BE49-F238E27FC236}">
                <a16:creationId xmlns:a16="http://schemas.microsoft.com/office/drawing/2014/main" id="{07B0A600-0D12-5212-B948-DAD3E19E4614}"/>
              </a:ext>
            </a:extLst>
          </p:cNvPr>
          <p:cNvSpPr txBox="1"/>
          <p:nvPr/>
        </p:nvSpPr>
        <p:spPr>
          <a:xfrm>
            <a:off x="2200972" y="2134430"/>
            <a:ext cx="83852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/>
              <a:t>The </a:t>
            </a:r>
            <a:r>
              <a:rPr lang="en-US" altLang="zh-TW" sz="2400" b="1" dirty="0"/>
              <a:t>loss function </a:t>
            </a:r>
            <a:r>
              <a:rPr lang="en-US" altLang="zh-TW" sz="2400" dirty="0"/>
              <a:t>is </a:t>
            </a:r>
            <a:r>
              <a:rPr lang="en-US" altLang="zh-TW" sz="2400" b="1" dirty="0"/>
              <a:t>MSE</a:t>
            </a:r>
            <a:r>
              <a:rPr lang="en-US" altLang="zh-TW" sz="2400" dirty="0"/>
              <a:t>, which is the </a:t>
            </a:r>
            <a:r>
              <a:rPr lang="en-US" altLang="zh-TW" sz="2400" b="1" dirty="0"/>
              <a:t>average squared difference</a:t>
            </a:r>
            <a:r>
              <a:rPr lang="en-US" altLang="zh-TW" sz="2400" dirty="0"/>
              <a:t> between the predicted data and the actual data and the calculation formula as shown in Equation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397438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9B653C-798C-4333-8452-3DF3AE3C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E50278-E2EC-42B2-A1F1-921DD3990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305994" y="-5310547"/>
            <a:ext cx="1580014" cy="12192002"/>
          </a:xfrm>
          <a:prstGeom prst="rect">
            <a:avLst/>
          </a:prstGeom>
          <a:gradFill>
            <a:gsLst>
              <a:gs pos="19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36153F-0DB4-40DD-87C6-B40C1B7E2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72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4F58E37-6AF9-9F41-C8DF-47E4A371AB2D}"/>
              </a:ext>
            </a:extLst>
          </p:cNvPr>
          <p:cNvSpPr txBox="1"/>
          <p:nvPr/>
        </p:nvSpPr>
        <p:spPr>
          <a:xfrm>
            <a:off x="699715" y="288404"/>
            <a:ext cx="7170656" cy="9774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TW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Case Analysis: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0BFB06F-6CB7-9986-56CD-370BA65D972D}"/>
              </a:ext>
            </a:extLst>
          </p:cNvPr>
          <p:cNvSpPr txBox="1"/>
          <p:nvPr/>
        </p:nvSpPr>
        <p:spPr>
          <a:xfrm>
            <a:off x="767294" y="2242235"/>
            <a:ext cx="1065741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/>
              <a:t>Two datasets from </a:t>
            </a:r>
            <a:r>
              <a:rPr lang="zh-TW" altLang="en-US" sz="2400" b="1" dirty="0"/>
              <a:t>Beijing</a:t>
            </a:r>
            <a:r>
              <a:rPr lang="zh-TW" altLang="en-US" sz="2400" dirty="0"/>
              <a:t> </a:t>
            </a:r>
            <a:r>
              <a:rPr lang="zh-TW" altLang="en-US" sz="2400" b="1" dirty="0"/>
              <a:t>Metro</a:t>
            </a:r>
            <a:r>
              <a:rPr lang="zh-TW" altLang="en-US" sz="2400" dirty="0"/>
              <a:t> and </a:t>
            </a:r>
            <a:r>
              <a:rPr lang="zh-TW" altLang="en-US" sz="2400" b="1" dirty="0"/>
              <a:t>Xiamen</a:t>
            </a:r>
            <a:r>
              <a:rPr lang="zh-TW" altLang="en-US" sz="2400" dirty="0"/>
              <a:t> </a:t>
            </a:r>
            <a:r>
              <a:rPr lang="zh-TW" altLang="en-US" sz="2400" b="1" dirty="0"/>
              <a:t>Metro</a:t>
            </a:r>
            <a:r>
              <a:rPr lang="zh-TW" altLang="en-US" sz="2400" dirty="0"/>
              <a:t> are used in  the experiments.</a:t>
            </a:r>
            <a:endParaRPr lang="en-US" altLang="zh-TW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/>
              <a:t>The first dataset is </a:t>
            </a:r>
            <a:r>
              <a:rPr lang="en-US" altLang="zh-TW" sz="2400" b="1" dirty="0" err="1"/>
              <a:t>MetroBJ</a:t>
            </a:r>
            <a:r>
              <a:rPr lang="en-US" altLang="zh-TW" sz="2400" dirty="0"/>
              <a:t>, which is collected from </a:t>
            </a:r>
            <a:r>
              <a:rPr lang="en-US" altLang="zh-TW" sz="2400" u="sng" dirty="0"/>
              <a:t>February 29, 2016</a:t>
            </a:r>
            <a:r>
              <a:rPr lang="en-US" altLang="zh-TW" sz="2400" dirty="0"/>
              <a:t>, to </a:t>
            </a:r>
            <a:r>
              <a:rPr lang="en-US" altLang="zh-TW" sz="2400" u="sng" dirty="0"/>
              <a:t>April 3, 2016</a:t>
            </a:r>
            <a:r>
              <a:rPr lang="en-US" altLang="zh-TW" sz="2400" dirty="0"/>
              <a:t> with 17 lines and  276 stations.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/>
              <a:t>The second dataset is </a:t>
            </a:r>
            <a:r>
              <a:rPr lang="en-US" altLang="zh-TW" sz="2400" b="1" dirty="0" err="1"/>
              <a:t>MetroXM</a:t>
            </a:r>
            <a:r>
              <a:rPr lang="en-US" altLang="zh-TW" sz="2400" dirty="0" err="1"/>
              <a:t>,which</a:t>
            </a:r>
            <a:r>
              <a:rPr lang="en-US" altLang="zh-TW" sz="2400" dirty="0"/>
              <a:t> is collected  from </a:t>
            </a:r>
            <a:r>
              <a:rPr lang="en-US" altLang="zh-TW" sz="2400" u="sng" dirty="0"/>
              <a:t>December 1, 2019</a:t>
            </a:r>
            <a:r>
              <a:rPr lang="en-US" altLang="zh-TW" sz="2400" dirty="0"/>
              <a:t>, to </a:t>
            </a:r>
            <a:r>
              <a:rPr lang="en-US" altLang="zh-TW" sz="2400" u="sng" dirty="0"/>
              <a:t>January 3, 2020 </a:t>
            </a:r>
            <a:r>
              <a:rPr lang="en-US" altLang="zh-TW" sz="2400" dirty="0"/>
              <a:t>with 2 lines and 52  stations.</a:t>
            </a:r>
            <a:r>
              <a:rPr lang="zh-TW" altLang="en-US" sz="2400" dirty="0"/>
              <a:t> </a:t>
            </a:r>
            <a:endParaRPr lang="en-US" altLang="zh-TW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/>
              <a:t>These data is extracted from about </a:t>
            </a:r>
            <a:r>
              <a:rPr lang="en-US" altLang="zh-TW" sz="2400" b="1" dirty="0"/>
              <a:t>98 million </a:t>
            </a:r>
            <a:r>
              <a:rPr lang="en-US" altLang="zh-TW" sz="2400" dirty="0"/>
              <a:t>pieces of  AFC data in </a:t>
            </a:r>
            <a:r>
              <a:rPr lang="en-US" altLang="zh-TW" sz="2400" b="1" dirty="0"/>
              <a:t>25 working days for 5 consecutive weeks</a:t>
            </a:r>
            <a:r>
              <a:rPr lang="en-US" altLang="zh-TW" sz="2400" dirty="0"/>
              <a:t>. (</a:t>
            </a:r>
            <a:r>
              <a:rPr lang="en-US" altLang="zh-TW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Automatic Fare Collection Systems</a:t>
            </a:r>
            <a:r>
              <a:rPr lang="en-US" altLang="zh-TW" sz="2400" dirty="0"/>
              <a:t>)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913675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24F58E37-6AF9-9F41-C8DF-47E4A371AB2D}"/>
              </a:ext>
            </a:extLst>
          </p:cNvPr>
          <p:cNvSpPr txBox="1"/>
          <p:nvPr/>
        </p:nvSpPr>
        <p:spPr>
          <a:xfrm>
            <a:off x="515344" y="413102"/>
            <a:ext cx="61671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 </a:t>
            </a:r>
          </a:p>
          <a:p>
            <a:r>
              <a:rPr lang="en-US" altLang="zh-TW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data description:</a:t>
            </a:r>
            <a:endParaRPr lang="zh-TW" altLang="en-US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2B9714E-89B7-23EC-EA60-5A0A00E62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29421"/>
            <a:ext cx="12192000" cy="211589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814CA5C2-56E9-C764-CAD2-C3FF3D5B0891}"/>
              </a:ext>
            </a:extLst>
          </p:cNvPr>
          <p:cNvSpPr txBox="1"/>
          <p:nvPr/>
        </p:nvSpPr>
        <p:spPr>
          <a:xfrm>
            <a:off x="4565074" y="345339"/>
            <a:ext cx="762692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The  AFC data mainly </a:t>
            </a:r>
            <a:r>
              <a:rPr lang="zh-TW" altLang="en-US" sz="2400" b="1" dirty="0"/>
              <a:t>includes</a:t>
            </a:r>
            <a:r>
              <a:rPr lang="zh-TW" altLang="en-US" sz="2400" dirty="0"/>
              <a:t> </a:t>
            </a:r>
            <a:r>
              <a:rPr lang="en-US" altLang="zh-TW" sz="2400" dirty="0"/>
              <a:t>{</a:t>
            </a:r>
          </a:p>
          <a:p>
            <a:r>
              <a:rPr lang="en-US" altLang="zh-TW" sz="2400" b="1" dirty="0">
                <a:solidFill>
                  <a:schemeClr val="accent4">
                    <a:lumMod val="75000"/>
                  </a:schemeClr>
                </a:solidFill>
              </a:rPr>
              <a:t>	</a:t>
            </a:r>
            <a:r>
              <a:rPr lang="zh-TW" altLang="en-US" sz="2400" b="1" u="sng" dirty="0">
                <a:solidFill>
                  <a:schemeClr val="accent4">
                    <a:lumMod val="75000"/>
                  </a:schemeClr>
                </a:solidFill>
              </a:rPr>
              <a:t>card number(TICKET_ID)</a:t>
            </a:r>
            <a:r>
              <a:rPr lang="zh-TW" altLang="en-US" sz="2400" b="1" dirty="0">
                <a:solidFill>
                  <a:schemeClr val="accent4">
                    <a:lumMod val="75000"/>
                  </a:schemeClr>
                </a:solidFill>
              </a:rPr>
              <a:t>, </a:t>
            </a:r>
            <a:endParaRPr lang="en-US" altLang="zh-TW" sz="2400" b="1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altLang="zh-TW" sz="2400" b="1" dirty="0">
                <a:solidFill>
                  <a:schemeClr val="accent4">
                    <a:lumMod val="75000"/>
                  </a:schemeClr>
                </a:solidFill>
              </a:rPr>
              <a:t>	</a:t>
            </a:r>
            <a:r>
              <a:rPr lang="zh-TW" altLang="en-US" sz="2400" b="1" u="sng" dirty="0">
                <a:solidFill>
                  <a:schemeClr val="accent4">
                    <a:lumMod val="75000"/>
                  </a:schemeClr>
                </a:solidFill>
              </a:rPr>
              <a:t>travel  date(TXN_DATA) </a:t>
            </a:r>
            <a:r>
              <a:rPr lang="zh-TW" altLang="en-US" sz="2400" dirty="0"/>
              <a:t>, </a:t>
            </a:r>
            <a:endParaRPr lang="en-US" altLang="zh-TW" sz="2400" dirty="0"/>
          </a:p>
          <a:p>
            <a:r>
              <a:rPr lang="en-US" altLang="zh-TW" sz="2400" b="1" dirty="0">
                <a:solidFill>
                  <a:schemeClr val="accent4">
                    <a:lumMod val="75000"/>
                  </a:schemeClr>
                </a:solidFill>
              </a:rPr>
              <a:t>	</a:t>
            </a:r>
            <a:r>
              <a:rPr lang="zh-TW" altLang="en-US" sz="2400" b="1" u="sng" dirty="0">
                <a:solidFill>
                  <a:schemeClr val="accent4">
                    <a:lumMod val="75000"/>
                  </a:schemeClr>
                </a:solidFill>
              </a:rPr>
              <a:t>card-swiping time(TXN_TIME) </a:t>
            </a:r>
            <a:r>
              <a:rPr lang="zh-TW" altLang="en-US" sz="2400" dirty="0"/>
              <a:t>, </a:t>
            </a:r>
            <a:endParaRPr lang="en-US" altLang="zh-TW" sz="2400" dirty="0"/>
          </a:p>
          <a:p>
            <a:r>
              <a:rPr lang="en-US" altLang="zh-TW" sz="2400" dirty="0"/>
              <a:t>	</a:t>
            </a:r>
            <a:r>
              <a:rPr lang="zh-TW" altLang="en-US" sz="2400" dirty="0"/>
              <a:t>the id of  </a:t>
            </a:r>
            <a:r>
              <a:rPr lang="zh-TW" altLang="en-US" sz="2400" b="1" u="sng" dirty="0">
                <a:solidFill>
                  <a:schemeClr val="accent4">
                    <a:lumMod val="75000"/>
                  </a:schemeClr>
                </a:solidFill>
              </a:rPr>
              <a:t>stations(STATION_ID) </a:t>
            </a:r>
            <a:r>
              <a:rPr lang="zh-TW" altLang="en-US" sz="2400" dirty="0"/>
              <a:t>, </a:t>
            </a:r>
            <a:endParaRPr lang="en-US" altLang="zh-TW" sz="2400" dirty="0"/>
          </a:p>
          <a:p>
            <a:r>
              <a:rPr lang="en-US" altLang="zh-TW" sz="2400" dirty="0"/>
              <a:t>	</a:t>
            </a:r>
            <a:r>
              <a:rPr lang="zh-TW" altLang="en-US" sz="2400" dirty="0"/>
              <a:t>the id of </a:t>
            </a:r>
            <a:r>
              <a:rPr lang="zh-TW" altLang="en-US" sz="2400" b="1" u="sng" dirty="0">
                <a:solidFill>
                  <a:schemeClr val="accent4">
                    <a:lumMod val="75000"/>
                  </a:schemeClr>
                </a:solidFill>
              </a:rPr>
              <a:t>lines (LINE) </a:t>
            </a:r>
            <a:r>
              <a:rPr lang="en-US" altLang="zh-TW" sz="2400" b="1" u="sng" dirty="0">
                <a:solidFill>
                  <a:schemeClr val="accent4">
                    <a:lumMod val="75000"/>
                  </a:schemeClr>
                </a:solidFill>
              </a:rPr>
              <a:t>,</a:t>
            </a:r>
            <a:r>
              <a:rPr lang="zh-TW" altLang="en-US" sz="2400" dirty="0"/>
              <a:t> </a:t>
            </a:r>
            <a:endParaRPr lang="en-US" altLang="zh-TW" sz="2400" dirty="0"/>
          </a:p>
          <a:p>
            <a:r>
              <a:rPr lang="en-US" altLang="zh-TW" sz="2400" dirty="0"/>
              <a:t>	</a:t>
            </a:r>
            <a:r>
              <a:rPr lang="zh-TW" altLang="en-US" sz="2400" dirty="0"/>
              <a:t>the type of </a:t>
            </a:r>
            <a:r>
              <a:rPr lang="zh-TW" altLang="en-US" sz="2400" b="1" u="sng" dirty="0">
                <a:solidFill>
                  <a:schemeClr val="accent4">
                    <a:lumMod val="75000"/>
                  </a:schemeClr>
                </a:solidFill>
              </a:rPr>
              <a:t>card(KHTYPE) </a:t>
            </a:r>
            <a:endParaRPr lang="en-US" altLang="zh-TW" sz="2400" b="1" u="sng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altLang="zh-TW" sz="2400" b="1" dirty="0"/>
              <a:t>	}</a:t>
            </a:r>
            <a:r>
              <a:rPr lang="en-US" altLang="zh-TW" sz="2400" b="1" dirty="0">
                <a:solidFill>
                  <a:schemeClr val="accent4">
                    <a:lumMod val="75000"/>
                  </a:schemeClr>
                </a:solidFill>
              </a:rPr>
              <a:t>  </a:t>
            </a:r>
            <a:r>
              <a:rPr lang="zh-TW" altLang="en-US" sz="2400" b="1" dirty="0"/>
              <a:t>as</a:t>
            </a:r>
            <a:r>
              <a:rPr lang="zh-TW" altLang="en-US" sz="2400" dirty="0"/>
              <a:t> shown in </a:t>
            </a:r>
            <a:r>
              <a:rPr lang="zh-TW" altLang="en-US" sz="2400" b="1" dirty="0"/>
              <a:t>Table 1.</a:t>
            </a:r>
            <a:r>
              <a:rPr lang="zh-TW" altLang="en-US" sz="2400" dirty="0"/>
              <a:t> 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70972C1-9288-2FF6-2A75-99A6EC67D0DD}"/>
              </a:ext>
            </a:extLst>
          </p:cNvPr>
          <p:cNvSpPr txBox="1"/>
          <p:nvPr/>
        </p:nvSpPr>
        <p:spPr>
          <a:xfrm>
            <a:off x="3129280" y="554423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These AFC records are  aggregated at 10 min time intervals to form the </a:t>
            </a:r>
            <a:r>
              <a:rPr lang="zh-TW" altLang="en-US" sz="2400" b="1" dirty="0"/>
              <a:t>passenger inflow  data and outflow </a:t>
            </a:r>
            <a:r>
              <a:rPr lang="zh-TW" altLang="en-US" sz="2400" dirty="0"/>
              <a:t>data separately</a:t>
            </a:r>
          </a:p>
        </p:txBody>
      </p:sp>
    </p:spTree>
    <p:extLst>
      <p:ext uri="{BB962C8B-B14F-4D97-AF65-F5344CB8AC3E}">
        <p14:creationId xmlns:p14="http://schemas.microsoft.com/office/powerpoint/2010/main" val="1311107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9B653C-798C-4333-8452-3DF3AE3C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E50278-E2EC-42B2-A1F1-921DD3990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305994" y="-5310547"/>
            <a:ext cx="1580014" cy="12192002"/>
          </a:xfrm>
          <a:prstGeom prst="rect">
            <a:avLst/>
          </a:prstGeom>
          <a:gradFill>
            <a:gsLst>
              <a:gs pos="19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36153F-0DB4-40DD-87C6-B40C1B7E2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72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4F58E37-6AF9-9F41-C8DF-47E4A371AB2D}"/>
              </a:ext>
            </a:extLst>
          </p:cNvPr>
          <p:cNvSpPr txBox="1"/>
          <p:nvPr/>
        </p:nvSpPr>
        <p:spPr>
          <a:xfrm>
            <a:off x="699715" y="288404"/>
            <a:ext cx="7170656" cy="9774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TW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Evaluation method and criteria: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C089476-8023-E77A-9F1E-DBF344B3E223}"/>
              </a:ext>
            </a:extLst>
          </p:cNvPr>
          <p:cNvSpPr txBox="1"/>
          <p:nvPr/>
        </p:nvSpPr>
        <p:spPr>
          <a:xfrm>
            <a:off x="6941368" y="1863865"/>
            <a:ext cx="436282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We use </a:t>
            </a:r>
            <a:r>
              <a:rPr lang="zh-TW" altLang="en-US" sz="2400" b="1" dirty="0"/>
              <a:t>root mean squared error (RMSE), mean average error  (MAE) </a:t>
            </a:r>
            <a:r>
              <a:rPr lang="zh-TW" altLang="en-US" sz="2400" dirty="0"/>
              <a:t>and </a:t>
            </a:r>
            <a:r>
              <a:rPr lang="zh-TW" altLang="en-US" sz="2400" b="1" dirty="0"/>
              <a:t>weighted mean absolute percentage error(WMAPE) </a:t>
            </a:r>
            <a:r>
              <a:rPr lang="zh-TW" altLang="en-US" sz="2400" dirty="0"/>
              <a:t> as the evaluation metrics as shown in Equations</a:t>
            </a:r>
            <a:r>
              <a:rPr lang="en-US" altLang="zh-TW" sz="2400" dirty="0"/>
              <a:t>.</a:t>
            </a:r>
            <a:endParaRPr lang="zh-TW" altLang="en-US" sz="2400" dirty="0"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C32D4851-4BD4-F2CB-CFE4-E8BD4E459ACD}"/>
              </a:ext>
            </a:extLst>
          </p:cNvPr>
          <p:cNvGrpSpPr/>
          <p:nvPr/>
        </p:nvGrpSpPr>
        <p:grpSpPr>
          <a:xfrm>
            <a:off x="1841365" y="1599565"/>
            <a:ext cx="5085829" cy="3658870"/>
            <a:chOff x="1997004" y="1599565"/>
            <a:chExt cx="5085829" cy="3658870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E43ED970-40CD-567B-C4D5-3FBC8CC587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97004" y="1599565"/>
              <a:ext cx="5085829" cy="3658870"/>
            </a:xfrm>
            <a:prstGeom prst="rect">
              <a:avLst/>
            </a:prstGeom>
          </p:spPr>
        </p:pic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F4AD2230-9FCC-92CF-8181-2A80698B87E3}"/>
                </a:ext>
              </a:extLst>
            </p:cNvPr>
            <p:cNvSpPr txBox="1"/>
            <p:nvPr/>
          </p:nvSpPr>
          <p:spPr>
            <a:xfrm>
              <a:off x="2598771" y="3059456"/>
              <a:ext cx="4235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A5C8F1C4-F337-6AAF-707E-63795AAB00DF}"/>
                  </a:ext>
                </a:extLst>
              </p:cNvPr>
              <p:cNvSpPr txBox="1"/>
              <p:nvPr/>
            </p:nvSpPr>
            <p:spPr>
              <a:xfrm>
                <a:off x="1997006" y="5101488"/>
                <a:ext cx="8353629" cy="17778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/>
                  <a:t>Where </a:t>
                </a: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TW" sz="2400" dirty="0"/>
                  <a:t> is the number of passenger flow samples,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TW" sz="24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/>
                  <a:t> is the </a:t>
                </a:r>
                <a:r>
                  <a:rPr lang="en-US" altLang="zh-TW" sz="2400" b="1" dirty="0"/>
                  <a:t>actual</a:t>
                </a:r>
                <a:r>
                  <a:rPr lang="en-US" altLang="zh-TW" sz="2400" dirty="0"/>
                  <a:t> passenger flow value,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y</m:t>
                        </m:r>
                        <m:r>
                          <m:rPr>
                            <m:nor/>
                          </m:rPr>
                          <a:rPr lang="en-US" altLang="zh-TW" sz="24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</m:e>
                    </m:acc>
                  </m:oMath>
                </a14:m>
                <a:r>
                  <a:rPr lang="en-US" altLang="zh-TW" sz="2400" dirty="0"/>
                  <a:t> is the </a:t>
                </a:r>
                <a:r>
                  <a:rPr lang="en-US" altLang="zh-TW" sz="2400" b="1" dirty="0"/>
                  <a:t>predicted</a:t>
                </a:r>
                <a:r>
                  <a:rPr lang="en-US" altLang="zh-TW" sz="2400" dirty="0"/>
                  <a:t> passenger flow value,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j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</m:sup>
                      <m:e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y</m:t>
                        </m:r>
                        <m:r>
                          <m:rPr>
                            <m:nor/>
                          </m:rPr>
                          <a:rPr lang="en-US" altLang="zh-TW" sz="24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j</m:t>
                        </m:r>
                      </m:e>
                    </m:nary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/>
                  <a:t>is the </a:t>
                </a:r>
                <a:r>
                  <a:rPr lang="en-US" altLang="zh-TW" sz="2400" b="1" dirty="0"/>
                  <a:t>sum of the actual </a:t>
                </a:r>
                <a:r>
                  <a:rPr lang="en-US" altLang="zh-TW" sz="2400" dirty="0"/>
                  <a:t>passenger flow values.</a:t>
                </a:r>
                <a:endParaRPr lang="zh-TW" altLang="en-US" sz="2400" dirty="0"/>
              </a:p>
            </p:txBody>
          </p:sp>
        </mc:Choice>
        <mc:Fallback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A5C8F1C4-F337-6AAF-707E-63795AAB0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7006" y="5101488"/>
                <a:ext cx="8353629" cy="1777859"/>
              </a:xfrm>
              <a:prstGeom prst="rect">
                <a:avLst/>
              </a:prstGeom>
              <a:blipFill>
                <a:blip r:embed="rId3"/>
                <a:stretch>
                  <a:fillRect l="-1022" t="-3082" b="-68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78438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BD8D566-BE9F-4163-CF26-3BAD461BC48C}"/>
              </a:ext>
            </a:extLst>
          </p:cNvPr>
          <p:cNvSpPr txBox="1"/>
          <p:nvPr/>
        </p:nvSpPr>
        <p:spPr>
          <a:xfrm>
            <a:off x="1853524" y="2090172"/>
            <a:ext cx="848495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/>
              <a:t>HA:   </a:t>
            </a:r>
            <a:r>
              <a:rPr lang="en-US" altLang="zh-TW" sz="2400" dirty="0"/>
              <a:t>Historical average model, which is used to predict the future passenger flow using the average value of historical passenger flow data [49].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/>
              <a:t>ARIMA:   </a:t>
            </a:r>
            <a:r>
              <a:rPr lang="en-US" altLang="zh-TW" sz="2400" dirty="0"/>
              <a:t>Autoregressive integrated moving average model. The lag order, the degree of difference, and the order of the moving average, are set as 2, 1, 0 after fine-tuning [50].</a:t>
            </a:r>
          </a:p>
          <a:p>
            <a:endParaRPr lang="en-US" altLang="zh-TW" sz="24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9F92FBB-86D1-AE53-7365-07E6E4FA4661}"/>
              </a:ext>
            </a:extLst>
          </p:cNvPr>
          <p:cNvSpPr txBox="1"/>
          <p:nvPr/>
        </p:nvSpPr>
        <p:spPr>
          <a:xfrm>
            <a:off x="515344" y="413102"/>
            <a:ext cx="6167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Baseline:</a:t>
            </a:r>
            <a:endParaRPr lang="zh-TW" altLang="en-US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85896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1BEDE41-4496-71CC-A354-7B7828D23124}"/>
              </a:ext>
            </a:extLst>
          </p:cNvPr>
          <p:cNvSpPr txBox="1"/>
          <p:nvPr/>
        </p:nvSpPr>
        <p:spPr>
          <a:xfrm>
            <a:off x="782321" y="1437180"/>
            <a:ext cx="1062735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/>
              <a:t>LSTM: </a:t>
            </a:r>
            <a:r>
              <a:rPr lang="en-US" altLang="zh-TW" sz="2400" dirty="0"/>
              <a:t>Long short term memory neural network. The LSTM model we use consists of one fully connected layer and two hidden layers [14]. The optimizer is Adam with a learning rate of 0.001. The batch size is 32. The inputs are inflow series in the last 20 time steps while outputs are the next time step time series.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/>
              <a:t>CNN: </a:t>
            </a:r>
            <a:r>
              <a:rPr lang="en-US" altLang="zh-TW" sz="2400" dirty="0"/>
              <a:t>We apply two CNN layers and a fully connected layers [17], The two hidden layers have 32 and 64 filters with 3×3 size kernel. The optimizer is Adam with a learning rate of 0.001. Our inputs and outputs are the same as that of the LSTM model.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5DF8182-5999-1578-D687-908C40E714B4}"/>
              </a:ext>
            </a:extLst>
          </p:cNvPr>
          <p:cNvSpPr txBox="1"/>
          <p:nvPr/>
        </p:nvSpPr>
        <p:spPr>
          <a:xfrm>
            <a:off x="515344" y="413102"/>
            <a:ext cx="6167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Baseline:</a:t>
            </a:r>
            <a:endParaRPr lang="zh-TW" altLang="en-US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0165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FDF704B-4670-668B-6451-35392B66D9A3}"/>
              </a:ext>
            </a:extLst>
          </p:cNvPr>
          <p:cNvSpPr txBox="1"/>
          <p:nvPr/>
        </p:nvSpPr>
        <p:spPr>
          <a:xfrm>
            <a:off x="2634256" y="1252514"/>
            <a:ext cx="862584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/>
              <a:t>DCRNN: </a:t>
            </a:r>
            <a:r>
              <a:rPr lang="en-US" altLang="zh-TW" sz="2400" dirty="0"/>
              <a:t>A deep-learning architecture integrates graph convolution into a gated recurrent unit, we directly use the original network structure [25].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/>
              <a:t>GCCN:  </a:t>
            </a:r>
            <a:r>
              <a:rPr lang="en-US" altLang="zh-TW" sz="2400" dirty="0"/>
              <a:t>A deep-learning architecture with multidimensional flows graph matrices, we directly use the original network structure [51].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/>
              <a:t>STGCN:  </a:t>
            </a:r>
            <a:r>
              <a:rPr lang="en-US" altLang="zh-TW" sz="2400" dirty="0"/>
              <a:t>A deep-learning architecture use graph convolution and 1D convolution to capture spatial dependencies and temporal correlations respectively, we directly use the original network structure [26].</a:t>
            </a:r>
          </a:p>
          <a:p>
            <a:endParaRPr lang="en-US" altLang="zh-TW" sz="24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376BA60-DEEA-E061-6B1C-A9A7C50C954F}"/>
              </a:ext>
            </a:extLst>
          </p:cNvPr>
          <p:cNvSpPr txBox="1"/>
          <p:nvPr/>
        </p:nvSpPr>
        <p:spPr>
          <a:xfrm>
            <a:off x="515344" y="413102"/>
            <a:ext cx="25354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Baseline:</a:t>
            </a:r>
            <a:endParaRPr lang="zh-TW" altLang="en-US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66238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0E00E38-378E-47F8-CED1-075DDDB8A1A9}"/>
              </a:ext>
            </a:extLst>
          </p:cNvPr>
          <p:cNvSpPr txBox="1"/>
          <p:nvPr/>
        </p:nvSpPr>
        <p:spPr>
          <a:xfrm>
            <a:off x="515344" y="413102"/>
            <a:ext cx="6167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Baseline:</a:t>
            </a:r>
            <a:endParaRPr lang="zh-TW" altLang="en-US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6CA057F-D02A-5258-E5A7-3C7FB7F229C2}"/>
              </a:ext>
            </a:extLst>
          </p:cNvPr>
          <p:cNvSpPr txBox="1"/>
          <p:nvPr/>
        </p:nvSpPr>
        <p:spPr>
          <a:xfrm>
            <a:off x="990598" y="1274252"/>
            <a:ext cx="60960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/>
              <a:t>Conv-GCN:  </a:t>
            </a:r>
            <a:r>
              <a:rPr lang="en-US" altLang="zh-TW" sz="2400" dirty="0"/>
              <a:t>A deep-learning architecture with GCN and 3D CNN for passenger flow forecasting, we directly use the original network structure [48].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/>
              <a:t>Conv-LSTM:  </a:t>
            </a:r>
            <a:r>
              <a:rPr lang="en-US" altLang="zh-TW" sz="2400" dirty="0"/>
              <a:t>It has one fully connected layer and two hidden layers with 32 and 64 filters [19] and the kernel size is 3×3. The optimizer is Adam with a learning rate of 0.001.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/>
              <a:t>3D CNN:  </a:t>
            </a:r>
            <a:r>
              <a:rPr lang="en-US" altLang="zh-TW" sz="2400" dirty="0"/>
              <a:t>We use the 3D CNN model and the filter number we set is 16, kernel size is 3 [48].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18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FB64A18-4772-5FD9-486D-9CD15DDB74E6}"/>
              </a:ext>
            </a:extLst>
          </p:cNvPr>
          <p:cNvSpPr txBox="1"/>
          <p:nvPr/>
        </p:nvSpPr>
        <p:spPr>
          <a:xfrm>
            <a:off x="7264400" y="1274252"/>
            <a:ext cx="45008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 err="1"/>
              <a:t>ARConv</a:t>
            </a:r>
            <a:r>
              <a:rPr lang="en-US" altLang="zh-TW" sz="2400" b="1" dirty="0"/>
              <a:t>-GCN-A</a:t>
            </a:r>
            <a:r>
              <a:rPr lang="en-US" altLang="zh-TW" sz="2400" dirty="0"/>
              <a:t>: </a:t>
            </a:r>
            <a:r>
              <a:rPr lang="en-US" altLang="zh-TW" sz="2400" dirty="0" err="1"/>
              <a:t>ARConv</a:t>
            </a:r>
            <a:r>
              <a:rPr lang="en-US" altLang="zh-TW" sz="2400" dirty="0"/>
              <a:t>-GCN without attention mechanism.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 err="1"/>
              <a:t>ARConv</a:t>
            </a:r>
            <a:r>
              <a:rPr lang="en-US" altLang="zh-TW" sz="2400" b="1" dirty="0"/>
              <a:t>-GCN-R</a:t>
            </a:r>
            <a:r>
              <a:rPr lang="en-US" altLang="zh-TW" sz="2400" dirty="0"/>
              <a:t>: </a:t>
            </a:r>
            <a:r>
              <a:rPr lang="en-US" altLang="zh-TW" sz="2400" dirty="0" err="1"/>
              <a:t>ARConv</a:t>
            </a:r>
            <a:r>
              <a:rPr lang="en-US" altLang="zh-TW" sz="2400" dirty="0"/>
              <a:t>-GCN without residual module.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 err="1"/>
              <a:t>ARConv</a:t>
            </a:r>
            <a:r>
              <a:rPr lang="en-US" altLang="zh-TW" sz="2400" b="1" dirty="0"/>
              <a:t>-GCN-AR</a:t>
            </a:r>
            <a:r>
              <a:rPr lang="en-US" altLang="zh-TW" sz="2400" dirty="0"/>
              <a:t>: </a:t>
            </a:r>
            <a:r>
              <a:rPr lang="en-US" altLang="zh-TW" sz="2400" dirty="0" err="1"/>
              <a:t>ARConv</a:t>
            </a:r>
            <a:r>
              <a:rPr lang="en-US" altLang="zh-TW" sz="2400" dirty="0"/>
              <a:t>-GCN without attention mechanism and residual module.</a:t>
            </a:r>
          </a:p>
        </p:txBody>
      </p:sp>
    </p:spTree>
    <p:extLst>
      <p:ext uri="{BB962C8B-B14F-4D97-AF65-F5344CB8AC3E}">
        <p14:creationId xmlns:p14="http://schemas.microsoft.com/office/powerpoint/2010/main" val="20698505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15F5F90-A162-440F-2BAA-11F4F9FBCC53}"/>
              </a:ext>
            </a:extLst>
          </p:cNvPr>
          <p:cNvSpPr txBox="1"/>
          <p:nvPr/>
        </p:nvSpPr>
        <p:spPr>
          <a:xfrm>
            <a:off x="1732301" y="1731924"/>
            <a:ext cx="990032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laptop {  Intel Core i7- 10875H (16M Cache, up to 5.1 GHz), </a:t>
            </a:r>
          </a:p>
          <a:p>
            <a:r>
              <a:rPr lang="en-US" altLang="zh-TW" sz="2400" dirty="0"/>
              <a:t>	        16 GB of memory, </a:t>
            </a:r>
          </a:p>
          <a:p>
            <a:r>
              <a:rPr lang="en-US" altLang="zh-TW" sz="2400" dirty="0"/>
              <a:t>	        NVIDIA GeForce GTX 2060 }.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We used </a:t>
            </a:r>
            <a:r>
              <a:rPr lang="en-US" altLang="zh-TW" sz="2400" dirty="0" err="1"/>
              <a:t>Keras</a:t>
            </a:r>
            <a:r>
              <a:rPr lang="en-US" altLang="zh-TW" sz="2400" dirty="0"/>
              <a:t> and TensorFlow to implement our model.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We trained our model using the Adam optimizer with a learning rate of 0.001. The training epoch was set to 200 and the batch size was set to 64 to train the model.</a:t>
            </a:r>
          </a:p>
          <a:p>
            <a:endParaRPr lang="en-US" altLang="zh-TW" sz="24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FBE871B-5A02-FBBE-1AD6-D7A4A0DF6129}"/>
              </a:ext>
            </a:extLst>
          </p:cNvPr>
          <p:cNvSpPr txBox="1"/>
          <p:nvPr/>
        </p:nvSpPr>
        <p:spPr>
          <a:xfrm>
            <a:off x="515344" y="413102"/>
            <a:ext cx="6167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chemeClr val="accent1">
                    <a:lumMod val="75000"/>
                  </a:schemeClr>
                </a:solidFill>
                <a:cs typeface="Times New Roman" panose="02020603050405020304" pitchFamily="18" charset="0"/>
              </a:rPr>
              <a:t>Experimental settings:</a:t>
            </a:r>
            <a:endParaRPr lang="zh-TW" altLang="en-US" sz="3200" b="1" dirty="0">
              <a:solidFill>
                <a:schemeClr val="accent1">
                  <a:lumMod val="75000"/>
                </a:schemeClr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06865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9B653C-798C-4333-8452-3DF3AE3C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E50278-E2EC-42B2-A1F1-921DD3990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305994" y="-5310547"/>
            <a:ext cx="1580014" cy="12192002"/>
          </a:xfrm>
          <a:prstGeom prst="rect">
            <a:avLst/>
          </a:prstGeom>
          <a:gradFill>
            <a:gsLst>
              <a:gs pos="19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36153F-0DB4-40DD-87C6-B40C1B7E2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72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4F58E37-6AF9-9F41-C8DF-47E4A371AB2D}"/>
              </a:ext>
            </a:extLst>
          </p:cNvPr>
          <p:cNvSpPr txBox="1"/>
          <p:nvPr/>
        </p:nvSpPr>
        <p:spPr>
          <a:xfrm>
            <a:off x="699715" y="288404"/>
            <a:ext cx="7170656" cy="9774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TW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Experimental settings: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4993F34-6901-8A1C-937F-1B15A99A3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16" y="2187337"/>
            <a:ext cx="4127566" cy="2528134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5630CB32-30E8-98AC-8A0A-E2AA21E9A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9970" y="2203757"/>
            <a:ext cx="3978886" cy="237738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257596A8-B95B-9004-0177-534C372A37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438" y="2277929"/>
            <a:ext cx="3994811" cy="234695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50AEF60A-01CD-001C-BC9F-8239C9396A62}"/>
              </a:ext>
            </a:extLst>
          </p:cNvPr>
          <p:cNvSpPr txBox="1"/>
          <p:nvPr/>
        </p:nvSpPr>
        <p:spPr>
          <a:xfrm>
            <a:off x="1584960" y="5096911"/>
            <a:ext cx="94284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In total, there are </a:t>
            </a:r>
            <a:r>
              <a:rPr lang="en-US" altLang="zh-TW" sz="2400" b="1" dirty="0"/>
              <a:t>three important hyperparameters </a:t>
            </a:r>
            <a:r>
              <a:rPr lang="en-US" altLang="zh-TW" sz="2400" dirty="0"/>
              <a:t>in our model: </a:t>
            </a:r>
            <a:r>
              <a:rPr lang="en-US" altLang="zh-TW" sz="2400" b="1" dirty="0"/>
              <a:t>time steps</a:t>
            </a:r>
            <a:r>
              <a:rPr lang="en-US" altLang="zh-TW" sz="2400" dirty="0"/>
              <a:t>, the </a:t>
            </a:r>
            <a:r>
              <a:rPr lang="en-US" altLang="zh-TW" sz="2400" b="1" dirty="0"/>
              <a:t>number of kernels in the GCN</a:t>
            </a:r>
            <a:r>
              <a:rPr lang="en-US" altLang="zh-TW" sz="2400" dirty="0"/>
              <a:t>, and the </a:t>
            </a:r>
            <a:r>
              <a:rPr lang="en-US" altLang="zh-TW" sz="2400" b="1" dirty="0"/>
              <a:t>number of filters in the 3DCNN</a:t>
            </a:r>
            <a:r>
              <a:rPr lang="en-US" altLang="zh-TW" sz="2400" dirty="0"/>
              <a:t>. After many experimental tests and parameter adjustments, as shown in Figure 3, they were set to </a:t>
            </a:r>
            <a:r>
              <a:rPr lang="en-US" altLang="zh-TW" sz="2400" b="1" dirty="0"/>
              <a:t>20, 15</a:t>
            </a:r>
            <a:r>
              <a:rPr lang="en-US" altLang="zh-TW" sz="2400" dirty="0"/>
              <a:t>, and </a:t>
            </a:r>
            <a:r>
              <a:rPr lang="en-US" altLang="zh-TW" sz="2400" b="1" dirty="0"/>
              <a:t>12</a:t>
            </a:r>
            <a:r>
              <a:rPr lang="en-US" altLang="zh-TW" sz="2400" dirty="0"/>
              <a:t>, respectively 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6031282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FF60E17-3B1A-62F6-E07C-5F2A595C144C}"/>
              </a:ext>
            </a:extLst>
          </p:cNvPr>
          <p:cNvSpPr txBox="1"/>
          <p:nvPr/>
        </p:nvSpPr>
        <p:spPr>
          <a:xfrm>
            <a:off x="515344" y="413102"/>
            <a:ext cx="6167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>
                <a:solidFill>
                  <a:schemeClr val="accent1">
                    <a:lumMod val="75000"/>
                  </a:schemeClr>
                </a:solidFill>
                <a:cs typeface="Times New Roman" panose="02020603050405020304" pitchFamily="18" charset="0"/>
              </a:rPr>
              <a:t>Experimental results:</a:t>
            </a:r>
            <a:endParaRPr lang="zh-TW" altLang="en-US" sz="3200" b="1" dirty="0">
              <a:solidFill>
                <a:schemeClr val="accent1">
                  <a:lumMod val="75000"/>
                </a:schemeClr>
              </a:solidFill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3D45567-546A-AAE6-E74E-94DE0AF80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97" y="1206335"/>
            <a:ext cx="5995283" cy="498600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EB5EEA8-57DD-5949-3D6A-6C7D3AE6F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492" y="1205908"/>
            <a:ext cx="6033411" cy="498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4331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0B766E7-C12E-2973-3DC2-B24601D98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10921"/>
            <a:ext cx="11277600" cy="5836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0116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4F58E37-6AF9-9F41-C8DF-47E4A371AB2D}"/>
              </a:ext>
            </a:extLst>
          </p:cNvPr>
          <p:cNvSpPr txBox="1"/>
          <p:nvPr/>
        </p:nvSpPr>
        <p:spPr>
          <a:xfrm>
            <a:off x="466722" y="586855"/>
            <a:ext cx="3201366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TW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Analysis of experimental results: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678ED31-789D-BC71-8BB2-C5B77184324B}"/>
              </a:ext>
            </a:extLst>
          </p:cNvPr>
          <p:cNvSpPr txBox="1"/>
          <p:nvPr/>
        </p:nvSpPr>
        <p:spPr>
          <a:xfrm>
            <a:off x="4835711" y="586855"/>
            <a:ext cx="6555347" cy="58096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200" dirty="0"/>
              <a:t>In deep learning models, </a:t>
            </a:r>
            <a:r>
              <a:rPr lang="en-US" altLang="zh-TW" sz="2200" b="1" dirty="0"/>
              <a:t>LSTMs</a:t>
            </a:r>
            <a:r>
              <a:rPr lang="en-US" altLang="zh-TW" sz="2200" dirty="0"/>
              <a:t>  may not be able to model spatial correlations, and </a:t>
            </a:r>
            <a:r>
              <a:rPr lang="en-US" altLang="zh-TW" sz="2200" b="1" dirty="0"/>
              <a:t>CNNs </a:t>
            </a:r>
            <a:r>
              <a:rPr lang="en-US" altLang="zh-TW" sz="2200" dirty="0"/>
              <a:t> may not be able to capture temporal dynamics.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TW" sz="22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200" dirty="0"/>
              <a:t> In most  cases, complex deep learning architectures such as </a:t>
            </a:r>
            <a:r>
              <a:rPr lang="en-US" altLang="zh-TW" sz="2200" b="1" dirty="0" err="1"/>
              <a:t>ConvLSTM</a:t>
            </a:r>
            <a:r>
              <a:rPr lang="en-US" altLang="zh-TW" sz="2200" dirty="0"/>
              <a:t>, </a:t>
            </a:r>
            <a:r>
              <a:rPr lang="en-US" altLang="zh-TW" sz="2200" b="1" dirty="0"/>
              <a:t>STGCN</a:t>
            </a:r>
            <a:r>
              <a:rPr lang="en-US" altLang="zh-TW" sz="2200" dirty="0"/>
              <a:t>, </a:t>
            </a:r>
            <a:r>
              <a:rPr lang="en-US" altLang="zh-TW" sz="2200" b="1" dirty="0"/>
              <a:t>DCRNN</a:t>
            </a:r>
            <a:r>
              <a:rPr lang="en-US" altLang="zh-TW" sz="2200" dirty="0"/>
              <a:t>, and </a:t>
            </a:r>
            <a:r>
              <a:rPr lang="en-US" altLang="zh-TW" sz="2200" b="1" dirty="0"/>
              <a:t>GCNN</a:t>
            </a:r>
            <a:r>
              <a:rPr lang="en-US" altLang="zh-TW" sz="2200" dirty="0"/>
              <a:t> have produced more </a:t>
            </a:r>
            <a:r>
              <a:rPr lang="en-US" altLang="zh-TW" sz="2200" dirty="0" err="1"/>
              <a:t>favourable</a:t>
            </a:r>
            <a:r>
              <a:rPr lang="en-US" altLang="zh-TW" sz="2200" dirty="0"/>
              <a:t> results than a single model. This is mainly due to the utilization of temporal and spatial features in these models.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TW" sz="22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200" b="1" dirty="0" err="1"/>
              <a:t>ARConv</a:t>
            </a:r>
            <a:r>
              <a:rPr lang="en-US" altLang="zh-TW" sz="2200" b="1" dirty="0"/>
              <a:t>-GCN</a:t>
            </a:r>
            <a:r>
              <a:rPr lang="en-US" altLang="zh-TW" sz="2200" dirty="0"/>
              <a:t> achieves the most accurate prediction in comparison to both </a:t>
            </a:r>
            <a:r>
              <a:rPr lang="en-US" altLang="zh-TW" sz="2200" b="1" dirty="0"/>
              <a:t>traditional </a:t>
            </a:r>
            <a:r>
              <a:rPr lang="en-US" altLang="zh-TW" sz="2200" dirty="0"/>
              <a:t>and </a:t>
            </a:r>
            <a:r>
              <a:rPr lang="en-US" altLang="zh-TW" sz="2200" b="1" dirty="0"/>
              <a:t>deep learning models.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TW" sz="22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200" dirty="0"/>
              <a:t>In order to verify the influence of different components on  </a:t>
            </a:r>
            <a:r>
              <a:rPr lang="en-US" altLang="zh-TW" sz="2200" b="1" dirty="0" err="1"/>
              <a:t>ARConv</a:t>
            </a:r>
            <a:r>
              <a:rPr lang="en-US" altLang="zh-TW" sz="2200" b="1" dirty="0"/>
              <a:t>-GCN</a:t>
            </a:r>
            <a:r>
              <a:rPr lang="en-US" altLang="zh-TW" sz="2200" dirty="0"/>
              <a:t>, we conducted an ablation study as shown in </a:t>
            </a:r>
            <a:r>
              <a:rPr lang="en-US" altLang="zh-TW" sz="2200" b="1" dirty="0"/>
              <a:t>Table 4</a:t>
            </a:r>
            <a:r>
              <a:rPr lang="en-US" altLang="zh-TW" sz="2200" dirty="0"/>
              <a:t>, which proved that our improvement on </a:t>
            </a:r>
            <a:r>
              <a:rPr lang="en-US" altLang="zh-TW" sz="2200" b="1" dirty="0"/>
              <a:t>3DCNN</a:t>
            </a:r>
            <a:r>
              <a:rPr lang="en-US" altLang="zh-TW" sz="2200" dirty="0"/>
              <a:t> is  effective.</a:t>
            </a:r>
          </a:p>
        </p:txBody>
      </p:sp>
    </p:spTree>
    <p:extLst>
      <p:ext uri="{BB962C8B-B14F-4D97-AF65-F5344CB8AC3E}">
        <p14:creationId xmlns:p14="http://schemas.microsoft.com/office/powerpoint/2010/main" val="17368251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708A664-AB36-E1AA-9291-3BC8FF13ABA4}"/>
              </a:ext>
            </a:extLst>
          </p:cNvPr>
          <p:cNvSpPr/>
          <p:nvPr/>
        </p:nvSpPr>
        <p:spPr>
          <a:xfrm>
            <a:off x="4972821" y="2354492"/>
            <a:ext cx="1798890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7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END</a:t>
            </a:r>
            <a:endParaRPr lang="zh-TW" altLang="en-US" sz="72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27741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紫蘿蘭色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1496</TotalTime>
  <Words>2183</Words>
  <Application>Microsoft Office PowerPoint</Application>
  <PresentationFormat>寬螢幕</PresentationFormat>
  <Paragraphs>162</Paragraphs>
  <Slides>30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30</vt:i4>
      </vt:variant>
    </vt:vector>
  </HeadingPairs>
  <TitlesOfParts>
    <vt:vector size="38" baseType="lpstr">
      <vt:lpstr>Arial</vt:lpstr>
      <vt:lpstr>Arial</vt:lpstr>
      <vt:lpstr>Calibri</vt:lpstr>
      <vt:lpstr>Calibri Light</vt:lpstr>
      <vt:lpstr>Cambria Math</vt:lpstr>
      <vt:lpstr>Open Sans</vt:lpstr>
      <vt:lpstr>Times New Roman</vt:lpstr>
      <vt:lpstr>Office 佈景主題</vt:lpstr>
      <vt:lpstr>A deep neural network model with GCN and 3D convolutional network for short-term metro passenger flow forecasting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deep neural network model with GCN and 3D convolutional network for short-term metro passenger flow forecasting</dc:title>
  <dc:creator>汶煜 張</dc:creator>
  <cp:lastModifiedBy>汶煜 張</cp:lastModifiedBy>
  <cp:revision>20</cp:revision>
  <dcterms:created xsi:type="dcterms:W3CDTF">2023-05-14T09:33:15Z</dcterms:created>
  <dcterms:modified xsi:type="dcterms:W3CDTF">2023-05-23T18:32:16Z</dcterms:modified>
</cp:coreProperties>
</file>