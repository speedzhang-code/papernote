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7"/>
  </p:notesMasterIdLst>
  <p:sldIdLst>
    <p:sldId id="256" r:id="rId2"/>
    <p:sldId id="261" r:id="rId3"/>
    <p:sldId id="260" r:id="rId4"/>
    <p:sldId id="287" r:id="rId5"/>
    <p:sldId id="262" r:id="rId6"/>
    <p:sldId id="264" r:id="rId7"/>
    <p:sldId id="288" r:id="rId8"/>
    <p:sldId id="289" r:id="rId9"/>
    <p:sldId id="266" r:id="rId10"/>
    <p:sldId id="267" r:id="rId11"/>
    <p:sldId id="268" r:id="rId12"/>
    <p:sldId id="271" r:id="rId13"/>
    <p:sldId id="293" r:id="rId14"/>
    <p:sldId id="305" r:id="rId15"/>
    <p:sldId id="279" r:id="rId16"/>
    <p:sldId id="281" r:id="rId17"/>
    <p:sldId id="283" r:id="rId18"/>
    <p:sldId id="284" r:id="rId19"/>
    <p:sldId id="294" r:id="rId20"/>
    <p:sldId id="296" r:id="rId21"/>
    <p:sldId id="297" r:id="rId22"/>
    <p:sldId id="300" r:id="rId23"/>
    <p:sldId id="298" r:id="rId24"/>
    <p:sldId id="292" r:id="rId25"/>
    <p:sldId id="291" r:id="rId26"/>
    <p:sldId id="307" r:id="rId27"/>
    <p:sldId id="308" r:id="rId28"/>
    <p:sldId id="309" r:id="rId29"/>
    <p:sldId id="310" r:id="rId30"/>
    <p:sldId id="301" r:id="rId31"/>
    <p:sldId id="302" r:id="rId32"/>
    <p:sldId id="303" r:id="rId33"/>
    <p:sldId id="304" r:id="rId34"/>
    <p:sldId id="326" r:id="rId35"/>
    <p:sldId id="316" r:id="rId36"/>
    <p:sldId id="311" r:id="rId37"/>
    <p:sldId id="313" r:id="rId38"/>
    <p:sldId id="315" r:id="rId39"/>
    <p:sldId id="317" r:id="rId40"/>
    <p:sldId id="327" r:id="rId41"/>
    <p:sldId id="318" r:id="rId42"/>
    <p:sldId id="319" r:id="rId43"/>
    <p:sldId id="320" r:id="rId44"/>
    <p:sldId id="330" r:id="rId45"/>
    <p:sldId id="329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2" autoAdjust="0"/>
    <p:restoredTop sz="92277" autoAdjust="0"/>
  </p:normalViewPr>
  <p:slideViewPr>
    <p:cSldViewPr snapToGrid="0">
      <p:cViewPr varScale="1">
        <p:scale>
          <a:sx n="77" d="100"/>
          <a:sy n="77" d="100"/>
        </p:scale>
        <p:origin x="7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2128" b="1" i="0" u="none" strike="noStrike" baseline="0" dirty="0"/>
              <a:t>motor vehicles</a:t>
            </a:r>
            <a:endParaRPr lang="zh-TW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9.126335000857691E-2"/>
          <c:y val="0.11816733524554421"/>
          <c:w val="0.88998671259842521"/>
          <c:h val="0.82190583034535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工作表1!$A$2:$A$4</c:f>
              <c:strCache>
                <c:ptCount val="3"/>
                <c:pt idx="0">
                  <c:v>U.S.</c:v>
                </c:pt>
                <c:pt idx="1">
                  <c:v>Beijing2018</c:v>
                </c:pt>
                <c:pt idx="2">
                  <c:v>Beijing2020</c:v>
                </c:pt>
              </c:strCache>
            </c:str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273</c:v>
                </c:pt>
                <c:pt idx="1">
                  <c:v>6.08</c:v>
                </c:pt>
                <c:pt idx="2">
                  <c:v>6.57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8C-4646-AF51-9A9FC9575D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389762968"/>
        <c:axId val="389761984"/>
      </c:barChart>
      <c:catAx>
        <c:axId val="389762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89761984"/>
        <c:crosses val="autoZero"/>
        <c:auto val="1"/>
        <c:lblAlgn val="ctr"/>
        <c:lblOffset val="100"/>
        <c:noMultiLvlLbl val="0"/>
      </c:catAx>
      <c:valAx>
        <c:axId val="389761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TW" dirty="0"/>
                  <a:t>Million</a:t>
                </a:r>
                <a:endParaRPr lang="zh-TW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89762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2A726-01E2-4B29-848B-B74FD2C7C45B}" type="datetimeFigureOut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7F20B9-AF17-4CB7-8047-8464C32A10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71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426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7377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4874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929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374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https://github.com/scikit-mobility/DeepLearning4HumanMobility/blob/master/Tasks/crowd.md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1106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5529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3395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2427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https://chih-sheng-huang821.medium.com/%E5%8D%B7%E7%A9%8D%E7%A5%9E%E7%B6%93%E7%B6%B2%E8%B7%AF-convolutional-neural-network-cnn-1-1%E5%8D%B7%E7%A9%8D%E8%A8%88%E7%AE%97%E5%9C%A8%E5%81%9A%E4%BB%80%E9%BA%BC-7d7ebfe34b8</a:t>
            </a:r>
          </a:p>
          <a:p>
            <a:endParaRPr lang="en-US" altLang="zh-TW" dirty="0"/>
          </a:p>
          <a:p>
            <a:r>
              <a:rPr lang="en-US" altLang="zh-TW" dirty="0"/>
              <a:t>https://hackmd.io/@allen108108/rkn-oVGA4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6201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305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https://blog.csdn.net/HUST_zxs/article/details/127499955</a:t>
            </a:r>
          </a:p>
          <a:p>
            <a:r>
              <a:rPr lang="en-US" altLang="zh-TW" dirty="0"/>
              <a:t>https://blog.51cto.com/u_15047484/2618167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6145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244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7659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https://www.twblogs.net/a/5c8bc5afbd9eee35fc14e044</a:t>
            </a:r>
          </a:p>
          <a:p>
            <a:r>
              <a:rPr lang="en-US" altLang="zh-TW" dirty="0"/>
              <a:t>https://keras.io/api/layers/merging_layers/concatenate/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064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https://zh.wikipedia.org/wiki/%E5%B9%B3%E5%9D%87%E7%BB%9D%E5%AF%B9%E8%AF%AF%E5%B7%AE</a:t>
            </a:r>
          </a:p>
          <a:p>
            <a:r>
              <a:rPr lang="en-US" altLang="zh-TW" dirty="0"/>
              <a:t>https://zh.wikipedia.org/zh-tw/%E5%9D%87%E6%96%B9%E6%A0%B9%E8%AF%AF%E5%B7%AE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b="0" i="0" dirty="0">
                <a:solidFill>
                  <a:srgbClr val="000000"/>
                </a:solidFill>
                <a:effectLst/>
                <a:ea typeface="Linux Libertine"/>
              </a:rPr>
              <a:t>平均絕對誤差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b="0" i="0" dirty="0">
                <a:solidFill>
                  <a:srgbClr val="000000"/>
                </a:solidFill>
                <a:effectLst/>
                <a:ea typeface="Linux Libertine"/>
              </a:rPr>
              <a:t>均方根誤差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322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13987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965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7F20B9-AF17-4CB7-8047-8464C32A101F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824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03D0-43B1-4B25-A991-E57408081BF9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8730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C99B4-506D-4950-9501-C795A7ECBE40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426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E616-556A-4EC2-ABC5-60EF9E7FEFF2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4454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C8153-14AB-474F-99CF-E0569EF29766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060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91F1E-47C2-48B7-8AA1-980CCF4B794D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0989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DF71-5854-4EEF-A3E4-0D57A985BB0B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304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24FC8-0023-4D5B-B7E9-6F10F76E2CCA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924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6D97A-FD3D-4FF3-9932-563A286B1CED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008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3516-4C77-45EA-AD36-51EA2D324D7D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5628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FD90-7F18-4AA3-BF8A-5669B36EAD5A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10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C3E64-750C-49C7-907B-E09D38A6E44E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500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8BF94-D08B-4A53-B4D4-FA901450432B}" type="datetime1">
              <a:rPr lang="zh-TW" altLang="en-US" smtClean="0"/>
              <a:t>2023/3/20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FF638-4A32-438B-A35A-42042C8761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25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D55CA618-78A6-47F6-B865-E9315164F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4" name="Group 2063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2065" name="Straight Connector 2064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6" name="Rectangle 2065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68" name="Rectangle 2067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F8EB08F-520D-4044-5B9C-7FD2885A0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079" y="2059383"/>
            <a:ext cx="10071536" cy="1727490"/>
          </a:xfrm>
        </p:spPr>
        <p:txBody>
          <a:bodyPr anchor="b">
            <a:normAutofit/>
          </a:bodyPr>
          <a:lstStyle/>
          <a:p>
            <a:r>
              <a:rPr lang="en-US" altLang="zh-TW" sz="4800" b="1" dirty="0"/>
              <a:t>Periodic Residual Learning for Crowd Flow Forecasting</a:t>
            </a:r>
            <a:endParaRPr lang="zh-TW" altLang="en-US" sz="4800" b="1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B79849B-33B5-9CD6-4258-F539487B9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83" y="4404656"/>
            <a:ext cx="10286929" cy="1182995"/>
          </a:xfrm>
          <a:prstGeom prst="rect">
            <a:avLst/>
          </a:prstGeom>
        </p:spPr>
      </p:pic>
      <p:pic>
        <p:nvPicPr>
          <p:cNvPr id="2050" name="Picture 2" descr="新加坡國立大學- 維基百科，自由的百科全書">
            <a:extLst>
              <a:ext uri="{FF2B5EF4-FFF2-40B4-BE49-F238E27FC236}">
                <a16:creationId xmlns:a16="http://schemas.microsoft.com/office/drawing/2014/main" id="{DFE021AF-6560-2FDE-7C0C-D048D67A1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9871" y="1129867"/>
            <a:ext cx="2345952" cy="107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81F0F93-E087-9657-638D-4DEB551C0675}"/>
              </a:ext>
            </a:extLst>
          </p:cNvPr>
          <p:cNvSpPr txBox="1"/>
          <p:nvPr/>
        </p:nvSpPr>
        <p:spPr>
          <a:xfrm>
            <a:off x="596464" y="5861469"/>
            <a:ext cx="115216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In The 30th International Conference on Advances in Geographic Information Systems (SIGSPATIAL ’22), November 1–4, 2022, Seattle, WA, USA. ACM, New York, NY, USA.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08D9A28-DC3A-298F-13D2-0B986FCEE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065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F90F17-557B-8DB0-3A6F-E4A1DB1D4944}"/>
              </a:ext>
            </a:extLst>
          </p:cNvPr>
          <p:cNvSpPr txBox="1"/>
          <p:nvPr/>
        </p:nvSpPr>
        <p:spPr>
          <a:xfrm>
            <a:off x="1850749" y="2828835"/>
            <a:ext cx="8490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200" b="1" dirty="0">
                <a:latin typeface="Century" panose="02040604050505020304" pitchFamily="18" charset="0"/>
              </a:rPr>
              <a:t>INTRODUCTION</a:t>
            </a:r>
            <a:r>
              <a:rPr lang="en-US" altLang="zh-TW" sz="3600" b="1" dirty="0"/>
              <a:t> </a:t>
            </a:r>
            <a:endParaRPr lang="zh-TW" altLang="en-US" sz="36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35BCBFB-5D77-1C9D-3B4E-7C829E74E0E9}"/>
              </a:ext>
            </a:extLst>
          </p:cNvPr>
          <p:cNvSpPr txBox="1"/>
          <p:nvPr/>
        </p:nvSpPr>
        <p:spPr>
          <a:xfrm>
            <a:off x="4306907" y="4029164"/>
            <a:ext cx="3578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aseline="30000" dirty="0"/>
              <a:t>-------------------------------------------------------------------------</a:t>
            </a:r>
            <a:endParaRPr lang="zh-TW" altLang="en-US" baseline="300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9D53422-A601-7F39-2F9C-E7E57A0F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0690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圖表 6">
            <a:extLst>
              <a:ext uri="{FF2B5EF4-FFF2-40B4-BE49-F238E27FC236}">
                <a16:creationId xmlns:a16="http://schemas.microsoft.com/office/drawing/2014/main" id="{94B8E92E-AD84-E885-9659-1A969CCB07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5537213"/>
              </p:ext>
            </p:extLst>
          </p:nvPr>
        </p:nvGraphicFramePr>
        <p:xfrm>
          <a:off x="569686" y="838805"/>
          <a:ext cx="6429828" cy="4789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21A38C9D-028A-1011-8DBC-5FD77BB82349}"/>
              </a:ext>
            </a:extLst>
          </p:cNvPr>
          <p:cNvSpPr txBox="1"/>
          <p:nvPr/>
        </p:nvSpPr>
        <p:spPr>
          <a:xfrm>
            <a:off x="7333343" y="1363568"/>
            <a:ext cx="46082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Nowadays, the development of intelligent transportation systems has drawn </a:t>
            </a:r>
            <a:r>
              <a:rPr lang="en-US" altLang="zh-TW" sz="2400" b="1" dirty="0"/>
              <a:t>increasing attention </a:t>
            </a:r>
            <a:r>
              <a:rPr lang="en-US" altLang="zh-TW" sz="2400" dirty="0"/>
              <a:t>as the number of </a:t>
            </a:r>
            <a:r>
              <a:rPr lang="en-US" altLang="zh-TW" sz="2400" b="1" dirty="0"/>
              <a:t>vehicles</a:t>
            </a:r>
            <a:r>
              <a:rPr lang="en-US" altLang="zh-TW" sz="2400" dirty="0"/>
              <a:t> grows over the years. The total number of motor vehicles has reached </a:t>
            </a:r>
            <a:r>
              <a:rPr lang="en-US" altLang="zh-TW" sz="2400" b="1" dirty="0"/>
              <a:t>273 million </a:t>
            </a:r>
            <a:r>
              <a:rPr lang="en-US" altLang="zh-TW" sz="2400" dirty="0"/>
              <a:t>in the </a:t>
            </a:r>
            <a:r>
              <a:rPr lang="en-US" altLang="zh-TW" sz="2400" b="1" dirty="0"/>
              <a:t>U.S</a:t>
            </a:r>
            <a:r>
              <a:rPr lang="en-US" altLang="zh-TW" sz="2400" dirty="0"/>
              <a:t>. , and </a:t>
            </a:r>
            <a:r>
              <a:rPr lang="en-US" altLang="zh-TW" sz="2400" b="1" dirty="0"/>
              <a:t>6.08 million </a:t>
            </a:r>
            <a:r>
              <a:rPr lang="en-US" altLang="zh-TW" sz="2400" dirty="0"/>
              <a:t>in </a:t>
            </a:r>
            <a:r>
              <a:rPr lang="en-US" altLang="zh-TW" sz="2400" b="1" dirty="0"/>
              <a:t>Beijing by 2018</a:t>
            </a:r>
            <a:r>
              <a:rPr lang="en-US" altLang="zh-TW" sz="2400" dirty="0"/>
              <a:t>, respectively, and it has grown to </a:t>
            </a:r>
            <a:r>
              <a:rPr lang="en-US" altLang="zh-TW" sz="2400" b="1" dirty="0"/>
              <a:t>6570 thousand </a:t>
            </a:r>
            <a:r>
              <a:rPr lang="en-US" altLang="zh-TW" sz="2400" dirty="0"/>
              <a:t>in </a:t>
            </a:r>
            <a:r>
              <a:rPr lang="en-US" altLang="zh-TW" sz="2400" b="1" dirty="0"/>
              <a:t>Beijing by 2020 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D81DF9-3A7E-7CFA-52CA-CF4223938E9F}"/>
              </a:ext>
            </a:extLst>
          </p:cNvPr>
          <p:cNvSpPr/>
          <p:nvPr/>
        </p:nvSpPr>
        <p:spPr>
          <a:xfrm>
            <a:off x="0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Introduction</a:t>
            </a:r>
            <a:endParaRPr lang="zh-TW" altLang="en-US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502FA8A-30C7-FCFD-130C-1174E1B8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342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F750B93-59FD-7A1B-70AE-F3897FE4FCCE}"/>
              </a:ext>
            </a:extLst>
          </p:cNvPr>
          <p:cNvSpPr txBox="1"/>
          <p:nvPr/>
        </p:nvSpPr>
        <p:spPr>
          <a:xfrm>
            <a:off x="615043" y="1359025"/>
            <a:ext cx="105645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To manage citywide transportation </a:t>
            </a:r>
            <a:r>
              <a:rPr lang="en-US" altLang="zh-TW" sz="2400" b="1" dirty="0"/>
              <a:t>more efficiently</a:t>
            </a:r>
            <a:r>
              <a:rPr lang="en-US" altLang="zh-TW" sz="2400" dirty="0"/>
              <a:t>, crowd forecasting aims to divide a city into multiple regions, i.e., even </a:t>
            </a:r>
            <a:r>
              <a:rPr lang="en-US" altLang="zh-TW" sz="2400" b="1" dirty="0"/>
              <a:t>grid cells</a:t>
            </a:r>
            <a:r>
              <a:rPr lang="en-US" altLang="zh-TW" sz="2400" dirty="0"/>
              <a:t>, and generate future vehicles’ </a:t>
            </a:r>
            <a:r>
              <a:rPr lang="en-US" altLang="zh-TW" sz="2400" b="1" dirty="0"/>
              <a:t>in/out-flow </a:t>
            </a:r>
            <a:r>
              <a:rPr lang="en-US" altLang="zh-TW" sz="2400" dirty="0"/>
              <a:t>for each region (such as: assisting transportation managers to </a:t>
            </a:r>
            <a:r>
              <a:rPr lang="en-US" altLang="zh-TW" sz="2400" b="1" dirty="0"/>
              <a:t>alleviate the congestion</a:t>
            </a:r>
            <a:r>
              <a:rPr lang="en-US" altLang="zh-TW" sz="2400" dirty="0"/>
              <a:t> , guiding carsharing companies to </a:t>
            </a:r>
            <a:r>
              <a:rPr lang="en-US" altLang="zh-TW" sz="2400" b="1" dirty="0"/>
              <a:t>pre-allocate</a:t>
            </a:r>
            <a:r>
              <a:rPr lang="en-US" altLang="zh-TW" sz="2400" dirty="0"/>
              <a:t> vehicles and helping travelers’ </a:t>
            </a:r>
            <a:r>
              <a:rPr lang="en-US" altLang="zh-TW" sz="2400" b="1" dirty="0"/>
              <a:t>decision-making</a:t>
            </a:r>
            <a:r>
              <a:rPr lang="en-US" altLang="zh-TW" sz="2400" dirty="0"/>
              <a:t>) 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accent5">
                    <a:lumMod val="75000"/>
                  </a:schemeClr>
                </a:solidFill>
              </a:rPr>
              <a:t>Spatio</a:t>
            </a: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-temporal (ST)</a:t>
            </a:r>
            <a:r>
              <a:rPr lang="en-US" altLang="zh-TW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dependency</a:t>
            </a:r>
            <a:r>
              <a:rPr lang="en-US" altLang="zh-TW" sz="2400" dirty="0"/>
              <a:t> is an important </a:t>
            </a:r>
            <a:r>
              <a:rPr lang="en-US" altLang="zh-TW" sz="2400" b="1" dirty="0"/>
              <a:t>characteristic</a:t>
            </a:r>
            <a:r>
              <a:rPr lang="en-US" altLang="zh-TW" sz="2400" dirty="0"/>
              <a:t> in </a:t>
            </a:r>
            <a:r>
              <a:rPr lang="en-US" altLang="zh-TW" sz="2400" b="1" dirty="0"/>
              <a:t>crowd flow forecasting</a:t>
            </a:r>
            <a:r>
              <a:rPr lang="en-US" altLang="zh-TW" sz="2400" dirty="0"/>
              <a:t>: one region’s future crowd flow volume is conditioned on other regions’ histories and its historical observations.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1C1799-337A-F5AC-957A-73E74334BF51}"/>
              </a:ext>
            </a:extLst>
          </p:cNvPr>
          <p:cNvSpPr/>
          <p:nvPr/>
        </p:nvSpPr>
        <p:spPr>
          <a:xfrm>
            <a:off x="0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Goal</a:t>
            </a:r>
            <a:endParaRPr lang="zh-TW" altLang="en-US" sz="32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ACD99C-B6CC-2C93-FB48-ECC0F323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151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4A7670-9BBA-8961-C897-E6D9AA332E1B}"/>
              </a:ext>
            </a:extLst>
          </p:cNvPr>
          <p:cNvSpPr/>
          <p:nvPr/>
        </p:nvSpPr>
        <p:spPr>
          <a:xfrm>
            <a:off x="0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Mainstream works</a:t>
            </a:r>
            <a:endParaRPr lang="zh-TW" altLang="en-US" sz="3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F1F45C-74F6-F240-EEEC-D61EE826E811}"/>
              </a:ext>
            </a:extLst>
          </p:cNvPr>
          <p:cNvSpPr/>
          <p:nvPr/>
        </p:nvSpPr>
        <p:spPr>
          <a:xfrm>
            <a:off x="870856" y="881743"/>
            <a:ext cx="10450287" cy="5511305"/>
          </a:xfrm>
          <a:prstGeom prst="rect">
            <a:avLst/>
          </a:prstGeom>
        </p:spPr>
        <p:txBody>
          <a:bodyPr/>
          <a:lstStyle/>
          <a:p>
            <a:pPr lvl="0">
              <a:lnSpc>
                <a:spcPct val="100000"/>
              </a:lnSpc>
            </a:pPr>
            <a:endParaRPr lang="en-US" sz="2400" dirty="0"/>
          </a:p>
          <a:p>
            <a:pPr lvl="0">
              <a:lnSpc>
                <a:spcPct val="100000"/>
              </a:lnSpc>
              <a:buChar char="•"/>
            </a:pPr>
            <a:r>
              <a:rPr lang="en-US" sz="2400" dirty="0"/>
              <a:t>  Mainstream works employ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convolutional neural networks </a:t>
            </a:r>
            <a:r>
              <a:rPr lang="en-US" sz="2400" b="1" dirty="0"/>
              <a:t>(CNNs) </a:t>
            </a:r>
            <a:r>
              <a:rPr lang="en-US" sz="2400" dirty="0"/>
              <a:t>to capture spatial correlations and utilize different sub-branches or channels to model temporal dependencies of different time scales.</a:t>
            </a:r>
          </a:p>
          <a:p>
            <a:pPr lvl="0">
              <a:lnSpc>
                <a:spcPct val="100000"/>
              </a:lnSpc>
            </a:pPr>
            <a:endParaRPr lang="en-US" sz="2400" dirty="0"/>
          </a:p>
          <a:p>
            <a:pPr>
              <a:buFontTx/>
              <a:buChar char="•"/>
            </a:pPr>
            <a:r>
              <a:rPr lang="en-US" sz="2400" dirty="0"/>
              <a:t>  Besides, there are some methods that adopt 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recurrent neural networks </a:t>
            </a:r>
            <a:r>
              <a:rPr lang="en-US" sz="2400" b="1" dirty="0"/>
              <a:t>(RNNs)  </a:t>
            </a:r>
            <a:r>
              <a:rPr lang="en-US" sz="2400" dirty="0"/>
              <a:t>or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Transformer</a:t>
            </a:r>
            <a:r>
              <a:rPr lang="en-US" sz="2400" dirty="0"/>
              <a:t>  to enhance temporal modeling via recurrent state transformations or attention mechanisms. 												-	H</a:t>
            </a:r>
            <a:r>
              <a:rPr lang="en-US" altLang="zh-TW" sz="2400" dirty="0"/>
              <a:t>owever, these models always require </a:t>
            </a:r>
            <a:r>
              <a:rPr lang="en-US" altLang="zh-TW" sz="2400" b="1" dirty="0">
                <a:solidFill>
                  <a:srgbClr val="FF0000"/>
                </a:solidFill>
              </a:rPr>
              <a:t>higher computational </a:t>
            </a:r>
            <a:r>
              <a:rPr lang="en-US" altLang="zh-TW" sz="2400" dirty="0"/>
              <a:t>costs and 			</a:t>
            </a:r>
            <a:r>
              <a:rPr lang="en-US" altLang="zh-TW" sz="2400" b="1" dirty="0">
                <a:solidFill>
                  <a:srgbClr val="FF0000"/>
                </a:solidFill>
              </a:rPr>
              <a:t>larger storage</a:t>
            </a:r>
            <a:r>
              <a:rPr lang="en-US" altLang="zh-TW" sz="2400" dirty="0"/>
              <a:t> compared to their CNN counterparts.</a:t>
            </a:r>
          </a:p>
          <a:p>
            <a:pPr lvl="0">
              <a:lnSpc>
                <a:spcPct val="100000"/>
              </a:lnSpc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Meanwhile, more recent works suggest that </a:t>
            </a:r>
            <a:r>
              <a:rPr lang="en-US" altLang="zh-TW" sz="2800" b="1" dirty="0">
                <a:solidFill>
                  <a:schemeClr val="accent5">
                    <a:lumMod val="75000"/>
                  </a:schemeClr>
                </a:solidFill>
              </a:rPr>
              <a:t>CNNs</a:t>
            </a:r>
            <a:r>
              <a:rPr lang="en-US" altLang="zh-TW" sz="2400" dirty="0"/>
              <a:t> can </a:t>
            </a:r>
            <a:r>
              <a:rPr lang="en-US" altLang="zh-TW" sz="2400" b="1" dirty="0"/>
              <a:t>effectively</a:t>
            </a:r>
            <a:r>
              <a:rPr lang="en-US" altLang="zh-TW" sz="2400" dirty="0"/>
              <a:t> model the </a:t>
            </a:r>
            <a:r>
              <a:rPr lang="en-US" altLang="zh-TW" sz="2400" b="1" dirty="0"/>
              <a:t>spatial</a:t>
            </a:r>
            <a:r>
              <a:rPr lang="en-US" altLang="zh-TW" sz="2400" dirty="0"/>
              <a:t> and </a:t>
            </a:r>
            <a:r>
              <a:rPr lang="en-US" altLang="zh-TW" sz="2400" b="1" dirty="0"/>
              <a:t>channel-wise</a:t>
            </a:r>
            <a:r>
              <a:rPr lang="en-US" altLang="zh-TW" sz="2400" dirty="0"/>
              <a:t> correlations simultaneously with the</a:t>
            </a:r>
            <a:r>
              <a:rPr lang="en-US" altLang="zh-TW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TW" sz="2800" b="1" dirty="0">
                <a:solidFill>
                  <a:schemeClr val="accent5">
                    <a:lumMod val="75000"/>
                  </a:schemeClr>
                </a:solidFill>
              </a:rPr>
              <a:t>Squeeze-and-Excitation (SE) </a:t>
            </a:r>
            <a:r>
              <a:rPr lang="en-US" altLang="zh-TW" sz="2400" dirty="0"/>
              <a:t>mechanism .</a:t>
            </a:r>
          </a:p>
          <a:p>
            <a:pPr lvl="0"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1D40025-8195-3730-BA39-A7BFF7A8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543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D0E5765-C95A-1462-FFD8-621EC13AE49C}"/>
              </a:ext>
            </a:extLst>
          </p:cNvPr>
          <p:cNvSpPr txBox="1"/>
          <p:nvPr/>
        </p:nvSpPr>
        <p:spPr>
          <a:xfrm>
            <a:off x="7895619" y="2209335"/>
            <a:ext cx="41423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Left hand side: the city is divided into many regions;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right hand side: the crowd inflow of a region during a </a:t>
            </a:r>
            <a:r>
              <a:rPr lang="en-US" altLang="zh-TW" sz="2400" b="1" dirty="0"/>
              <a:t>period of two weeks</a:t>
            </a:r>
            <a:r>
              <a:rPr lang="en-US" altLang="zh-TW" sz="2400" dirty="0"/>
              <a:t>, i.e.,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from 06 March 2016 to 19 March 2016.</a:t>
            </a:r>
            <a:endParaRPr lang="zh-TW" altLang="en-US" sz="2400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AF8EA316-89BE-8455-E2FF-567B0EA3B00A}"/>
              </a:ext>
            </a:extLst>
          </p:cNvPr>
          <p:cNvGrpSpPr/>
          <p:nvPr/>
        </p:nvGrpSpPr>
        <p:grpSpPr>
          <a:xfrm>
            <a:off x="440109" y="1941501"/>
            <a:ext cx="7322621" cy="3684154"/>
            <a:chOff x="320036" y="1329026"/>
            <a:chExt cx="6897517" cy="3141252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D58A939-DF0A-6D9A-999B-022CF10D3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036" y="1329026"/>
              <a:ext cx="6897517" cy="2838884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C41C0716-7A43-B0B5-46B4-C115E64F665E}"/>
                </a:ext>
              </a:extLst>
            </p:cNvPr>
            <p:cNvSpPr txBox="1">
              <a:spLocks/>
            </p:cNvSpPr>
            <p:nvPr/>
          </p:nvSpPr>
          <p:spPr>
            <a:xfrm>
              <a:off x="3455246" y="4100946"/>
              <a:ext cx="951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Figure.1</a:t>
              </a:r>
              <a:endParaRPr lang="zh-TW" altLang="en-US" b="1" dirty="0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5F8ABD33-D9E8-3299-F276-6B775D860A5A}"/>
              </a:ext>
            </a:extLst>
          </p:cNvPr>
          <p:cNvSpPr/>
          <p:nvPr/>
        </p:nvSpPr>
        <p:spPr>
          <a:xfrm>
            <a:off x="0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A visualization of crowd flows</a:t>
            </a:r>
            <a:endParaRPr lang="zh-TW" altLang="en-US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BEBDBC-F480-C84B-3956-38C80E87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172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1C7B6DF-2FA1-8F26-72DD-42D68F673CCC}"/>
              </a:ext>
            </a:extLst>
          </p:cNvPr>
          <p:cNvSpPr txBox="1"/>
          <p:nvPr/>
        </p:nvSpPr>
        <p:spPr>
          <a:xfrm>
            <a:off x="581961" y="1905506"/>
            <a:ext cx="110280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 Another key characteristic in citywide crowd flow is </a:t>
            </a: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periodicity</a:t>
            </a:r>
            <a:r>
              <a:rPr lang="en-US" altLang="zh-TW" sz="2400" dirty="0"/>
              <a:t> . As can be observed from </a:t>
            </a:r>
            <a:r>
              <a:rPr lang="en-US" altLang="zh-TW" sz="2400" b="1" dirty="0"/>
              <a:t>Fig. 1</a:t>
            </a:r>
            <a:r>
              <a:rPr lang="en-US" altLang="zh-TW" sz="2400" dirty="0"/>
              <a:t>, crowd flow data show periodic patterns, e.g., </a:t>
            </a:r>
            <a:r>
              <a:rPr lang="en-US" altLang="zh-TW" sz="2400" b="1" dirty="0"/>
              <a:t>daily</a:t>
            </a:r>
            <a:r>
              <a:rPr lang="en-US" altLang="zh-TW" sz="2400" dirty="0"/>
              <a:t> and </a:t>
            </a:r>
            <a:r>
              <a:rPr lang="en-US" altLang="zh-TW" sz="2400" b="1" dirty="0"/>
              <a:t>weekly</a:t>
            </a:r>
            <a:r>
              <a:rPr lang="en-US" altLang="zh-TW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For instance,</a:t>
            </a:r>
          </a:p>
          <a:p>
            <a:r>
              <a:rPr lang="en-US" altLang="zh-TW" sz="2400" b="1" dirty="0"/>
              <a:t>	</a:t>
            </a:r>
            <a:r>
              <a:rPr lang="en-US" altLang="zh-TW" sz="2400" dirty="0"/>
              <a:t>-</a:t>
            </a:r>
            <a:r>
              <a:rPr lang="zh-TW" altLang="en-US" sz="2400" b="1" dirty="0"/>
              <a:t>  </a:t>
            </a:r>
            <a:r>
              <a:rPr lang="en-US" altLang="zh-TW" sz="2400" b="1" dirty="0"/>
              <a:t>on the daily scale</a:t>
            </a:r>
            <a:r>
              <a:rPr lang="en-US" altLang="zh-TW" sz="2400" dirty="0"/>
              <a:t>, the volume in the region follows a similar trend that increases 	</a:t>
            </a:r>
            <a:r>
              <a:rPr lang="zh-TW" altLang="en-US" sz="2400" dirty="0"/>
              <a:t>    </a:t>
            </a:r>
            <a:r>
              <a:rPr lang="en-US" altLang="zh-TW" sz="2400" dirty="0"/>
              <a:t>during the morning and decreases during the night; </a:t>
            </a:r>
          </a:p>
          <a:p>
            <a:r>
              <a:rPr lang="en-US" altLang="zh-TW" sz="2400" b="1" dirty="0"/>
              <a:t>	</a:t>
            </a:r>
            <a:r>
              <a:rPr lang="en-US" altLang="zh-TW" sz="2400" dirty="0"/>
              <a:t>-</a:t>
            </a:r>
            <a:r>
              <a:rPr lang="zh-TW" altLang="en-US" sz="2400" b="1" dirty="0"/>
              <a:t>  </a:t>
            </a:r>
            <a:r>
              <a:rPr lang="en-US" altLang="zh-TW" sz="2400" b="1" dirty="0"/>
              <a:t>on the weekly scale</a:t>
            </a:r>
            <a:r>
              <a:rPr lang="en-US" altLang="zh-TW" sz="2400" dirty="0"/>
              <a:t>, the flow pattern trends to repeat every week (see the </a:t>
            </a:r>
            <a:r>
              <a:rPr lang="en-US" altLang="zh-TW" sz="2400" b="1" dirty="0">
                <a:solidFill>
                  <a:srgbClr val="FF0000"/>
                </a:solidFill>
              </a:rPr>
              <a:t>red 		</a:t>
            </a:r>
            <a:r>
              <a:rPr lang="zh-TW" altLang="en-US" sz="2400" b="1" dirty="0">
                <a:solidFill>
                  <a:srgbClr val="FF0000"/>
                </a:solidFill>
              </a:rPr>
              <a:t>    </a:t>
            </a:r>
            <a:r>
              <a:rPr lang="en-US" altLang="zh-TW" sz="2400" dirty="0"/>
              <a:t>and </a:t>
            </a:r>
            <a:r>
              <a:rPr lang="en-US" altLang="zh-TW" sz="2400" b="1" dirty="0">
                <a:solidFill>
                  <a:srgbClr val="FFC000"/>
                </a:solidFill>
              </a:rPr>
              <a:t>yellow</a:t>
            </a:r>
            <a:r>
              <a:rPr lang="en-US" altLang="zh-TW" sz="2400" dirty="0"/>
              <a:t> line).</a:t>
            </a:r>
            <a:endParaRPr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BFD611-6086-5FCC-D865-514CF06A445C}"/>
              </a:ext>
            </a:extLst>
          </p:cNvPr>
          <p:cNvSpPr/>
          <p:nvPr/>
        </p:nvSpPr>
        <p:spPr>
          <a:xfrm>
            <a:off x="0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Periodicity</a:t>
            </a:r>
            <a:endParaRPr lang="zh-TW" altLang="en-US" sz="32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2A5F419-2385-62EB-5857-FC3C8455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76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CCB4F99-AEA9-5862-835E-A711C773AAC4}"/>
              </a:ext>
            </a:extLst>
          </p:cNvPr>
          <p:cNvSpPr/>
          <p:nvPr/>
        </p:nvSpPr>
        <p:spPr>
          <a:xfrm>
            <a:off x="0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Periodic models</a:t>
            </a:r>
            <a:endParaRPr lang="zh-TW" altLang="en-US" sz="3200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7D84EA88-7E74-2957-E943-D304BD43BEED}"/>
              </a:ext>
            </a:extLst>
          </p:cNvPr>
          <p:cNvGrpSpPr/>
          <p:nvPr/>
        </p:nvGrpSpPr>
        <p:grpSpPr>
          <a:xfrm>
            <a:off x="1084167" y="1307154"/>
            <a:ext cx="2973590" cy="2554345"/>
            <a:chOff x="1301996" y="1381125"/>
            <a:chExt cx="2666342" cy="2331771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F33B4007-982D-E9AB-7D45-9F5E30E1D8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970" r="7365" b="1033"/>
            <a:stretch/>
          </p:blipFill>
          <p:spPr>
            <a:xfrm>
              <a:off x="1301996" y="1381125"/>
              <a:ext cx="2666342" cy="2026723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725F9351-6AFA-B77A-08F2-C3D20F8F1FB1}"/>
                </a:ext>
              </a:extLst>
            </p:cNvPr>
            <p:cNvSpPr txBox="1"/>
            <p:nvPr/>
          </p:nvSpPr>
          <p:spPr>
            <a:xfrm>
              <a:off x="2185882" y="3343564"/>
              <a:ext cx="951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Figure.2</a:t>
              </a:r>
              <a:endParaRPr lang="zh-TW" altLang="en-US" b="1" dirty="0"/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0B3AB009-E208-B812-9A7A-797E5FF76251}"/>
              </a:ext>
            </a:extLst>
          </p:cNvPr>
          <p:cNvGrpSpPr/>
          <p:nvPr/>
        </p:nvGrpSpPr>
        <p:grpSpPr>
          <a:xfrm>
            <a:off x="1084167" y="3861499"/>
            <a:ext cx="2850004" cy="2713473"/>
            <a:chOff x="5000625" y="2409825"/>
            <a:chExt cx="2190750" cy="2298000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97038FBA-A702-568D-D1EF-6706B806C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0625" y="2409825"/>
              <a:ext cx="2190750" cy="2038350"/>
            </a:xfrm>
            <a:prstGeom prst="rect">
              <a:avLst/>
            </a:prstGeom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F22812C-60E3-7111-C2F7-D6020A8F7FD5}"/>
                </a:ext>
              </a:extLst>
            </p:cNvPr>
            <p:cNvSpPr txBox="1"/>
            <p:nvPr/>
          </p:nvSpPr>
          <p:spPr>
            <a:xfrm>
              <a:off x="5620228" y="4338493"/>
              <a:ext cx="951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/>
                <a:t>Figure.2</a:t>
              </a:r>
              <a:endParaRPr lang="zh-TW" altLang="en-US" b="1" dirty="0"/>
            </a:p>
          </p:txBody>
        </p:sp>
      </p:grp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F0D2C7A-2F9F-FADE-B1C5-CA1A63EB16F1}"/>
              </a:ext>
            </a:extLst>
          </p:cNvPr>
          <p:cNvSpPr txBox="1"/>
          <p:nvPr/>
        </p:nvSpPr>
        <p:spPr>
          <a:xfrm>
            <a:off x="5207110" y="1611165"/>
            <a:ext cx="610144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Figure 2: </a:t>
            </a:r>
            <a:r>
              <a:rPr lang="en-US" altLang="zh-TW" sz="2800" b="1" dirty="0">
                <a:solidFill>
                  <a:schemeClr val="accent5">
                    <a:lumMod val="75000"/>
                  </a:schemeClr>
                </a:solidFill>
              </a:rPr>
              <a:t>Graphical models for periodic modeling</a:t>
            </a:r>
            <a:r>
              <a:rPr lang="en-US" altLang="zh-TW" sz="2400" dirty="0"/>
              <a:t>, where </a:t>
            </a:r>
            <a:r>
              <a:rPr lang="en-US" altLang="zh-TW" sz="2400" b="1" dirty="0"/>
              <a:t>X</a:t>
            </a:r>
            <a:r>
              <a:rPr lang="en-US" altLang="zh-TW" sz="2400" dirty="0"/>
              <a:t> and </a:t>
            </a:r>
            <a:r>
              <a:rPr lang="en-US" altLang="zh-TW" sz="2400" b="1" dirty="0"/>
              <a:t>Yˆ</a:t>
            </a:r>
            <a:r>
              <a:rPr lang="en-US" altLang="zh-TW" sz="2400" dirty="0"/>
              <a:t> represent the </a:t>
            </a:r>
            <a:r>
              <a:rPr lang="en-US" altLang="zh-TW" sz="2400" b="1" dirty="0"/>
              <a:t>current segment </a:t>
            </a:r>
            <a:r>
              <a:rPr lang="en-US" altLang="zh-TW" sz="2400" dirty="0"/>
              <a:t>and the </a:t>
            </a:r>
            <a:r>
              <a:rPr lang="en-US" altLang="zh-TW" sz="2400" b="1" dirty="0"/>
              <a:t>target segment</a:t>
            </a:r>
            <a:r>
              <a:rPr lang="en-US" altLang="zh-TW" sz="2400" dirty="0"/>
              <a:t>, respectively.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Y</a:t>
            </a:r>
            <a:r>
              <a:rPr lang="zh-TW" altLang="en-US" sz="2400" b="1" dirty="0"/>
              <a:t>𝑑 </a:t>
            </a:r>
            <a:r>
              <a:rPr lang="en-US" altLang="zh-TW" sz="2400" dirty="0"/>
              <a:t>and </a:t>
            </a:r>
            <a:r>
              <a:rPr lang="en-US" altLang="zh-TW" sz="2400" b="1" dirty="0"/>
              <a:t>Y</a:t>
            </a:r>
            <a:r>
              <a:rPr lang="zh-TW" altLang="en-US" sz="2400" b="1" dirty="0"/>
              <a:t>𝑤 </a:t>
            </a:r>
            <a:r>
              <a:rPr lang="en-US" altLang="zh-TW" sz="2400" dirty="0"/>
              <a:t>denote segments for the </a:t>
            </a:r>
            <a:r>
              <a:rPr lang="en-US" altLang="zh-TW" sz="2400" b="1" dirty="0"/>
              <a:t>daily scale</a:t>
            </a:r>
            <a:r>
              <a:rPr lang="en-US" altLang="zh-TW" sz="2400" dirty="0"/>
              <a:t> and the </a:t>
            </a:r>
            <a:r>
              <a:rPr lang="en-US" altLang="zh-TW" sz="2400" b="1" dirty="0"/>
              <a:t>weekly scale</a:t>
            </a:r>
            <a:r>
              <a:rPr lang="en-US" altLang="zh-TW" sz="2400" dirty="0"/>
              <a:t>, respectively.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dirty="0"/>
              <a:t>solid line </a:t>
            </a:r>
            <a:r>
              <a:rPr lang="en-US" altLang="zh-TW" sz="2400" dirty="0"/>
              <a:t>indicates the </a:t>
            </a:r>
            <a:r>
              <a:rPr lang="en-US" altLang="zh-TW" sz="2400" b="1" dirty="0"/>
              <a:t>direct relationship</a:t>
            </a:r>
            <a:r>
              <a:rPr lang="en-US" altLang="zh-TW" sz="2400" dirty="0"/>
              <a:t>, and the </a:t>
            </a:r>
            <a:r>
              <a:rPr lang="en-US" altLang="zh-TW" sz="2400" b="1" dirty="0"/>
              <a:t>dashed line </a:t>
            </a:r>
            <a:r>
              <a:rPr lang="en-US" altLang="zh-TW" sz="2400" dirty="0"/>
              <a:t>denotes the </a:t>
            </a:r>
            <a:r>
              <a:rPr lang="en-US" altLang="zh-TW" sz="2400" b="1" dirty="0"/>
              <a:t>indirect relationship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35EFDDF-44BE-AD52-2728-ECF4D33E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018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409EAD0-4F44-07CE-C143-38EA9B759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0" y="1086722"/>
            <a:ext cx="6248400" cy="49815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79F3788-36C7-DCF4-0E36-6161CEFA5190}"/>
              </a:ext>
            </a:extLst>
          </p:cNvPr>
          <p:cNvSpPr txBox="1"/>
          <p:nvPr/>
        </p:nvSpPr>
        <p:spPr>
          <a:xfrm>
            <a:off x="6853966" y="1086722"/>
            <a:ext cx="49593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As shown in </a:t>
            </a:r>
            <a:r>
              <a:rPr lang="en-US" altLang="zh-TW" sz="2400" b="1" dirty="0"/>
              <a:t>Fig. 3 (a), </a:t>
            </a:r>
            <a:r>
              <a:rPr lang="en-US" altLang="zh-TW" sz="2400" dirty="0"/>
              <a:t>the </a:t>
            </a: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feature-based models </a:t>
            </a:r>
            <a:r>
              <a:rPr lang="en-US" altLang="zh-TW" sz="2400" dirty="0"/>
              <a:t>view the multi-scale observations as different </a:t>
            </a:r>
            <a:r>
              <a:rPr lang="en-US" altLang="zh-TW" sz="2400" b="1" dirty="0"/>
              <a:t>features</a:t>
            </a:r>
            <a:r>
              <a:rPr lang="en-US" altLang="zh-TW" sz="2400" dirty="0"/>
              <a:t> and concatenate them as a tensor for the network to process.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However, the periodic information is mixed in the early stage, while being </a:t>
            </a:r>
            <a:r>
              <a:rPr lang="en-US" altLang="zh-TW" sz="2400" b="1" dirty="0"/>
              <a:t>eliminated</a:t>
            </a:r>
            <a:r>
              <a:rPr lang="en-US" altLang="zh-TW" sz="2400" dirty="0"/>
              <a:t> as the </a:t>
            </a:r>
            <a:r>
              <a:rPr lang="en-US" altLang="zh-TW" sz="2400" b="1" dirty="0"/>
              <a:t>network depth increases</a:t>
            </a:r>
            <a:r>
              <a:rPr lang="en-US" altLang="zh-TW" sz="2400" dirty="0"/>
              <a:t>. To tackle this issue, the </a:t>
            </a: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architecture-based models </a:t>
            </a:r>
            <a:r>
              <a:rPr lang="en-US" altLang="zh-TW" sz="2400" dirty="0"/>
              <a:t>represent the periodicity more naturally via some extra </a:t>
            </a:r>
            <a:r>
              <a:rPr lang="en-US" altLang="zh-TW" sz="2400" b="1" dirty="0"/>
              <a:t>periodic strategies </a:t>
            </a:r>
            <a:r>
              <a:rPr lang="en-US" altLang="zh-TW" sz="2400" dirty="0"/>
              <a:t>(see </a:t>
            </a:r>
            <a:r>
              <a:rPr lang="en-US" altLang="zh-TW" sz="2400" b="1" dirty="0"/>
              <a:t>Fig. 3 (b)</a:t>
            </a:r>
            <a:r>
              <a:rPr lang="en-US" altLang="zh-TW" sz="2400" dirty="0"/>
              <a:t>).</a:t>
            </a:r>
            <a:endParaRPr lang="zh-TW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0C4D58-8087-2725-895D-821EC2028B6C}"/>
              </a:ext>
            </a:extLst>
          </p:cNvPr>
          <p:cNvSpPr/>
          <p:nvPr/>
        </p:nvSpPr>
        <p:spPr>
          <a:xfrm>
            <a:off x="0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Model representation </a:t>
            </a:r>
            <a:endParaRPr lang="zh-TW" altLang="en-US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8D676ED-C798-6C78-4D7E-379CD0C7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56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EAC5717-24BD-D520-5634-8D57148CF96E}"/>
              </a:ext>
            </a:extLst>
          </p:cNvPr>
          <p:cNvSpPr txBox="1"/>
          <p:nvPr/>
        </p:nvSpPr>
        <p:spPr>
          <a:xfrm>
            <a:off x="416711" y="1489190"/>
            <a:ext cx="111324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 err="1">
                <a:solidFill>
                  <a:schemeClr val="accent5">
                    <a:lumMod val="75000"/>
                  </a:schemeClr>
                </a:solidFill>
              </a:rPr>
              <a:t>DeepST</a:t>
            </a: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zh-TW" sz="2400" dirty="0"/>
              <a:t> introduces different branches to capture the periodicity.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Periodic-CRN</a:t>
            </a:r>
            <a:r>
              <a:rPr lang="en-US" altLang="zh-TW" sz="2400" dirty="0"/>
              <a:t>  designs a loop-back mechanism to integrate the recurrent periodic representations.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STDN </a:t>
            </a:r>
            <a:r>
              <a:rPr lang="en-US" altLang="zh-TW" sz="2400" dirty="0"/>
              <a:t>utilizes the attention mechanism to calculate the similarity of ST representations between multi-scale segments.</a:t>
            </a:r>
            <a:endParaRPr lang="zh-TW" altLang="en-US" sz="2400" dirty="0"/>
          </a:p>
          <a:p>
            <a:endParaRPr lang="zh-TW" altLang="en-US" sz="2400" dirty="0"/>
          </a:p>
          <a:p>
            <a:endParaRPr lang="zh-TW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C0279-07B2-12F3-8ADD-E3A29A4D3A15}"/>
              </a:ext>
            </a:extLst>
          </p:cNvPr>
          <p:cNvSpPr/>
          <p:nvPr/>
        </p:nvSpPr>
        <p:spPr>
          <a:xfrm>
            <a:off x="0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Model Comparison</a:t>
            </a:r>
            <a:endParaRPr lang="zh-TW" altLang="en-US" sz="32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494557-876E-D943-E001-8E2AE34FD140}"/>
              </a:ext>
            </a:extLst>
          </p:cNvPr>
          <p:cNvSpPr/>
          <p:nvPr/>
        </p:nvSpPr>
        <p:spPr>
          <a:xfrm>
            <a:off x="3171417" y="4324343"/>
            <a:ext cx="58491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TW" sz="5400" b="1" dirty="0">
                <a:ln/>
                <a:solidFill>
                  <a:srgbClr val="FF0000"/>
                </a:solidFill>
              </a:rPr>
              <a:t>High computational</a:t>
            </a:r>
            <a:endParaRPr lang="zh-TW" altLang="en-US" sz="5400" b="1" dirty="0">
              <a:ln/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81F446-34FC-700E-3F20-E1FB19E57BE2}"/>
              </a:ext>
            </a:extLst>
          </p:cNvPr>
          <p:cNvSpPr/>
          <p:nvPr/>
        </p:nvSpPr>
        <p:spPr>
          <a:xfrm>
            <a:off x="3547448" y="5247673"/>
            <a:ext cx="50971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TW" sz="5400" b="1" dirty="0">
                <a:solidFill>
                  <a:srgbClr val="FF0000"/>
                </a:solidFill>
              </a:rPr>
              <a:t>Extra parameters</a:t>
            </a:r>
            <a:endParaRPr lang="zh-TW" altLang="en-US" sz="5400" b="1" dirty="0">
              <a:ln/>
              <a:solidFill>
                <a:srgbClr val="FF0000"/>
              </a:solidFill>
            </a:endParaRPr>
          </a:p>
        </p:txBody>
      </p:sp>
      <p:pic>
        <p:nvPicPr>
          <p:cNvPr id="18" name="圖形 17" descr="關閉 以實心填滿">
            <a:extLst>
              <a:ext uri="{FF2B5EF4-FFF2-40B4-BE49-F238E27FC236}">
                <a16:creationId xmlns:a16="http://schemas.microsoft.com/office/drawing/2014/main" id="{2624CD93-02FC-62D6-9510-33C3EF38CE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3" y="1489190"/>
            <a:ext cx="501073" cy="501073"/>
          </a:xfrm>
          <a:prstGeom prst="rect">
            <a:avLst/>
          </a:prstGeom>
        </p:spPr>
      </p:pic>
      <p:pic>
        <p:nvPicPr>
          <p:cNvPr id="32" name="圖形 31" descr="關閉 以實心填滿">
            <a:extLst>
              <a:ext uri="{FF2B5EF4-FFF2-40B4-BE49-F238E27FC236}">
                <a16:creationId xmlns:a16="http://schemas.microsoft.com/office/drawing/2014/main" id="{8BE34A67-28C6-F5A8-3B56-21BAF6291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2" y="2194250"/>
            <a:ext cx="501073" cy="501073"/>
          </a:xfrm>
          <a:prstGeom prst="rect">
            <a:avLst/>
          </a:prstGeom>
        </p:spPr>
      </p:pic>
      <p:pic>
        <p:nvPicPr>
          <p:cNvPr id="33" name="圖形 32" descr="關閉 以實心填滿">
            <a:extLst>
              <a:ext uri="{FF2B5EF4-FFF2-40B4-BE49-F238E27FC236}">
                <a16:creationId xmlns:a16="http://schemas.microsoft.com/office/drawing/2014/main" id="{D63C0C1F-F819-40A4-D1B9-E66EAF783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2" y="3295912"/>
            <a:ext cx="501073" cy="50107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BB9A598-F55F-C0DC-836D-AC1AB7A5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792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方塊 10">
            <a:extLst>
              <a:ext uri="{FF2B5EF4-FFF2-40B4-BE49-F238E27FC236}">
                <a16:creationId xmlns:a16="http://schemas.microsoft.com/office/drawing/2014/main" id="{AB55C3FD-B445-5E35-C801-2DCCE8326DAB}"/>
              </a:ext>
            </a:extLst>
          </p:cNvPr>
          <p:cNvSpPr txBox="1"/>
          <p:nvPr/>
        </p:nvSpPr>
        <p:spPr>
          <a:xfrm>
            <a:off x="412159" y="1237674"/>
            <a:ext cx="1136767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first investigate the inherent periodic behavior of crowd data:</a:t>
            </a:r>
          </a:p>
          <a:p>
            <a:endParaRPr lang="en-US" altLang="zh-TW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TW" sz="2400" dirty="0"/>
              <a:t>As shown in </a:t>
            </a:r>
            <a:r>
              <a:rPr lang="en-US" altLang="zh-TW" sz="2400" b="1" dirty="0"/>
              <a:t>Fig. 1</a:t>
            </a:r>
            <a:r>
              <a:rPr lang="en-US" altLang="zh-TW" sz="2400" dirty="0"/>
              <a:t>, though the daily crowd flow often fluctuates, the volume difference of a </a:t>
            </a:r>
            <a:r>
              <a:rPr lang="en-US" altLang="zh-TW" sz="2400" b="1" dirty="0"/>
              <a:t>certain region </a:t>
            </a:r>
            <a:r>
              <a:rPr lang="en-US" altLang="zh-TW" sz="2400" dirty="0"/>
              <a:t>at the </a:t>
            </a:r>
            <a:r>
              <a:rPr lang="en-US" altLang="zh-TW" sz="2400" b="1" dirty="0"/>
              <a:t>same time</a:t>
            </a:r>
            <a:r>
              <a:rPr lang="en-US" altLang="zh-TW" sz="2400" dirty="0"/>
              <a:t> in </a:t>
            </a:r>
            <a:r>
              <a:rPr lang="en-US" altLang="zh-TW" sz="2400" b="1" dirty="0"/>
              <a:t>successive</a:t>
            </a:r>
            <a:r>
              <a:rPr lang="en-US" altLang="zh-TW" sz="2400" dirty="0"/>
              <a:t> </a:t>
            </a:r>
            <a:r>
              <a:rPr lang="en-US" altLang="zh-TW" sz="2400" b="1" dirty="0"/>
              <a:t>weeks</a:t>
            </a:r>
            <a:r>
              <a:rPr lang="en-US" altLang="zh-TW" sz="2400" dirty="0"/>
              <a:t> (we term it as </a:t>
            </a:r>
            <a:r>
              <a:rPr lang="en-US" altLang="zh-TW" sz="3200" b="1" dirty="0">
                <a:solidFill>
                  <a:schemeClr val="accent5">
                    <a:lumMod val="75000"/>
                  </a:schemeClr>
                </a:solidFill>
              </a:rPr>
              <a:t>periodic residual</a:t>
            </a:r>
            <a:r>
              <a:rPr lang="en-US" altLang="zh-TW" sz="2400" dirty="0"/>
              <a:t>) tends to be stable even in long-term trends (see the </a:t>
            </a:r>
            <a:r>
              <a:rPr lang="en-US" altLang="zh-TW" sz="2400" b="1" dirty="0">
                <a:solidFill>
                  <a:srgbClr val="00B050"/>
                </a:solidFill>
              </a:rPr>
              <a:t>green</a:t>
            </a:r>
            <a:r>
              <a:rPr lang="en-US" altLang="zh-TW" sz="2400" dirty="0"/>
              <a:t> line).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altLang="zh-TW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altLang="zh-TW" sz="2400" dirty="0"/>
              <a:t>As </a:t>
            </a:r>
            <a:r>
              <a:rPr lang="en-US" altLang="zh-TW" sz="2400" b="1" dirty="0"/>
              <a:t>opposed</a:t>
            </a:r>
            <a:r>
              <a:rPr lang="en-US" altLang="zh-TW" sz="2400" dirty="0"/>
              <a:t> to raw crowd flow data, </a:t>
            </a: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periodic residual </a:t>
            </a:r>
            <a:r>
              <a:rPr lang="en-US" altLang="zh-TW" sz="2400" dirty="0"/>
              <a:t>holds clearer patterns that are </a:t>
            </a:r>
            <a:r>
              <a:rPr lang="en-US" altLang="zh-TW" sz="2400" b="1" dirty="0"/>
              <a:t>easier to learn </a:t>
            </a:r>
            <a:r>
              <a:rPr lang="en-US" altLang="zh-TW" sz="2400" dirty="0"/>
              <a:t>and  can help to </a:t>
            </a:r>
            <a:r>
              <a:rPr lang="en-US" altLang="zh-TW" sz="2400" b="1" dirty="0"/>
              <a:t>reduce</a:t>
            </a:r>
            <a:r>
              <a:rPr lang="en-US" altLang="zh-TW" sz="2400" dirty="0"/>
              <a:t> the difficulties in </a:t>
            </a:r>
            <a:r>
              <a:rPr lang="en-US" altLang="zh-TW" sz="2400" b="1" dirty="0"/>
              <a:t>modeling complex </a:t>
            </a:r>
            <a:r>
              <a:rPr lang="en-US" altLang="zh-TW" sz="2400" dirty="0"/>
              <a:t>crowd flow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0DB999-BDB4-61A3-B94C-F413545931EA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Solution</a:t>
            </a:r>
            <a:endParaRPr lang="zh-TW" altLang="en-US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A2BEDEB-9777-D053-190F-CC0380AD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938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661D990-CCFE-3FDF-5E1A-009F14F5F843}"/>
              </a:ext>
            </a:extLst>
          </p:cNvPr>
          <p:cNvSpPr txBox="1"/>
          <p:nvPr/>
        </p:nvSpPr>
        <p:spPr>
          <a:xfrm>
            <a:off x="1200725" y="1441772"/>
            <a:ext cx="94580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present a </a:t>
            </a:r>
            <a:r>
              <a:rPr lang="en-US" altLang="zh-TW" sz="2400" b="1" dirty="0"/>
              <a:t>novel architecture-based framework </a:t>
            </a:r>
            <a:r>
              <a:rPr lang="en-US" altLang="zh-TW" sz="2400" dirty="0"/>
              <a:t>entitled </a:t>
            </a:r>
            <a:r>
              <a:rPr lang="en-US" altLang="zh-TW" sz="2400" b="1" dirty="0">
                <a:solidFill>
                  <a:schemeClr val="accent5">
                    <a:lumMod val="75000"/>
                  </a:schemeClr>
                </a:solidFill>
              </a:rPr>
              <a:t>Periodic Residual Network </a:t>
            </a:r>
            <a:r>
              <a:rPr lang="en-US" altLang="zh-TW" sz="2400" b="1" dirty="0"/>
              <a:t>(</a:t>
            </a:r>
            <a:r>
              <a:rPr lang="en-US" altLang="zh-TW" sz="2400" b="1" dirty="0" err="1"/>
              <a:t>PRNet</a:t>
            </a:r>
            <a:r>
              <a:rPr lang="en-US" altLang="zh-TW" sz="2400" b="1" dirty="0"/>
              <a:t>) </a:t>
            </a:r>
            <a:r>
              <a:rPr lang="en-US" altLang="zh-TW" sz="2400" dirty="0"/>
              <a:t>for multi-step ahead crowd flow forecasting: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lvl="1"/>
            <a:r>
              <a:rPr lang="en-US" altLang="zh-TW" sz="2400" dirty="0"/>
              <a:t>	-  Instead of designing complex ST extraction models or 	sophisticated periodic strategies, </a:t>
            </a:r>
            <a:r>
              <a:rPr lang="en-US" altLang="zh-TW" sz="2400" b="1" dirty="0" err="1">
                <a:solidFill>
                  <a:schemeClr val="accent4">
                    <a:lumMod val="75000"/>
                  </a:schemeClr>
                </a:solidFill>
              </a:rPr>
              <a:t>PRNet</a:t>
            </a:r>
            <a:r>
              <a:rPr lang="en-US" altLang="zh-TW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zh-TW" sz="2400" dirty="0"/>
              <a:t>focuses on </a:t>
            </a:r>
            <a:r>
              <a:rPr lang="en-US" altLang="zh-TW" sz="2400" b="1" dirty="0"/>
              <a:t>learning 	periodic residuals</a:t>
            </a:r>
            <a:r>
              <a:rPr lang="en-US" altLang="zh-TW" sz="2400" dirty="0"/>
              <a:t>. </a:t>
            </a:r>
          </a:p>
          <a:p>
            <a:endParaRPr lang="en-US" altLang="zh-TW" sz="2400" dirty="0"/>
          </a:p>
          <a:p>
            <a:pPr lvl="1"/>
            <a:r>
              <a:rPr lang="en-US" altLang="zh-TW" sz="2400" dirty="0"/>
              <a:t>	-  As depicted in Fig. 2 (b),</a:t>
            </a:r>
            <a:r>
              <a:rPr lang="en-US" altLang="zh-TW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zh-TW" sz="2400" b="1" dirty="0" err="1">
                <a:solidFill>
                  <a:schemeClr val="accent4">
                    <a:lumMod val="75000"/>
                  </a:schemeClr>
                </a:solidFill>
              </a:rPr>
              <a:t>PRNet</a:t>
            </a:r>
            <a:r>
              <a:rPr lang="en-US" altLang="zh-TW" sz="24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zh-TW" sz="2400" dirty="0"/>
              <a:t>converts the learning focus from 	directly generating predictions to </a:t>
            </a:r>
            <a:r>
              <a:rPr lang="en-US" altLang="zh-TW" sz="2400" b="1" dirty="0"/>
              <a:t>computing the periodic residual</a:t>
            </a:r>
            <a:r>
              <a:rPr lang="en-US" altLang="zh-TW" sz="2400" dirty="0"/>
              <a:t>.</a:t>
            </a:r>
            <a:endParaRPr lang="zh-TW" altLang="en-US" sz="2400" dirty="0"/>
          </a:p>
          <a:p>
            <a:endParaRPr lang="en-US" altLang="zh-TW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7B9949-13AB-EED6-176C-82DAD32FE70E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PRNET   </a:t>
            </a:r>
            <a:endParaRPr lang="zh-TW" altLang="en-US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4E589C-306C-17BA-2C4A-520CD3CC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125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F90F17-557B-8DB0-3A6F-E4A1DB1D4944}"/>
              </a:ext>
            </a:extLst>
          </p:cNvPr>
          <p:cNvSpPr txBox="1"/>
          <p:nvPr/>
        </p:nvSpPr>
        <p:spPr>
          <a:xfrm>
            <a:off x="1850749" y="2828835"/>
            <a:ext cx="8490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200" b="1" dirty="0">
                <a:latin typeface="Century" panose="02040604050505020304" pitchFamily="18" charset="0"/>
              </a:rPr>
              <a:t>FORMULATION</a:t>
            </a:r>
            <a:endParaRPr lang="zh-TW" altLang="en-US" sz="36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35BCBFB-5D77-1C9D-3B4E-7C829E74E0E9}"/>
              </a:ext>
            </a:extLst>
          </p:cNvPr>
          <p:cNvSpPr txBox="1"/>
          <p:nvPr/>
        </p:nvSpPr>
        <p:spPr>
          <a:xfrm>
            <a:off x="4821901" y="4029164"/>
            <a:ext cx="2548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Definition1 ~ Definition 5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44E8300-9ED1-9744-F235-4A878427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4465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81D8E35-B1A9-E61A-54E0-9BF0B55683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0675"/>
          <a:stretch/>
        </p:blipFill>
        <p:spPr>
          <a:xfrm>
            <a:off x="-1" y="1953091"/>
            <a:ext cx="12192000" cy="230025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2FE617E-0E82-7BCA-C4D8-66F78C16D1F7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Notations   </a:t>
            </a:r>
            <a:endParaRPr lang="zh-TW" altLang="en-US" sz="32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7E1293-D8B6-2A84-BC1D-0D7E030DB6A1}"/>
              </a:ext>
            </a:extLst>
          </p:cNvPr>
          <p:cNvSpPr txBox="1"/>
          <p:nvPr/>
        </p:nvSpPr>
        <p:spPr>
          <a:xfrm>
            <a:off x="393697" y="4253346"/>
            <a:ext cx="11798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Table 1: The </a:t>
            </a:r>
            <a:r>
              <a:rPr lang="en-US" altLang="zh-TW" sz="2400" b="1" dirty="0"/>
              <a:t>notations</a:t>
            </a:r>
            <a:r>
              <a:rPr lang="en-US" altLang="zh-TW" sz="2400" dirty="0"/>
              <a:t> of </a:t>
            </a:r>
            <a:r>
              <a:rPr lang="en-US" altLang="zh-TW" sz="2400" b="1" dirty="0"/>
              <a:t>crowd flow</a:t>
            </a:r>
            <a:r>
              <a:rPr lang="en-US" altLang="zh-TW" sz="2400" dirty="0"/>
              <a:t>, where </a:t>
            </a:r>
            <a:r>
              <a:rPr lang="zh-TW" altLang="en-US" sz="2400" dirty="0"/>
              <a:t>𝑃 </a:t>
            </a:r>
            <a:r>
              <a:rPr lang="en-US" altLang="zh-TW" sz="2400" dirty="0"/>
              <a:t>refers to the total number of selected periods and </a:t>
            </a:r>
            <a:r>
              <a:rPr lang="zh-TW" altLang="en-US" sz="2400" dirty="0"/>
              <a:t>𝑝 </a:t>
            </a:r>
            <a:r>
              <a:rPr lang="en-US" altLang="zh-TW" sz="2400" dirty="0"/>
              <a:t>is the periodic index. </a:t>
            </a:r>
            <a:endParaRPr lang="zh-TW" altLang="en-US" sz="24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A29A6B9-4DC6-A593-6994-8B3F3A34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7788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0BA93E0-3958-6DBF-1B7F-B2697591F1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479"/>
          <a:stretch/>
        </p:blipFill>
        <p:spPr>
          <a:xfrm>
            <a:off x="1199684" y="1311016"/>
            <a:ext cx="9792630" cy="1397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2FE617E-0E82-7BCA-C4D8-66F78C16D1F7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Definition(1,2)   </a:t>
            </a:r>
            <a:endParaRPr lang="zh-TW" altLang="en-US" sz="3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FFE806E-EC5A-2BDA-A3ED-2E0F50DDA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848" y="2614891"/>
            <a:ext cx="10606806" cy="2932093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C86AC1-4AAD-DAE8-9540-22BE5892D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9975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4A30689-A1C2-FE02-8590-BB9A3521DF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476"/>
          <a:stretch/>
        </p:blipFill>
        <p:spPr>
          <a:xfrm>
            <a:off x="349498" y="1184780"/>
            <a:ext cx="7970516" cy="186835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CC31794-CA54-680E-3A36-B94EAF8E2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864" y="4064791"/>
            <a:ext cx="9479568" cy="251057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2DAFF70-0F0A-D236-D58D-E4FAD7745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784" y="2626912"/>
            <a:ext cx="4752312" cy="143787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85CF400-0549-0E42-669F-C5BE6DEA2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568" y="4064791"/>
            <a:ext cx="6143625" cy="89535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1E4E635-7997-A6E6-3E2C-EE06E719F4B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Definition(3)   </a:t>
            </a:r>
            <a:endParaRPr lang="zh-TW" altLang="en-US" sz="32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4A03E4-CB3E-3935-97FD-D784286D8712}"/>
              </a:ext>
            </a:extLst>
          </p:cNvPr>
          <p:cNvSpPr txBox="1"/>
          <p:nvPr/>
        </p:nvSpPr>
        <p:spPr>
          <a:xfrm>
            <a:off x="5629695" y="623617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Fig.4</a:t>
            </a: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7D3211-308D-3FDB-A816-6022D5E1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2291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C39000B-0FDA-5A5A-BBC2-50DA90D21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609" y="3739331"/>
            <a:ext cx="9770335" cy="258757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104BA5B4-C797-64C7-6BA7-0707CEDA63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9141"/>
          <a:stretch/>
        </p:blipFill>
        <p:spPr>
          <a:xfrm>
            <a:off x="182717" y="1195563"/>
            <a:ext cx="8718006" cy="134469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F5E8BD7-E638-820F-A717-8751EA9F7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607" y="2523947"/>
            <a:ext cx="4831531" cy="14437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B155825-7760-73AD-71CD-56AABEB31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607" y="3868640"/>
            <a:ext cx="6397170" cy="57656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8933EB9-55B0-03FA-DB1C-B5DD24B84603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Definition(4) </a:t>
            </a:r>
            <a:endParaRPr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FF2999-52FA-29F9-B1D2-0452951F9D6C}"/>
              </a:ext>
            </a:extLst>
          </p:cNvPr>
          <p:cNvSpPr txBox="1"/>
          <p:nvPr/>
        </p:nvSpPr>
        <p:spPr>
          <a:xfrm>
            <a:off x="5601986" y="603055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Fig.4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AE9462-31D4-1601-404F-05062E4B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994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F43C5E4A-51ED-FA7A-B3CE-265105E8D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270" y="3429000"/>
            <a:ext cx="10520396" cy="278622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611935C-1320-ED5B-856E-F743255FE8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4528"/>
          <a:stretch/>
        </p:blipFill>
        <p:spPr>
          <a:xfrm>
            <a:off x="262625" y="1293138"/>
            <a:ext cx="9223293" cy="134079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A3421E3-15E1-9738-8571-47D964226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74" y="2716127"/>
            <a:ext cx="5330560" cy="140829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4F3F76F-577C-A875-028C-AB4BFF399F3A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Definition(5) </a:t>
            </a:r>
            <a:endParaRPr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22547D0-0989-A6C7-4420-BFEB9A93DCB0}"/>
              </a:ext>
            </a:extLst>
          </p:cNvPr>
          <p:cNvSpPr txBox="1"/>
          <p:nvPr/>
        </p:nvSpPr>
        <p:spPr>
          <a:xfrm>
            <a:off x="5601986" y="603055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Fig.4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7125C88-3407-6B51-AF8A-1A199F0C3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883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F90F17-557B-8DB0-3A6F-E4A1DB1D4944}"/>
              </a:ext>
            </a:extLst>
          </p:cNvPr>
          <p:cNvSpPr txBox="1"/>
          <p:nvPr/>
        </p:nvSpPr>
        <p:spPr>
          <a:xfrm>
            <a:off x="1850749" y="2828835"/>
            <a:ext cx="8490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200" b="1" dirty="0">
                <a:latin typeface="Century" panose="02040604050505020304" pitchFamily="18" charset="0"/>
              </a:rPr>
              <a:t>ARCHITECTURE</a:t>
            </a:r>
            <a:endParaRPr lang="zh-TW" altLang="en-US" sz="36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35BCBFB-5D77-1C9D-3B4E-7C829E74E0E9}"/>
              </a:ext>
            </a:extLst>
          </p:cNvPr>
          <p:cNvSpPr txBox="1"/>
          <p:nvPr/>
        </p:nvSpPr>
        <p:spPr>
          <a:xfrm>
            <a:off x="4565068" y="4029164"/>
            <a:ext cx="306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PERIODIC RESIDUAL LEARNING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00C5F1B-C3CE-DFF1-147F-083D42A7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7418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44BBF86-8641-894E-97D6-28031F514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52434"/>
            <a:ext cx="12192000" cy="48267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92B3CBB-FDAD-FE5F-F0BD-81FB12FE9E0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Overview </a:t>
            </a:r>
            <a:endParaRPr lang="zh-TW" altLang="en-US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0E5E252-B8F3-A23F-CDA4-78B1B108B51C}"/>
              </a:ext>
            </a:extLst>
          </p:cNvPr>
          <p:cNvSpPr txBox="1"/>
          <p:nvPr/>
        </p:nvSpPr>
        <p:spPr>
          <a:xfrm>
            <a:off x="190499" y="5534561"/>
            <a:ext cx="11811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/>
              <a:t>Figure 5: The overview of </a:t>
            </a:r>
            <a:r>
              <a:rPr lang="en-US" altLang="zh-TW" sz="2000" b="1" dirty="0" err="1">
                <a:solidFill>
                  <a:schemeClr val="accent4">
                    <a:lumMod val="75000"/>
                  </a:schemeClr>
                </a:solidFill>
              </a:rPr>
              <a:t>PRNet</a:t>
            </a:r>
            <a:r>
              <a:rPr lang="en-US" altLang="zh-TW" sz="2000" dirty="0"/>
              <a:t>, where </a:t>
            </a:r>
            <a:r>
              <a:rPr lang="en-US" altLang="zh-TW" sz="2000" b="1" dirty="0"/>
              <a:t>ST Module </a:t>
            </a:r>
            <a:r>
              <a:rPr lang="en-US" altLang="zh-TW" sz="2000" dirty="0"/>
              <a:t>captures the </a:t>
            </a:r>
            <a:r>
              <a:rPr lang="en-US" altLang="zh-TW" sz="2000" b="1" dirty="0"/>
              <a:t>ST correlations </a:t>
            </a:r>
            <a:r>
              <a:rPr lang="en-US" altLang="zh-TW" sz="2000" dirty="0"/>
              <a:t>of each observed </a:t>
            </a:r>
            <a:r>
              <a:rPr lang="en-US" altLang="zh-TW" sz="2000" b="1" dirty="0"/>
              <a:t>segment</a:t>
            </a:r>
            <a:r>
              <a:rPr lang="en-US" altLang="zh-TW" sz="2000" dirty="0"/>
              <a:t> simultaneously. Then the network employs a </a:t>
            </a:r>
            <a:r>
              <a:rPr lang="en-US" altLang="zh-TW" sz="2000" b="1" dirty="0"/>
              <a:t>differencing</a:t>
            </a:r>
            <a:r>
              <a:rPr lang="en-US" altLang="zh-TW" sz="2000" dirty="0"/>
              <a:t> </a:t>
            </a:r>
            <a:r>
              <a:rPr lang="en-US" altLang="zh-TW" sz="2000" b="1" dirty="0"/>
              <a:t>function (DIFF) </a:t>
            </a:r>
            <a:r>
              <a:rPr lang="en-US" altLang="zh-TW" sz="2000" dirty="0"/>
              <a:t>to provide the closeness residual, and a </a:t>
            </a:r>
            <a:r>
              <a:rPr lang="en-US" altLang="zh-TW" sz="2000" b="1" dirty="0"/>
              <a:t>fusion</a:t>
            </a:r>
            <a:r>
              <a:rPr lang="en-US" altLang="zh-TW" sz="2000" dirty="0"/>
              <a:t> </a:t>
            </a:r>
            <a:r>
              <a:rPr lang="en-US" altLang="zh-TW" sz="2000" b="1" dirty="0"/>
              <a:t>function</a:t>
            </a:r>
            <a:r>
              <a:rPr lang="en-US" altLang="zh-TW" sz="2000" dirty="0"/>
              <a:t> </a:t>
            </a:r>
            <a:r>
              <a:rPr lang="en-US" altLang="zh-TW" sz="2000" b="1" dirty="0"/>
              <a:t>(FUSE) </a:t>
            </a:r>
            <a:r>
              <a:rPr lang="en-US" altLang="zh-TW" sz="2000" dirty="0"/>
              <a:t>to generate representations for the prediction residual. The decoder generates predicted deviations for all periodical weeks. </a:t>
            </a:r>
            <a:endParaRPr lang="zh-TW" altLang="en-US" sz="20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FCF0318-BBFA-0479-720F-603B1E7BA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8655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92B3CBB-FDAD-FE5F-F0BD-81FB12FE9E0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PR Learning</a:t>
            </a:r>
            <a:endParaRPr lang="zh-TW" altLang="en-US" sz="32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EF6524E-A2B9-0A14-C646-9C857A5EE29F}"/>
              </a:ext>
            </a:extLst>
          </p:cNvPr>
          <p:cNvSpPr txBox="1"/>
          <p:nvPr/>
        </p:nvSpPr>
        <p:spPr>
          <a:xfrm>
            <a:off x="661554" y="1397751"/>
            <a:ext cx="108688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With the </a:t>
            </a:r>
            <a:r>
              <a:rPr lang="en-US" altLang="zh-TW" sz="2400" b="1" dirty="0"/>
              <a:t>Fig.5</a:t>
            </a:r>
            <a:r>
              <a:rPr lang="en-US" altLang="zh-TW" sz="2400" dirty="0"/>
              <a:t> structure, </a:t>
            </a:r>
            <a:r>
              <a:rPr lang="en-US" altLang="zh-TW" sz="2400" b="1" dirty="0" err="1">
                <a:solidFill>
                  <a:schemeClr val="accent4">
                    <a:lumMod val="75000"/>
                  </a:schemeClr>
                </a:solidFill>
              </a:rPr>
              <a:t>PRNet</a:t>
            </a:r>
            <a:r>
              <a:rPr lang="en-US" altLang="zh-TW" sz="2400" dirty="0"/>
              <a:t> reduces the </a:t>
            </a:r>
            <a:r>
              <a:rPr lang="en-US" altLang="zh-TW" sz="2400" b="1" dirty="0"/>
              <a:t>data non-stationary </a:t>
            </a:r>
            <a:r>
              <a:rPr lang="en-US" altLang="zh-TW" sz="2400" dirty="0"/>
              <a:t>by utilizing the </a:t>
            </a:r>
            <a:r>
              <a:rPr lang="en-US" altLang="zh-TW" sz="2400" b="1" dirty="0"/>
              <a:t>closeness residual </a:t>
            </a:r>
            <a:r>
              <a:rPr lang="en-US" altLang="zh-TW" sz="2400" dirty="0"/>
              <a:t>to assist </a:t>
            </a:r>
            <a:r>
              <a:rPr lang="en-US" altLang="zh-TW" sz="2400" b="1" dirty="0"/>
              <a:t>prediction residual </a:t>
            </a:r>
            <a:r>
              <a:rPr lang="en-US" altLang="zh-TW" sz="2400" dirty="0"/>
              <a:t>generation.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For each segment (i.e., </a:t>
            </a:r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closeness</a:t>
            </a:r>
            <a:r>
              <a:rPr lang="en-US" altLang="zh-TW" sz="2400" dirty="0"/>
              <a:t>, </a:t>
            </a:r>
            <a:r>
              <a:rPr lang="en-US" altLang="zh-TW" sz="2400" b="1" dirty="0">
                <a:solidFill>
                  <a:srgbClr val="0070C0"/>
                </a:solidFill>
              </a:rPr>
              <a:t>periodic closeness</a:t>
            </a:r>
            <a:r>
              <a:rPr lang="en-US" altLang="zh-TW" sz="2400" dirty="0"/>
              <a:t>, and </a:t>
            </a:r>
            <a:r>
              <a:rPr lang="en-US" altLang="zh-TW" sz="2400" b="1" dirty="0">
                <a:solidFill>
                  <a:srgbClr val="FF9900"/>
                </a:solidFill>
              </a:rPr>
              <a:t>periodic prediction</a:t>
            </a:r>
            <a:r>
              <a:rPr lang="en-US" altLang="zh-TW" sz="2400" dirty="0"/>
              <a:t>), we first fed the raw inputs to the shared </a:t>
            </a:r>
            <a:r>
              <a:rPr lang="en-US" altLang="zh-TW" sz="2400" b="1" dirty="0"/>
              <a:t>ST Module</a:t>
            </a:r>
            <a:r>
              <a:rPr lang="en-US" altLang="zh-TW" sz="2400" dirty="0"/>
              <a:t> for </a:t>
            </a:r>
            <a:r>
              <a:rPr lang="en-US" altLang="zh-TW" sz="2400" dirty="0" err="1"/>
              <a:t>spatio</a:t>
            </a:r>
            <a:r>
              <a:rPr lang="en-US" altLang="zh-TW" sz="2400" dirty="0"/>
              <a:t>-temporal representation.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Once we obtain the </a:t>
            </a:r>
            <a:r>
              <a:rPr lang="en-US" altLang="zh-TW" sz="2400" b="1" dirty="0"/>
              <a:t>high-level features </a:t>
            </a:r>
            <a:r>
              <a:rPr lang="en-US" altLang="zh-TW" sz="2400" dirty="0"/>
              <a:t>for each segment, we utilize a </a:t>
            </a:r>
            <a:r>
              <a:rPr lang="en-US" altLang="zh-TW" sz="2400" b="1" dirty="0"/>
              <a:t>Residual Learning Module </a:t>
            </a:r>
            <a:r>
              <a:rPr lang="en-US" altLang="zh-TW" sz="2400" dirty="0"/>
              <a:t>to learn prediction residual features. </a:t>
            </a:r>
          </a:p>
          <a:p>
            <a:endParaRPr lang="en-US" altLang="zh-TW" sz="2400" dirty="0"/>
          </a:p>
          <a:p>
            <a:r>
              <a:rPr lang="en-US" altLang="zh-TW" sz="2400" dirty="0"/>
              <a:t>The details of </a:t>
            </a:r>
            <a:r>
              <a:rPr lang="en-US" altLang="zh-TW" sz="2400" dirty="0" err="1"/>
              <a:t>PRNet</a:t>
            </a:r>
            <a:r>
              <a:rPr lang="en-US" altLang="zh-TW" sz="2400" dirty="0"/>
              <a:t> will be elaborated in the following sections:</a:t>
            </a:r>
            <a:br>
              <a:rPr lang="en-US" altLang="zh-TW" sz="2400" dirty="0"/>
            </a:br>
            <a:r>
              <a:rPr lang="en-US" altLang="zh-TW" sz="2400" dirty="0"/>
              <a:t>	-  </a:t>
            </a:r>
            <a:r>
              <a:rPr lang="en-US" altLang="zh-TW" sz="2400" b="1" dirty="0"/>
              <a:t>ST Module</a:t>
            </a:r>
          </a:p>
          <a:p>
            <a:r>
              <a:rPr lang="en-US" altLang="zh-TW" sz="2400" b="1" dirty="0"/>
              <a:t>	-  Residual Learning Module</a:t>
            </a:r>
            <a:endParaRPr lang="zh-TW" altLang="en-US" sz="24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555E94E-64CE-2E80-FF04-D994B07D2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2500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92B3CBB-FDAD-FE5F-F0BD-81FB12FE9E0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ST Module</a:t>
            </a:r>
            <a:endParaRPr lang="zh-TW" altLang="en-US" sz="3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9E7EBB9-F549-7EC0-C25E-11CBA2914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053" y="2202831"/>
            <a:ext cx="4713537" cy="106759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6C41524-C037-4833-F880-059CEC0B4076}"/>
              </a:ext>
            </a:extLst>
          </p:cNvPr>
          <p:cNvSpPr txBox="1"/>
          <p:nvPr/>
        </p:nvSpPr>
        <p:spPr>
          <a:xfrm>
            <a:off x="496845" y="1276915"/>
            <a:ext cx="114919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In </a:t>
            </a:r>
            <a:r>
              <a:rPr lang="en-US" altLang="zh-TW" sz="2400" b="1" dirty="0" err="1">
                <a:solidFill>
                  <a:schemeClr val="accent4">
                    <a:lumMod val="75000"/>
                  </a:schemeClr>
                </a:solidFill>
              </a:rPr>
              <a:t>PRNet</a:t>
            </a:r>
            <a:r>
              <a:rPr lang="en-US" altLang="zh-TW" sz="2400" dirty="0"/>
              <a:t>, </a:t>
            </a:r>
            <a:r>
              <a:rPr lang="en-US" altLang="zh-TW" sz="2400" b="1" dirty="0"/>
              <a:t>ST Module </a:t>
            </a:r>
            <a:r>
              <a:rPr lang="en-US" altLang="zh-TW" sz="2400" dirty="0"/>
              <a:t>extracts </a:t>
            </a:r>
            <a:r>
              <a:rPr lang="en-US" altLang="zh-TW" sz="2400" b="1" dirty="0"/>
              <a:t>high-level</a:t>
            </a:r>
            <a:r>
              <a:rPr lang="en-US" altLang="zh-TW" sz="2400" dirty="0"/>
              <a:t> </a:t>
            </a:r>
            <a:r>
              <a:rPr lang="en-US" altLang="zh-TW" sz="2400" dirty="0" err="1"/>
              <a:t>spatio</a:t>
            </a:r>
            <a:r>
              <a:rPr lang="en-US" altLang="zh-TW" sz="2400" dirty="0"/>
              <a:t>-temporal representations (denoted as </a:t>
            </a:r>
            <a:r>
              <a:rPr lang="en-US" altLang="zh-TW" sz="2400" b="1" dirty="0"/>
              <a:t>h</a:t>
            </a:r>
            <a:r>
              <a:rPr lang="en-US" altLang="zh-TW" sz="2400" dirty="0"/>
              <a:t>) for </a:t>
            </a:r>
            <a:r>
              <a:rPr lang="en-US" altLang="zh-TW" sz="2400" b="1" dirty="0"/>
              <a:t>each segment</a:t>
            </a:r>
            <a:r>
              <a:rPr lang="en-US" altLang="zh-TW" sz="2400" dirty="0"/>
              <a:t> via the </a:t>
            </a:r>
            <a:r>
              <a:rPr lang="en-US" altLang="zh-TW" sz="2400" b="1" dirty="0"/>
              <a:t>ST network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078C942-AC3D-FD02-ACA6-9607EC656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12" y="3429000"/>
            <a:ext cx="8483680" cy="2982544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33820B2-0091-9A3C-072A-C2163A6F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795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92B3CBB-FDAD-FE5F-F0BD-81FB12FE9E0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Spatial-Channel Enhanced (SCE)</a:t>
            </a:r>
            <a:endParaRPr lang="zh-TW" altLang="en-US" sz="3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AC77815-7828-4C2C-6926-EF4D7082A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021209"/>
            <a:ext cx="12192000" cy="2815582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6FDA610-9630-785F-7732-C5BD6C23791B}"/>
              </a:ext>
            </a:extLst>
          </p:cNvPr>
          <p:cNvSpPr txBox="1"/>
          <p:nvPr/>
        </p:nvSpPr>
        <p:spPr>
          <a:xfrm>
            <a:off x="1870404" y="4923618"/>
            <a:ext cx="86174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dirty="0"/>
              <a:t>In Fig. 6, we illustrate a single </a:t>
            </a:r>
            <a:r>
              <a:rPr lang="zh-TW" altLang="en-US" sz="2400" b="1" dirty="0"/>
              <a:t>SCE block</a:t>
            </a:r>
            <a:r>
              <a:rPr lang="zh-TW" altLang="en-US" sz="2400" dirty="0"/>
              <a:t> in SCE Encoder. It comprises three main modules: </a:t>
            </a:r>
            <a:endParaRPr lang="en-US" altLang="zh-TW" sz="2400" dirty="0"/>
          </a:p>
          <a:p>
            <a:r>
              <a:rPr lang="en-US" altLang="zh-TW" sz="2400" dirty="0"/>
              <a:t>	-	</a:t>
            </a:r>
            <a:r>
              <a:rPr lang="zh-TW" altLang="en-US" sz="2400" b="1" dirty="0">
                <a:solidFill>
                  <a:srgbClr val="00B050"/>
                </a:solidFill>
              </a:rPr>
              <a:t>Standard CNN Module</a:t>
            </a:r>
            <a:r>
              <a:rPr lang="zh-TW" altLang="en-US" sz="2400" b="1" dirty="0"/>
              <a:t>, </a:t>
            </a:r>
            <a:r>
              <a:rPr lang="zh-TW" altLang="en-US" sz="2400" b="1" dirty="0">
                <a:solidFill>
                  <a:srgbClr val="0070C0"/>
                </a:solidFill>
              </a:rPr>
              <a:t>Spatial Enhanced Module</a:t>
            </a:r>
            <a:r>
              <a:rPr lang="zh-TW" altLang="en-US" sz="2400" dirty="0"/>
              <a:t>, and </a:t>
            </a:r>
            <a:r>
              <a:rPr lang="en-US" altLang="zh-TW" sz="2400" dirty="0"/>
              <a:t>			</a:t>
            </a:r>
            <a:r>
              <a:rPr lang="zh-TW" altLang="en-US" sz="2400" b="1" dirty="0">
                <a:solidFill>
                  <a:schemeClr val="accent4">
                    <a:lumMod val="75000"/>
                  </a:schemeClr>
                </a:solidFill>
              </a:rPr>
              <a:t>Channel Enhanced Module</a:t>
            </a:r>
            <a:r>
              <a:rPr lang="zh-TW" altLang="en-US" sz="2400" dirty="0"/>
              <a:t>. 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69900E-9EDA-9481-20BF-64606F96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3684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3C4D190-C087-1C45-6753-3B8AE512066D}"/>
              </a:ext>
            </a:extLst>
          </p:cNvPr>
          <p:cNvSpPr txBox="1"/>
          <p:nvPr/>
        </p:nvSpPr>
        <p:spPr>
          <a:xfrm>
            <a:off x="1246413" y="1155956"/>
            <a:ext cx="969917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To learn  long-range spatial dependencies, existing works stack multiple </a:t>
            </a:r>
            <a:r>
              <a:rPr lang="zh-TW" altLang="en-US" sz="2400" b="1" dirty="0"/>
              <a:t>CNN  layers </a:t>
            </a:r>
            <a:r>
              <a:rPr lang="zh-TW" altLang="en-US" sz="2400" dirty="0"/>
              <a:t>to larger the </a:t>
            </a:r>
            <a:r>
              <a:rPr lang="zh-TW" altLang="en-US" sz="2400" b="1" dirty="0"/>
              <a:t>receptive field </a:t>
            </a:r>
            <a:r>
              <a:rPr lang="zh-TW" altLang="en-US" sz="2400" dirty="0"/>
              <a:t>or apply </a:t>
            </a:r>
            <a:r>
              <a:rPr lang="zh-TW" altLang="en-US" sz="2400" b="1" dirty="0"/>
              <a:t>fully-connected  layers</a:t>
            </a:r>
            <a:r>
              <a:rPr lang="zh-TW" altLang="en-US" sz="2400" dirty="0"/>
              <a:t> to aggregate the </a:t>
            </a:r>
            <a:r>
              <a:rPr lang="zh-TW" altLang="en-US" sz="2400" b="1" dirty="0"/>
              <a:t>features</a:t>
            </a:r>
            <a:r>
              <a:rPr lang="zh-TW" altLang="en-US" sz="2400" dirty="0"/>
              <a:t> from all </a:t>
            </a:r>
            <a:r>
              <a:rPr lang="zh-TW" altLang="en-US" sz="2400" b="1" dirty="0"/>
              <a:t>grids</a:t>
            </a:r>
            <a:r>
              <a:rPr lang="zh-TW" altLang="en-US" sz="2400" dirty="0"/>
              <a:t>. </a:t>
            </a:r>
            <a:endParaRPr lang="en-US" altLang="zh-TW" sz="2400" dirty="0"/>
          </a:p>
          <a:p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they have </a:t>
            </a:r>
            <a:r>
              <a:rPr lang="en-US" altLang="zh-TW" sz="2400" b="1" dirty="0"/>
              <a:t>three</a:t>
            </a:r>
            <a:r>
              <a:rPr lang="en-US" altLang="zh-TW" sz="2400" dirty="0"/>
              <a:t> </a:t>
            </a:r>
            <a:r>
              <a:rPr lang="en-US" altLang="zh-TW" sz="2400" b="1" dirty="0"/>
              <a:t>disadvantages</a:t>
            </a:r>
          </a:p>
          <a:p>
            <a:r>
              <a:rPr lang="en-US" altLang="zh-TW" sz="2400" dirty="0"/>
              <a:t>	-  they have </a:t>
            </a:r>
            <a:r>
              <a:rPr lang="en-US" altLang="zh-TW" sz="2400" b="1" dirty="0">
                <a:solidFill>
                  <a:srgbClr val="FF0000"/>
                </a:solidFill>
              </a:rPr>
              <a:t>underestimated</a:t>
            </a:r>
            <a:r>
              <a:rPr lang="en-US" altLang="zh-TW" sz="2400" dirty="0"/>
              <a:t> the </a:t>
            </a:r>
            <a:r>
              <a:rPr lang="en-US" altLang="zh-TW" sz="2400" b="1" dirty="0"/>
              <a:t>temporal relationship</a:t>
            </a:r>
            <a:r>
              <a:rPr lang="en-US" altLang="zh-TW" sz="2400" dirty="0"/>
              <a:t> between 	 	  	   channels  within feature maps.</a:t>
            </a:r>
          </a:p>
          <a:p>
            <a:r>
              <a:rPr lang="en-US" altLang="zh-TW" sz="2400" dirty="0"/>
              <a:t>	-  it </a:t>
            </a:r>
            <a:r>
              <a:rPr lang="en-US" altLang="zh-TW" sz="2400" b="1" dirty="0">
                <a:solidFill>
                  <a:srgbClr val="FF0000"/>
                </a:solidFill>
              </a:rPr>
              <a:t>fails </a:t>
            </a:r>
            <a:r>
              <a:rPr lang="en-US" altLang="zh-TW" sz="2400" dirty="0"/>
              <a:t>to capture </a:t>
            </a:r>
            <a:r>
              <a:rPr lang="en-US" altLang="zh-TW" sz="2400" b="1" dirty="0"/>
              <a:t>complex global patterns </a:t>
            </a:r>
            <a:r>
              <a:rPr lang="en-US" altLang="zh-TW" sz="2400" dirty="0"/>
              <a:t>as it squeezes </a:t>
            </a:r>
            <a:r>
              <a:rPr lang="en-US" altLang="zh-TW" sz="2400" b="1" dirty="0"/>
              <a:t>global 	 	      	   spatial  features</a:t>
            </a:r>
            <a:r>
              <a:rPr lang="en-US" altLang="zh-TW" sz="2400" dirty="0"/>
              <a:t> at each block. </a:t>
            </a:r>
          </a:p>
          <a:p>
            <a:r>
              <a:rPr lang="en-US" altLang="zh-TW" sz="2400" dirty="0"/>
              <a:t>	-  it also requires </a:t>
            </a:r>
            <a:r>
              <a:rPr lang="en-US" altLang="zh-TW" sz="2400" b="1" dirty="0">
                <a:solidFill>
                  <a:srgbClr val="FF0000"/>
                </a:solidFill>
              </a:rPr>
              <a:t>additional computational  costs</a:t>
            </a:r>
            <a:r>
              <a:rPr lang="en-US" altLang="zh-TW" sz="2400" dirty="0"/>
              <a:t>. </a:t>
            </a:r>
          </a:p>
          <a:p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To address the above issue, we propose a </a:t>
            </a:r>
            <a:r>
              <a:rPr lang="en-US" altLang="zh-TW" sz="2400" b="1" dirty="0"/>
              <a:t>Spatial Channel  Enhanced (SCE) </a:t>
            </a:r>
            <a:r>
              <a:rPr lang="en-US" altLang="zh-TW" sz="2400" dirty="0"/>
              <a:t>(</a:t>
            </a:r>
            <a:r>
              <a:rPr lang="en-US" altLang="zh-TW" sz="2400" b="1" dirty="0"/>
              <a:t>Embedding Layer </a:t>
            </a:r>
            <a:r>
              <a:rPr lang="en-US" altLang="zh-TW" sz="2400" dirty="0"/>
              <a:t>and </a:t>
            </a:r>
            <a:r>
              <a:rPr lang="en-US" altLang="zh-TW" sz="2400" b="1" dirty="0"/>
              <a:t>Spatial-Channel Enhanced Block</a:t>
            </a:r>
            <a:r>
              <a:rPr lang="en-US" altLang="zh-TW" sz="2400" dirty="0"/>
              <a:t>) Encoder as the </a:t>
            </a:r>
            <a:r>
              <a:rPr lang="en-US" altLang="zh-TW" sz="2400" b="1" dirty="0"/>
              <a:t>ST Module </a:t>
            </a:r>
            <a:r>
              <a:rPr lang="en-US" altLang="zh-TW" sz="2400" dirty="0"/>
              <a:t>in our proposed </a:t>
            </a:r>
            <a:r>
              <a:rPr lang="en-US" altLang="zh-TW" sz="2400" b="1" dirty="0" err="1">
                <a:solidFill>
                  <a:schemeClr val="accent4">
                    <a:lumMod val="75000"/>
                  </a:schemeClr>
                </a:solidFill>
              </a:rPr>
              <a:t>PRNet</a:t>
            </a:r>
            <a:r>
              <a:rPr lang="en-US" altLang="zh-TW" sz="2400" dirty="0"/>
              <a:t>.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88A0D7-4845-29E1-124F-E3D1360B8D29}"/>
              </a:ext>
            </a:extLst>
          </p:cNvPr>
          <p:cNvSpPr/>
          <p:nvPr/>
        </p:nvSpPr>
        <p:spPr>
          <a:xfrm>
            <a:off x="0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CNN</a:t>
            </a:r>
            <a:endParaRPr lang="zh-TW" altLang="en-US" sz="32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C648D5-639E-6D7D-1E11-A38530A1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896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Embedding Layer</a:t>
            </a:r>
            <a:endParaRPr lang="zh-TW" altLang="en-US" sz="3200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FBC3287-838F-F109-9C8A-1974D894C97B}"/>
              </a:ext>
            </a:extLst>
          </p:cNvPr>
          <p:cNvGrpSpPr/>
          <p:nvPr/>
        </p:nvGrpSpPr>
        <p:grpSpPr>
          <a:xfrm>
            <a:off x="1747312" y="2090172"/>
            <a:ext cx="8955994" cy="3046988"/>
            <a:chOff x="1416486" y="1727087"/>
            <a:chExt cx="8955994" cy="3046988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9DFCBB2-0E91-EB15-80A1-43A12A87A9A8}"/>
                </a:ext>
              </a:extLst>
            </p:cNvPr>
            <p:cNvSpPr txBox="1"/>
            <p:nvPr/>
          </p:nvSpPr>
          <p:spPr>
            <a:xfrm>
              <a:off x="1416486" y="1727087"/>
              <a:ext cx="8738506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2400" dirty="0"/>
                <a:t>We follow the previous studies to employ an </a:t>
              </a:r>
              <a:r>
                <a:rPr lang="zh-TW" altLang="en-US" sz="2400" b="1" dirty="0"/>
                <a:t>embedding layer </a:t>
              </a:r>
              <a:r>
                <a:rPr lang="zh-TW" altLang="en-US" sz="2400" dirty="0"/>
                <a:t>for a </a:t>
              </a:r>
              <a:r>
                <a:rPr lang="zh-TW" altLang="en-US" sz="2400" b="1" dirty="0"/>
                <a:t>feature transformation</a:t>
              </a:r>
              <a:r>
                <a:rPr lang="zh-TW" altLang="en-US" sz="2400" dirty="0"/>
                <a:t>.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zh-TW" altLang="en-US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2400" dirty="0"/>
                <a:t>In detail, this layer converts each  observed segment                           to </a:t>
              </a:r>
              <a:r>
                <a:rPr lang="zh-TW" altLang="en-US" sz="2400" b="1" dirty="0"/>
                <a:t>feature maps                          </a:t>
              </a:r>
              <a:r>
                <a:rPr lang="en-US" altLang="zh-TW" sz="2400" b="1" dirty="0"/>
                <a:t>       </a:t>
              </a:r>
              <a:r>
                <a:rPr lang="zh-TW" altLang="en-US" sz="2400" dirty="0"/>
                <a:t>through a convolutional operation with kernel size 1, where 𝑇  denotes the total time intervals of the segment, namely </a:t>
              </a:r>
              <a:r>
                <a:rPr lang="zh-TW" altLang="en-US" sz="2400" b="1" dirty="0"/>
                <a:t>𝑇𝑜𝑏𝑠 </a:t>
              </a:r>
              <a:r>
                <a:rPr lang="zh-TW" altLang="en-US" sz="2400" dirty="0"/>
                <a:t>for  </a:t>
              </a:r>
              <a:r>
                <a:rPr lang="zh-TW" altLang="en-US" sz="2400" b="1" dirty="0"/>
                <a:t>closeness</a:t>
              </a:r>
              <a:r>
                <a:rPr lang="zh-TW" altLang="en-US" sz="2400" dirty="0"/>
                <a:t> and </a:t>
              </a:r>
              <a:r>
                <a:rPr lang="zh-TW" altLang="en-US" sz="2400" b="1" dirty="0"/>
                <a:t>𝑇𝑝𝑟𝑒𝑑 </a:t>
              </a:r>
              <a:r>
                <a:rPr lang="zh-TW" altLang="en-US" sz="2400" dirty="0"/>
                <a:t>for </a:t>
              </a:r>
              <a:r>
                <a:rPr lang="zh-TW" altLang="en-US" sz="2400" b="1" dirty="0"/>
                <a:t>prediction</a:t>
              </a:r>
              <a:r>
                <a:rPr lang="zh-TW" altLang="en-US" sz="2400" dirty="0"/>
                <a:t>.</a:t>
              </a:r>
            </a:p>
          </p:txBody>
        </p:sp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43709BF7-EC7E-E85A-AF41-622447E0C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59246" y="2796945"/>
              <a:ext cx="2313234" cy="492760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0A541C6A-B078-FBED-2C9B-2626C87ED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03578" y="3250581"/>
              <a:ext cx="2003077" cy="427127"/>
            </a:xfrm>
            <a:prstGeom prst="rect">
              <a:avLst/>
            </a:prstGeom>
          </p:spPr>
        </p:pic>
      </p:grp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E4708AC-43F0-C18C-9DE2-E986567F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1935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/>
              <a:t>Standard CNN Module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CBE912B-5BA2-DE80-DAAC-059ED6702E5C}"/>
              </a:ext>
            </a:extLst>
          </p:cNvPr>
          <p:cNvSpPr txBox="1"/>
          <p:nvPr/>
        </p:nvSpPr>
        <p:spPr>
          <a:xfrm>
            <a:off x="1572490" y="1416802"/>
            <a:ext cx="844571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Since the spatial  and temporal information has been indexed to dimensions and channels, the </a:t>
            </a:r>
            <a:r>
              <a:rPr lang="zh-TW" altLang="en-US" sz="2400" b="1" dirty="0"/>
              <a:t>Standard CNN Module</a:t>
            </a:r>
            <a:r>
              <a:rPr lang="zh-TW" altLang="en-US" sz="2400" dirty="0"/>
              <a:t> can capture the local spatio</a:t>
            </a:r>
            <a:r>
              <a:rPr lang="en-US" altLang="zh-TW" sz="2400" dirty="0"/>
              <a:t>-</a:t>
            </a:r>
            <a:r>
              <a:rPr lang="zh-TW" altLang="en-US" sz="2400" dirty="0"/>
              <a:t>temporal correlation via </a:t>
            </a:r>
            <a:r>
              <a:rPr lang="zh-TW" altLang="en-US" sz="2400" b="1" dirty="0"/>
              <a:t>convolution layers</a:t>
            </a:r>
            <a:r>
              <a:rPr lang="zh-TW" altLang="en-US" sz="2400" dirty="0"/>
              <a:t>: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where </a:t>
            </a:r>
            <a:r>
              <a:rPr lang="en-US" altLang="zh-TW" sz="2400" b="1" dirty="0"/>
              <a:t>W</a:t>
            </a:r>
            <a:r>
              <a:rPr lang="zh-TW" altLang="en-US" sz="2400" b="1" baseline="-25000" dirty="0"/>
              <a:t>𝑓</a:t>
            </a:r>
            <a:r>
              <a:rPr lang="en-US" altLang="zh-TW" sz="2400" b="1" baseline="-25000" dirty="0"/>
              <a:t>1  </a:t>
            </a:r>
            <a:r>
              <a:rPr lang="en-US" altLang="zh-TW" sz="2400" dirty="0"/>
              <a:t>, </a:t>
            </a:r>
            <a:r>
              <a:rPr lang="en-US" altLang="zh-TW" sz="2400" b="1" dirty="0"/>
              <a:t>W</a:t>
            </a:r>
            <a:r>
              <a:rPr lang="zh-TW" altLang="en-US" sz="2400" b="1" baseline="-25000" dirty="0"/>
              <a:t>𝑓</a:t>
            </a:r>
            <a:r>
              <a:rPr lang="en-US" altLang="zh-TW" sz="2400" b="1" baseline="-25000" dirty="0"/>
              <a:t>2  </a:t>
            </a:r>
            <a:r>
              <a:rPr lang="en-US" altLang="zh-TW" sz="2400" b="1" dirty="0"/>
              <a:t>, </a:t>
            </a:r>
            <a:r>
              <a:rPr lang="zh-TW" altLang="en-US" sz="2400" b="1" dirty="0"/>
              <a:t>𝑏</a:t>
            </a:r>
            <a:r>
              <a:rPr lang="zh-TW" altLang="en-US" sz="2400" b="1" baseline="-25000" dirty="0"/>
              <a:t>𝑓</a:t>
            </a:r>
            <a:r>
              <a:rPr lang="en-US" altLang="zh-TW" sz="2400" b="1" baseline="-25000" dirty="0"/>
              <a:t>1 </a:t>
            </a:r>
            <a:r>
              <a:rPr lang="en-US" altLang="zh-TW" sz="2400" dirty="0"/>
              <a:t>and </a:t>
            </a:r>
            <a:r>
              <a:rPr lang="zh-TW" altLang="en-US" sz="2400" b="1" dirty="0"/>
              <a:t>𝑏</a:t>
            </a:r>
            <a:r>
              <a:rPr lang="zh-TW" altLang="en-US" sz="2400" b="1" baseline="-25000" dirty="0"/>
              <a:t>𝑓</a:t>
            </a:r>
            <a:r>
              <a:rPr lang="en-US" altLang="zh-TW" sz="2400" b="1" baseline="-25000" dirty="0"/>
              <a:t>2 </a:t>
            </a:r>
            <a:r>
              <a:rPr lang="en-US" altLang="zh-TW" sz="2400" dirty="0"/>
              <a:t>are learnable parameters, ★ refers  to a </a:t>
            </a:r>
            <a:r>
              <a:rPr lang="en-US" altLang="zh-TW" sz="2400" b="1" dirty="0"/>
              <a:t>convolution operator</a:t>
            </a:r>
            <a:r>
              <a:rPr lang="en-US" altLang="zh-TW" sz="2400" dirty="0"/>
              <a:t>, </a:t>
            </a:r>
            <a:r>
              <a:rPr lang="zh-TW" altLang="en-US" sz="2400" b="1" dirty="0"/>
              <a:t>𝛿 </a:t>
            </a:r>
            <a:r>
              <a:rPr lang="en-US" altLang="zh-TW" sz="2400" b="1" dirty="0"/>
              <a:t>(·) </a:t>
            </a:r>
            <a:r>
              <a:rPr lang="en-US" altLang="zh-TW" sz="2400" dirty="0"/>
              <a:t>is </a:t>
            </a:r>
            <a:r>
              <a:rPr lang="en-US" altLang="zh-TW" sz="2400" b="1" dirty="0" err="1"/>
              <a:t>ReLU</a:t>
            </a:r>
            <a:r>
              <a:rPr lang="en-US" altLang="zh-TW" sz="2400" dirty="0"/>
              <a:t> </a:t>
            </a:r>
            <a:r>
              <a:rPr lang="en-US" altLang="zh-TW" sz="2400" b="1" dirty="0"/>
              <a:t>activation function</a:t>
            </a:r>
            <a:r>
              <a:rPr lang="en-US" altLang="zh-TW" sz="2400" dirty="0"/>
              <a:t>, and  </a:t>
            </a:r>
            <a:r>
              <a:rPr lang="zh-TW" altLang="en-US" sz="2400" b="1" dirty="0"/>
              <a:t>𝑚 </a:t>
            </a:r>
            <a:r>
              <a:rPr lang="en-US" altLang="zh-TW" sz="2400" dirty="0"/>
              <a:t>denotes index number of SCE Blocks.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Note that h</a:t>
            </a:r>
            <a:r>
              <a:rPr lang="en-US" altLang="zh-TW" sz="2400" baseline="30000" dirty="0"/>
              <a:t>(0)  </a:t>
            </a:r>
            <a:r>
              <a:rPr lang="en-US" altLang="zh-TW" sz="2400" dirty="0"/>
              <a:t>is </a:t>
            </a:r>
            <a:r>
              <a:rPr lang="en-US" altLang="zh-TW" sz="2400" b="1" dirty="0"/>
              <a:t>z</a:t>
            </a:r>
            <a:r>
              <a:rPr lang="en-US" altLang="zh-TW" sz="2400" dirty="0"/>
              <a:t> and                                We will omit the index </a:t>
            </a:r>
            <a:r>
              <a:rPr lang="zh-TW" altLang="en-US" sz="2400" b="1" dirty="0"/>
              <a:t>𝑚 </a:t>
            </a:r>
            <a:r>
              <a:rPr lang="en-US" altLang="zh-TW" sz="2400" dirty="0"/>
              <a:t>for the same block in the  following sections.</a:t>
            </a:r>
            <a:endParaRPr lang="zh-TW" altLang="en-US" sz="2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536467-69DD-3C0D-304D-0C357238C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031" y="2751096"/>
            <a:ext cx="7026390" cy="88174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95AFFA3-E3FB-CAC1-B060-CDFE6B9C6B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849"/>
          <a:stretch/>
        </p:blipFill>
        <p:spPr>
          <a:xfrm>
            <a:off x="4713995" y="5363205"/>
            <a:ext cx="2011231" cy="45144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ED4624D-83D9-958D-E083-D0CFBD07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9121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Spatial Enhanced Module (SEM)</a:t>
            </a:r>
            <a:endParaRPr lang="zh-TW" altLang="en-US" sz="3200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B956CB29-CF11-9A39-585C-49EECC41F9C5}"/>
              </a:ext>
            </a:extLst>
          </p:cNvPr>
          <p:cNvGrpSpPr/>
          <p:nvPr/>
        </p:nvGrpSpPr>
        <p:grpSpPr>
          <a:xfrm>
            <a:off x="1319968" y="1187161"/>
            <a:ext cx="9376571" cy="5262979"/>
            <a:chOff x="1531502" y="1404800"/>
            <a:chExt cx="9376571" cy="5262979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616AE274-2934-A731-9CBB-D1D8802363A9}"/>
                </a:ext>
              </a:extLst>
            </p:cNvPr>
            <p:cNvSpPr txBox="1"/>
            <p:nvPr/>
          </p:nvSpPr>
          <p:spPr>
            <a:xfrm>
              <a:off x="1531502" y="1404800"/>
              <a:ext cx="9128993" cy="52629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2400" b="1" dirty="0"/>
                <a:t>Spatial Enhanced Module (SEM) </a:t>
              </a:r>
              <a:r>
                <a:rPr lang="zh-TW" altLang="en-US" sz="2400" dirty="0"/>
                <a:t>enhances the </a:t>
              </a:r>
              <a:r>
                <a:rPr lang="zh-TW" altLang="en-US" sz="2400" b="1" dirty="0"/>
                <a:t>standard</a:t>
              </a:r>
              <a:r>
                <a:rPr lang="zh-TW" altLang="en-US" sz="2400" dirty="0"/>
                <a:t> </a:t>
              </a:r>
              <a:r>
                <a:rPr lang="zh-TW" altLang="en-US" sz="2400" b="1" dirty="0"/>
                <a:t>CNN</a:t>
              </a:r>
              <a:r>
                <a:rPr lang="zh-TW" altLang="en-US" sz="2400" dirty="0"/>
                <a:t>  by selecting the salient features globally for better spatial representation. </a:t>
              </a:r>
              <a:endParaRPr lang="en-US" altLang="zh-TW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zh-TW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2400" dirty="0"/>
                <a:t>To achie</a:t>
              </a:r>
              <a:r>
                <a:rPr lang="en-US" altLang="zh-TW" sz="2400" dirty="0"/>
                <a:t>v</a:t>
              </a:r>
              <a:r>
                <a:rPr lang="zh-TW" altLang="en-US" sz="2400" dirty="0"/>
                <a:t>e </a:t>
              </a:r>
              <a:r>
                <a:rPr lang="en-US" altLang="zh-TW" sz="2400" dirty="0"/>
                <a:t>it</a:t>
              </a:r>
              <a:r>
                <a:rPr lang="zh-TW" altLang="en-US" sz="2400" dirty="0"/>
                <a:t> </a:t>
              </a:r>
              <a:r>
                <a:rPr lang="en-US" altLang="zh-TW" sz="2400" dirty="0"/>
                <a:t>,</a:t>
              </a:r>
              <a:r>
                <a:rPr lang="zh-TW" altLang="en-US" sz="2400" dirty="0"/>
                <a:t>adopt </a:t>
              </a:r>
              <a:r>
                <a:rPr lang="zh-TW" altLang="en-US" sz="2400" b="1" dirty="0"/>
                <a:t>adaptive</a:t>
              </a:r>
              <a:r>
                <a:rPr lang="zh-TW" altLang="en-US" sz="2400" dirty="0"/>
                <a:t> </a:t>
              </a:r>
              <a:r>
                <a:rPr lang="zh-TW" altLang="en-US" sz="2400" b="1" dirty="0"/>
                <a:t>max pooling (AMP)  </a:t>
              </a:r>
              <a:r>
                <a:rPr lang="zh-TW" altLang="en-US" sz="2400" dirty="0"/>
                <a:t>to down-sample the hidden state      by selecting most important  features                                  and translate it to</a:t>
              </a:r>
              <a:endParaRPr lang="en-US" altLang="zh-TW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zh-TW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zh-TW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zh-TW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zh-TW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TW" sz="2400" dirty="0"/>
                <a:t>where </a:t>
              </a:r>
              <a:r>
                <a:rPr lang="zh-TW" altLang="en-US" sz="2400" b="1" dirty="0"/>
                <a:t>𝜎 </a:t>
              </a:r>
              <a:r>
                <a:rPr lang="en-US" altLang="zh-TW" sz="2400" dirty="0"/>
                <a:t>refers to </a:t>
              </a:r>
              <a:r>
                <a:rPr lang="en-US" altLang="zh-TW" sz="2400" b="1" dirty="0"/>
                <a:t>sigmoid function</a:t>
              </a:r>
              <a:r>
                <a:rPr lang="en-US" altLang="zh-TW" sz="2400" dirty="0"/>
                <a:t>,</a:t>
              </a:r>
              <a:r>
                <a:rPr lang="en-US" altLang="zh-TW" sz="2400" b="1" dirty="0"/>
                <a:t> </a:t>
              </a:r>
              <a:r>
                <a:rPr lang="zh-TW" altLang="en-US" sz="2400" b="1" dirty="0"/>
                <a:t>𝛿 </a:t>
              </a:r>
              <a:r>
                <a:rPr lang="en-US" altLang="zh-TW" sz="2400" dirty="0"/>
                <a:t>denotes the </a:t>
              </a:r>
              <a:r>
                <a:rPr lang="en-US" altLang="zh-TW" sz="2400" b="1" dirty="0" err="1"/>
                <a:t>ReLU</a:t>
              </a:r>
              <a:r>
                <a:rPr lang="en-US" altLang="zh-TW" sz="2400" b="1" dirty="0"/>
                <a:t> function</a:t>
              </a:r>
              <a:r>
                <a:rPr lang="en-US" altLang="zh-TW" sz="2400" dirty="0"/>
                <a:t>,  </a:t>
              </a:r>
              <a:r>
                <a:rPr lang="zh-TW" altLang="en-US" sz="2400" b="1" dirty="0"/>
                <a:t>𝑔</a:t>
              </a:r>
              <a:r>
                <a:rPr lang="en-US" altLang="zh-TW" sz="2400" b="1" dirty="0"/>
                <a:t>(·) </a:t>
              </a:r>
              <a:r>
                <a:rPr lang="en-US" altLang="zh-TW" sz="2400" dirty="0"/>
                <a:t>represents the </a:t>
              </a:r>
              <a:r>
                <a:rPr lang="en-US" altLang="zh-TW" sz="2400" b="1" dirty="0"/>
                <a:t>gated function</a:t>
              </a:r>
              <a:r>
                <a:rPr lang="en-US" altLang="zh-TW" sz="2400" dirty="0"/>
                <a:t>.</a:t>
              </a:r>
              <a:endParaRPr lang="zh-TW" altLang="en-US" sz="2400" dirty="0"/>
            </a:p>
            <a:p>
              <a:endParaRPr lang="zh-TW" altLang="en-US" sz="2400" dirty="0"/>
            </a:p>
          </p:txBody>
        </p: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308401BB-37C3-6C24-E0DB-3F2E67DCEB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484"/>
            <a:stretch/>
          </p:blipFill>
          <p:spPr>
            <a:xfrm>
              <a:off x="4034195" y="3223868"/>
              <a:ext cx="328899" cy="479171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455B2884-BD6E-B32F-8E8F-877A58748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86638" y="4363690"/>
              <a:ext cx="6527992" cy="881743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3F42E6FA-AAFC-538F-E533-06F8AEBD3C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4081"/>
            <a:stretch/>
          </p:blipFill>
          <p:spPr>
            <a:xfrm>
              <a:off x="9147244" y="3339010"/>
              <a:ext cx="1760829" cy="401651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861F42F4-B373-CE1F-E582-741B23464F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2181"/>
            <a:stretch/>
          </p:blipFill>
          <p:spPr>
            <a:xfrm>
              <a:off x="4198645" y="3649949"/>
              <a:ext cx="2089661" cy="386341"/>
            </a:xfrm>
            <a:prstGeom prst="rect">
              <a:avLst/>
            </a:prstGeom>
          </p:spPr>
        </p:pic>
      </p:grpSp>
      <p:pic>
        <p:nvPicPr>
          <p:cNvPr id="18" name="圖片 17">
            <a:extLst>
              <a:ext uri="{FF2B5EF4-FFF2-40B4-BE49-F238E27FC236}">
                <a16:creationId xmlns:a16="http://schemas.microsoft.com/office/drawing/2014/main" id="{EEC02F22-BD30-B72B-2829-383F02630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7952" y="6154269"/>
            <a:ext cx="4470408" cy="541005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1390F799-6060-148B-7F65-8C536774575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8108"/>
          <a:stretch/>
        </p:blipFill>
        <p:spPr>
          <a:xfrm>
            <a:off x="7414414" y="6214092"/>
            <a:ext cx="2229634" cy="42136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63ECA69-5DB6-6051-4404-43949C7A7E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7999" y="6141015"/>
            <a:ext cx="1361850" cy="43067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57CA47F6-A678-1108-393D-F06D6F416F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10410" y="4146051"/>
            <a:ext cx="998865" cy="90637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168C142-1D7C-EC76-7169-045E4F8F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23EC53C-60CE-5F72-E665-73F0F7C960E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3090"/>
          <a:stretch/>
        </p:blipFill>
        <p:spPr>
          <a:xfrm>
            <a:off x="260562" y="6201771"/>
            <a:ext cx="2255334" cy="49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69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Channel Enhanced Module (CEM)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CBF3A04-FEB1-8668-1CEB-6CD3E032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352" y="3783922"/>
            <a:ext cx="4466448" cy="125840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124FF03-DA24-A969-85FD-1ED3BEEC8D0B}"/>
              </a:ext>
            </a:extLst>
          </p:cNvPr>
          <p:cNvSpPr txBox="1"/>
          <p:nvPr/>
        </p:nvSpPr>
        <p:spPr>
          <a:xfrm>
            <a:off x="1146461" y="2098357"/>
            <a:ext cx="98990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It first summarizes the </a:t>
            </a:r>
            <a:r>
              <a:rPr lang="zh-TW" altLang="en-US" sz="2400" b="1" dirty="0"/>
              <a:t>global spatial features  </a:t>
            </a:r>
            <a:r>
              <a:rPr lang="zh-TW" altLang="en-US" sz="2400" dirty="0"/>
              <a:t>into a </a:t>
            </a:r>
            <a:r>
              <a:rPr lang="zh-TW" altLang="en-US" sz="2400" b="1" dirty="0"/>
              <a:t>channel descriptor, </a:t>
            </a:r>
            <a:r>
              <a:rPr lang="zh-TW" altLang="en-US" sz="2400" dirty="0"/>
              <a:t>then the </a:t>
            </a:r>
            <a:r>
              <a:rPr lang="zh-TW" altLang="en-US" sz="2400" b="1" dirty="0"/>
              <a:t>descriptor</a:t>
            </a:r>
            <a:r>
              <a:rPr lang="zh-TW" altLang="en-US" sz="2400" dirty="0"/>
              <a:t> captures the </a:t>
            </a:r>
            <a:r>
              <a:rPr lang="zh-TW" altLang="en-US" sz="2400" b="1" dirty="0"/>
              <a:t>spatio</a:t>
            </a:r>
            <a:r>
              <a:rPr lang="en-US" altLang="zh-TW" sz="2400" b="1" dirty="0"/>
              <a:t>-</a:t>
            </a:r>
            <a:r>
              <a:rPr lang="zh-TW" altLang="en-US" sz="2400" b="1" dirty="0"/>
              <a:t>temporal correlations </a:t>
            </a:r>
            <a:r>
              <a:rPr lang="zh-TW" altLang="en-US" sz="2400" dirty="0"/>
              <a:t>based on the </a:t>
            </a:r>
            <a:r>
              <a:rPr lang="zh-TW" altLang="en-US" sz="2400" b="1" dirty="0"/>
              <a:t>channel dimension</a:t>
            </a:r>
            <a:r>
              <a:rPr lang="zh-TW" altLang="en-US" sz="2400" dirty="0"/>
              <a:t>. We adopt  </a:t>
            </a:r>
            <a:r>
              <a:rPr lang="zh-TW" altLang="en-US" sz="2400" b="1" dirty="0"/>
              <a:t>global average pooling (GAP) </a:t>
            </a:r>
            <a:r>
              <a:rPr lang="zh-TW" altLang="en-US" sz="2400" dirty="0"/>
              <a:t>to squeeze the global spatial features  and generate </a:t>
            </a:r>
            <a:r>
              <a:rPr lang="zh-TW" altLang="en-US" sz="2400" b="1" dirty="0"/>
              <a:t>channel-wise statistic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DB2EAE1-8CB0-373C-8156-8829DCF5A2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90"/>
          <a:stretch/>
        </p:blipFill>
        <p:spPr>
          <a:xfrm>
            <a:off x="2655077" y="4283915"/>
            <a:ext cx="2208317" cy="486383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9A297ED-E1AA-67AC-9A81-5A4054699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6802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Channel Enhanced Module (CEM)</a:t>
            </a:r>
            <a:endParaRPr lang="zh-TW" altLang="en-US" sz="3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34DC102-E601-E2D2-D01A-C4757E496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270" y="5405461"/>
            <a:ext cx="3465455" cy="88174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F0B05DD-8519-CDC9-7C4D-B2F388A841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050"/>
          <a:stretch/>
        </p:blipFill>
        <p:spPr>
          <a:xfrm>
            <a:off x="3477761" y="2618239"/>
            <a:ext cx="5236474" cy="81076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8A90EB8-C459-1D0B-C1BE-78580A4E4C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461" y="1202799"/>
            <a:ext cx="8921078" cy="127254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3D6A4EF-CFBE-3BF2-F833-5C8C3987C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1401" y="3716765"/>
            <a:ext cx="8769194" cy="1772356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C3E7F2B-7F44-200E-018D-C0DF0FA96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825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92B3CBB-FDAD-FE5F-F0BD-81FB12FE9E0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Residual learning module</a:t>
            </a:r>
            <a:endParaRPr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28CB8D1-B74B-D894-A662-9FCEE8ED479C}"/>
              </a:ext>
            </a:extLst>
          </p:cNvPr>
          <p:cNvSpPr txBox="1"/>
          <p:nvPr/>
        </p:nvSpPr>
        <p:spPr>
          <a:xfrm>
            <a:off x="1040244" y="1536174"/>
            <a:ext cx="101115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Statistical methods have demonstrated robust prediction by  removing trends and </a:t>
            </a:r>
            <a:r>
              <a:rPr lang="zh-TW" altLang="en-US" sz="2400" b="1" dirty="0"/>
              <a:t>seasonality</a:t>
            </a:r>
            <a:r>
              <a:rPr lang="zh-TW" altLang="en-US" sz="2400" dirty="0"/>
              <a:t> given time series data.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TW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In light of  these approaches, we introduce a similar concept to </a:t>
            </a:r>
            <a:r>
              <a:rPr lang="zh-TW" altLang="en-US" sz="2400" b="1" dirty="0"/>
              <a:t>deep learning  networks</a:t>
            </a:r>
            <a:r>
              <a:rPr lang="zh-TW" altLang="en-US" sz="2400" dirty="0"/>
              <a:t> by devising a </a:t>
            </a:r>
            <a:r>
              <a:rPr lang="zh-TW" altLang="en-US" sz="2400" b="1" dirty="0"/>
              <a:t>residual learning module </a:t>
            </a:r>
            <a:r>
              <a:rPr lang="zh-TW" altLang="en-US" sz="2400" dirty="0"/>
              <a:t>to eliminate the  sequential </a:t>
            </a:r>
            <a:r>
              <a:rPr lang="zh-TW" altLang="en-US" sz="2400" b="1" dirty="0"/>
              <a:t>seasonality</a:t>
            </a:r>
            <a:r>
              <a:rPr lang="zh-TW" altLang="en-US" sz="2400" dirty="0"/>
              <a:t> (i.e., periodicity). 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It  consists of two functions: </a:t>
            </a:r>
          </a:p>
          <a:p>
            <a:pPr marL="800100" lvl="1" indent="-342900">
              <a:buFontTx/>
              <a:buChar char="-"/>
            </a:pPr>
            <a:r>
              <a:rPr lang="en-US" altLang="zh-TW" sz="2400" b="1" dirty="0"/>
              <a:t>differencing function (</a:t>
            </a:r>
            <a:r>
              <a:rPr lang="en-US" altLang="zh-TW" sz="2400" b="1" dirty="0">
                <a:solidFill>
                  <a:srgbClr val="0070C0"/>
                </a:solidFill>
              </a:rPr>
              <a:t>DIFF</a:t>
            </a:r>
            <a:r>
              <a:rPr lang="en-US" altLang="zh-TW" sz="2400" b="1" dirty="0"/>
              <a:t>)</a:t>
            </a:r>
          </a:p>
          <a:p>
            <a:pPr marL="800100" lvl="1" indent="-342900">
              <a:buFontTx/>
              <a:buChar char="-"/>
            </a:pPr>
            <a:r>
              <a:rPr lang="en-US" altLang="zh-TW" sz="2400" b="1" dirty="0"/>
              <a:t>fusion function (</a:t>
            </a:r>
            <a:r>
              <a:rPr lang="en-US" altLang="zh-TW" sz="2400" b="1" dirty="0">
                <a:solidFill>
                  <a:srgbClr val="CC6600"/>
                </a:solidFill>
              </a:rPr>
              <a:t>FUSE</a:t>
            </a:r>
            <a:r>
              <a:rPr lang="en-US" altLang="zh-TW" sz="2400" b="1" dirty="0"/>
              <a:t>)</a:t>
            </a:r>
            <a:endParaRPr lang="zh-TW" altLang="en-US" sz="2400" b="1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794A4C-6C45-DA17-FBE8-7F0844FF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0758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92B3CBB-FDAD-FE5F-F0BD-81FB12FE9E0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Differencing function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4CFC8F9-46E6-8CC6-5CEC-5A539013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250" y="2479762"/>
            <a:ext cx="5237493" cy="160382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361025F-E6DD-6EFB-CD59-2F28B73F72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63"/>
          <a:stretch/>
        </p:blipFill>
        <p:spPr>
          <a:xfrm>
            <a:off x="1527781" y="4470069"/>
            <a:ext cx="9136433" cy="91018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B4772895-DAC7-D3E3-7953-2097937C10B8}"/>
              </a:ext>
            </a:extLst>
          </p:cNvPr>
          <p:cNvSpPr txBox="1"/>
          <p:nvPr/>
        </p:nvSpPr>
        <p:spPr>
          <a:xfrm>
            <a:off x="621145" y="1080588"/>
            <a:ext cx="90031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dirty="0"/>
              <a:t>hidden states </a:t>
            </a:r>
            <a:r>
              <a:rPr lang="en-US" altLang="zh-TW" sz="2400" dirty="0"/>
              <a:t>of </a:t>
            </a:r>
            <a:r>
              <a:rPr lang="en-US" altLang="zh-TW" sz="2400" b="1" dirty="0"/>
              <a:t>periodic closeness residual</a:t>
            </a:r>
            <a:r>
              <a:rPr lang="en-US" altLang="zh-TW" sz="2400" dirty="0"/>
              <a:t> can be calculated by subtracting the </a:t>
            </a:r>
            <a:r>
              <a:rPr lang="en-US" altLang="zh-TW" sz="2400" b="1" dirty="0"/>
              <a:t>hidden state </a:t>
            </a:r>
            <a:r>
              <a:rPr lang="en-US" altLang="zh-TW" sz="2400" dirty="0"/>
              <a:t>of </a:t>
            </a:r>
            <a:r>
              <a:rPr lang="en-US" altLang="zh-TW" sz="2400" b="1" dirty="0">
                <a:solidFill>
                  <a:schemeClr val="accent1">
                    <a:lumMod val="75000"/>
                  </a:schemeClr>
                </a:solidFill>
              </a:rPr>
              <a:t>closeness</a:t>
            </a:r>
            <a:r>
              <a:rPr lang="en-US" altLang="zh-TW" sz="2400" dirty="0"/>
              <a:t> </a:t>
            </a:r>
            <a:r>
              <a:rPr lang="en-US" altLang="zh-TW" sz="3200" dirty="0"/>
              <a:t>h</a:t>
            </a:r>
            <a:r>
              <a:rPr lang="zh-TW" altLang="en-US" sz="2400" dirty="0"/>
              <a:t>𝑥 </a:t>
            </a:r>
            <a:r>
              <a:rPr lang="en-US" altLang="zh-TW" sz="2400" dirty="0"/>
              <a:t>from the </a:t>
            </a:r>
            <a:r>
              <a:rPr lang="en-US" altLang="zh-TW" sz="2400" b="1" dirty="0"/>
              <a:t>hidden state </a:t>
            </a:r>
            <a:r>
              <a:rPr lang="en-US" altLang="zh-TW" sz="2400" dirty="0"/>
              <a:t>of </a:t>
            </a:r>
            <a:r>
              <a:rPr lang="en-US" altLang="zh-TW" sz="2400" b="1" dirty="0"/>
              <a:t>periodic </a:t>
            </a:r>
            <a:r>
              <a:rPr lang="en-US" altLang="zh-TW" sz="2400" b="1" dirty="0">
                <a:solidFill>
                  <a:srgbClr val="0070C0"/>
                </a:solidFill>
              </a:rPr>
              <a:t>closeness</a:t>
            </a:r>
            <a:r>
              <a:rPr lang="en-US" altLang="zh-TW" sz="2400" dirty="0"/>
              <a:t> </a:t>
            </a:r>
            <a:r>
              <a:rPr lang="en-US" altLang="zh-TW" sz="3200" dirty="0"/>
              <a:t>h</a:t>
            </a:r>
            <a:r>
              <a:rPr lang="zh-TW" altLang="en-US" sz="2400" dirty="0"/>
              <a:t>𝑝𝑥 </a:t>
            </a:r>
            <a:r>
              <a:rPr lang="en-US" altLang="zh-TW" sz="2400" dirty="0"/>
              <a:t>generated by </a:t>
            </a:r>
            <a:r>
              <a:rPr lang="en-US" altLang="zh-TW" sz="2400" b="1" dirty="0"/>
              <a:t>ST Module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2FB22BE-F969-27F7-0CD1-9CECF2B4C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26616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92B3CBB-FDAD-FE5F-F0BD-81FB12FE9E0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Fusion function</a:t>
            </a:r>
            <a:endParaRPr lang="zh-TW" altLang="en-US" sz="3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20D83CE-0F8E-8501-8ECC-8FFF1BDDB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423" y="1821080"/>
            <a:ext cx="5639151" cy="1230767"/>
          </a:xfrm>
          <a:prstGeom prst="rect">
            <a:avLst/>
          </a:prstGeo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5E068B3-4325-1F8F-EDCC-F38AC41C9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CECDAB8-BE25-6B61-DE44-A1C6F791B110}"/>
              </a:ext>
            </a:extLst>
          </p:cNvPr>
          <p:cNvSpPr txBox="1"/>
          <p:nvPr/>
        </p:nvSpPr>
        <p:spPr>
          <a:xfrm>
            <a:off x="2034699" y="3242663"/>
            <a:ext cx="87824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where </a:t>
            </a:r>
            <a:r>
              <a:rPr lang="en-US" altLang="zh-TW" sz="2400" b="1" dirty="0"/>
              <a:t>∥</a:t>
            </a:r>
            <a:r>
              <a:rPr lang="en-US" altLang="zh-TW" sz="2400" dirty="0"/>
              <a:t> is the </a:t>
            </a:r>
            <a:r>
              <a:rPr lang="en-US" altLang="zh-TW" sz="2400" b="1" dirty="0"/>
              <a:t>concatenation operation</a:t>
            </a:r>
            <a:r>
              <a:rPr lang="en-US" altLang="zh-TW" sz="2400" dirty="0"/>
              <a:t>, and </a:t>
            </a:r>
            <a:r>
              <a:rPr lang="en-US" altLang="zh-TW" sz="2400" b="1" dirty="0"/>
              <a:t>W</a:t>
            </a:r>
            <a:r>
              <a:rPr lang="zh-TW" altLang="en-US" sz="2400" b="1" baseline="-25000" dirty="0"/>
              <a:t>𝑑 </a:t>
            </a:r>
            <a:r>
              <a:rPr lang="en-US" altLang="zh-TW" sz="2400" dirty="0"/>
              <a:t>denotes learnable parameters. Therefore, the </a:t>
            </a:r>
            <a:r>
              <a:rPr lang="en-US" altLang="zh-TW" sz="2400" b="1" dirty="0"/>
              <a:t>embedded vector</a:t>
            </a:r>
            <a:r>
              <a:rPr lang="en-US" altLang="zh-TW" sz="2400" dirty="0"/>
              <a:t> H˜ ∈ </a:t>
            </a:r>
            <a:r>
              <a:rPr lang="en-US" altLang="zh-TW" sz="2400" b="1" dirty="0"/>
              <a:t>R</a:t>
            </a:r>
            <a:r>
              <a:rPr lang="zh-TW" altLang="en-US" sz="2400" b="1" baseline="30000" dirty="0"/>
              <a:t>𝑃</a:t>
            </a:r>
            <a:r>
              <a:rPr lang="en-US" altLang="zh-TW" sz="2400" b="1" baseline="30000" dirty="0"/>
              <a:t>×</a:t>
            </a:r>
            <a:r>
              <a:rPr lang="zh-TW" altLang="en-US" sz="2400" b="1" baseline="30000" dirty="0"/>
              <a:t>𝐻</a:t>
            </a:r>
            <a:r>
              <a:rPr lang="en-US" altLang="zh-TW" sz="2400" b="1" baseline="30000" dirty="0"/>
              <a:t>×</a:t>
            </a:r>
            <a:r>
              <a:rPr lang="zh-TW" altLang="en-US" sz="2400" b="1" baseline="30000" dirty="0"/>
              <a:t>𝑊</a:t>
            </a:r>
            <a:r>
              <a:rPr lang="en-US" altLang="zh-TW" sz="2400" b="1" baseline="30000" dirty="0"/>
              <a:t>×</a:t>
            </a:r>
            <a:r>
              <a:rPr lang="zh-TW" altLang="en-US" sz="2400" b="1" baseline="30000" dirty="0"/>
              <a:t>𝐶  </a:t>
            </a:r>
            <a:r>
              <a:rPr lang="en-US" altLang="zh-TW" sz="2400" dirty="0"/>
              <a:t>can represent </a:t>
            </a:r>
            <a:r>
              <a:rPr lang="en-US" altLang="zh-TW" sz="2400" b="1" dirty="0"/>
              <a:t>the hidden states of the prediction residual</a:t>
            </a:r>
            <a:r>
              <a:rPr lang="en-US" altLang="zh-TW" sz="2400" dirty="0"/>
              <a:t>, which are conditioned on the </a:t>
            </a:r>
            <a:r>
              <a:rPr lang="en-US" altLang="zh-TW" sz="2400" b="1" dirty="0"/>
              <a:t>features</a:t>
            </a:r>
            <a:r>
              <a:rPr lang="en-US" altLang="zh-TW" sz="2400" dirty="0"/>
              <a:t> of </a:t>
            </a:r>
            <a:r>
              <a:rPr lang="en-US" altLang="zh-TW" sz="2400" b="1" dirty="0"/>
              <a:t>closeness residual </a:t>
            </a:r>
            <a:r>
              <a:rPr lang="en-US" altLang="zh-TW" sz="2400" dirty="0"/>
              <a:t>and </a:t>
            </a:r>
            <a:r>
              <a:rPr lang="en-US" altLang="zh-TW" sz="2400" b="1" dirty="0"/>
              <a:t>periodic prediction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327191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92B3CBB-FDAD-FE5F-F0BD-81FB12FE9E0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External Module</a:t>
            </a:r>
            <a:endParaRPr lang="zh-TW" altLang="en-US" sz="32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EA53A40-79D3-0F2D-7A74-DD6C7BD9B9C3}"/>
              </a:ext>
            </a:extLst>
          </p:cNvPr>
          <p:cNvSpPr txBox="1"/>
          <p:nvPr/>
        </p:nvSpPr>
        <p:spPr>
          <a:xfrm>
            <a:off x="750560" y="2578389"/>
            <a:ext cx="110905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/>
              <a:t>External factors</a:t>
            </a:r>
            <a:r>
              <a:rPr lang="en-US" altLang="zh-TW" sz="2400" dirty="0"/>
              <a:t>, such as </a:t>
            </a:r>
            <a:r>
              <a:rPr lang="en-US" altLang="zh-TW" sz="2400" b="1" dirty="0"/>
              <a:t>date</a:t>
            </a:r>
            <a:r>
              <a:rPr lang="en-US" altLang="zh-TW" sz="2400" dirty="0"/>
              <a:t>, </a:t>
            </a:r>
            <a:r>
              <a:rPr lang="en-US" altLang="zh-TW" sz="2400" b="1" i="1" dirty="0"/>
              <a:t>event</a:t>
            </a:r>
            <a:r>
              <a:rPr lang="en-US" altLang="zh-TW" sz="2400" dirty="0"/>
              <a:t>, and </a:t>
            </a:r>
            <a:r>
              <a:rPr lang="en-US" altLang="zh-TW" sz="2400" b="1" dirty="0"/>
              <a:t>weather</a:t>
            </a:r>
            <a:r>
              <a:rPr lang="en-US" altLang="zh-TW" sz="2400" dirty="0"/>
              <a:t>, can affect crowd flows.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b="1" dirty="0"/>
              <a:t>External (EXT) Module </a:t>
            </a:r>
            <a:r>
              <a:rPr lang="en-US" altLang="zh-TW" sz="2400" dirty="0"/>
              <a:t>works on encoding these factors and outputs the </a:t>
            </a:r>
            <a:r>
              <a:rPr lang="en-US" altLang="zh-TW" sz="2400" b="1" dirty="0"/>
              <a:t>external factor </a:t>
            </a:r>
            <a:r>
              <a:rPr lang="en-US" altLang="zh-TW" sz="2400" dirty="0"/>
              <a:t>embedding 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297EE72-AD0B-1856-9C04-AF195D5B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6631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92B3CBB-FDAD-FE5F-F0BD-81FB12FE9E0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Decoder </a:t>
            </a:r>
            <a:endParaRPr lang="zh-TW" altLang="en-US" sz="32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637CE0AD-8FE4-F9E3-208F-F8C425EAB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080" y="2599807"/>
            <a:ext cx="4971467" cy="108657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6AC75C4-2304-BA50-210B-94AEE336A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03" y="3491959"/>
            <a:ext cx="9377057" cy="146024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AD0B4E5-5AE9-ED3C-7641-1D20287BED07}"/>
              </a:ext>
            </a:extLst>
          </p:cNvPr>
          <p:cNvSpPr txBox="1"/>
          <p:nvPr/>
        </p:nvSpPr>
        <p:spPr>
          <a:xfrm>
            <a:off x="1786270" y="1099412"/>
            <a:ext cx="83890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The same form is for the Decoder. And the default Decoder of </a:t>
            </a:r>
            <a:r>
              <a:rPr lang="en-US" altLang="zh-TW" sz="2400" b="1" dirty="0" err="1">
                <a:solidFill>
                  <a:srgbClr val="0070C0"/>
                </a:solidFill>
              </a:rPr>
              <a:t>PRNet</a:t>
            </a:r>
            <a:r>
              <a:rPr lang="en-US" altLang="zh-TW" sz="2400" dirty="0"/>
              <a:t> is a </a:t>
            </a:r>
            <a:r>
              <a:rPr lang="en-US" altLang="zh-TW" sz="2400" b="1" dirty="0"/>
              <a:t>fully-connected layer (FC)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define the </a:t>
            </a:r>
            <a:r>
              <a:rPr lang="en-US" altLang="zh-TW" sz="2400" b="1" dirty="0"/>
              <a:t>loss function </a:t>
            </a:r>
            <a:r>
              <a:rPr lang="en-US" altLang="zh-TW" sz="2400" dirty="0"/>
              <a:t>as: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AFCAA78-5328-A355-C053-E9030D743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935" y="5206214"/>
            <a:ext cx="5252394" cy="110474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6F6EEC8-FB8C-438F-BD0B-7A4324465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4984" y="6158436"/>
            <a:ext cx="7800374" cy="673203"/>
          </a:xfrm>
          <a:prstGeom prst="rect">
            <a:avLst/>
          </a:prstGeom>
        </p:spPr>
      </p:pic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EB167F-CD3B-5CBA-7C9E-8936D600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3537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F90F17-557B-8DB0-3A6F-E4A1DB1D4944}"/>
              </a:ext>
            </a:extLst>
          </p:cNvPr>
          <p:cNvSpPr txBox="1"/>
          <p:nvPr/>
        </p:nvSpPr>
        <p:spPr>
          <a:xfrm>
            <a:off x="1850749" y="2828835"/>
            <a:ext cx="8490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200" b="1" dirty="0">
                <a:latin typeface="Century" panose="02040604050505020304" pitchFamily="18" charset="0"/>
              </a:rPr>
              <a:t>EXPERIMENT</a:t>
            </a:r>
            <a:endParaRPr lang="zh-TW" altLang="en-US" sz="36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35BCBFB-5D77-1C9D-3B4E-7C829E74E0E9}"/>
              </a:ext>
            </a:extLst>
          </p:cNvPr>
          <p:cNvSpPr txBox="1"/>
          <p:nvPr/>
        </p:nvSpPr>
        <p:spPr>
          <a:xfrm>
            <a:off x="4565068" y="4029164"/>
            <a:ext cx="306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PERIODIC RESIDUAL LEARNING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605104-638D-AB92-AA07-4A6E5A97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2407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Statistic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1987A3C-0F7B-CFCE-5AEE-A289C2A52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11" y="1175504"/>
            <a:ext cx="6467475" cy="2790825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23C142-7120-ADB5-15E1-EBF7EBC47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36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EDEBAB9-60F5-77CF-1D0C-E71A0BA82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85" y="4044950"/>
            <a:ext cx="6410325" cy="267652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043DAE3-D746-429D-43C8-20B381EA3F01}"/>
              </a:ext>
            </a:extLst>
          </p:cNvPr>
          <p:cNvSpPr txBox="1"/>
          <p:nvPr/>
        </p:nvSpPr>
        <p:spPr>
          <a:xfrm>
            <a:off x="7469221" y="1536174"/>
            <a:ext cx="47227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we use a dictionary to store a </a:t>
            </a:r>
            <a:r>
              <a:rPr lang="zh-TW" altLang="en-US" sz="2400" b="1" dirty="0"/>
              <a:t>default periodic value </a:t>
            </a:r>
            <a:r>
              <a:rPr lang="zh-TW" altLang="en-US" sz="2400" dirty="0"/>
              <a:t>for each time slot and use it to fill the </a:t>
            </a:r>
            <a:r>
              <a:rPr lang="zh-TW" altLang="en-US" sz="2400" b="1" dirty="0"/>
              <a:t>missing value</a:t>
            </a:r>
            <a:r>
              <a:rPr lang="zh-TW" altLang="en-US" sz="2400" dirty="0"/>
              <a:t>. 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We employ the last </a:t>
            </a:r>
            <a:r>
              <a:rPr lang="en-US" altLang="zh-TW" sz="2400" b="1" dirty="0"/>
              <a:t>20%</a:t>
            </a:r>
            <a:r>
              <a:rPr lang="en-US" altLang="zh-TW" sz="2400" dirty="0"/>
              <a:t> data as the </a:t>
            </a:r>
            <a:r>
              <a:rPr lang="en-US" altLang="zh-TW" sz="2400" b="1" dirty="0"/>
              <a:t>test set</a:t>
            </a:r>
            <a:r>
              <a:rPr lang="en-US" altLang="zh-TW" sz="2400" dirty="0"/>
              <a:t>, and randomly select the remaining </a:t>
            </a:r>
            <a:r>
              <a:rPr lang="en-US" altLang="zh-TW" sz="2400" b="1" dirty="0"/>
              <a:t>60%</a:t>
            </a:r>
            <a:r>
              <a:rPr lang="en-US" altLang="zh-TW" sz="2400" dirty="0"/>
              <a:t> data as the </a:t>
            </a:r>
            <a:r>
              <a:rPr lang="en-US" altLang="zh-TW" sz="2400" b="1" dirty="0"/>
              <a:t>training set</a:t>
            </a:r>
            <a:r>
              <a:rPr lang="en-US" altLang="zh-TW" sz="2400" dirty="0"/>
              <a:t> and </a:t>
            </a:r>
            <a:r>
              <a:rPr lang="en-US" altLang="zh-TW" sz="2400" b="1" dirty="0"/>
              <a:t>20%</a:t>
            </a:r>
            <a:r>
              <a:rPr lang="en-US" altLang="zh-TW" sz="2400" dirty="0"/>
              <a:t> as the </a:t>
            </a:r>
            <a:r>
              <a:rPr lang="en-US" altLang="zh-TW" sz="2400" b="1" dirty="0"/>
              <a:t>validation set</a:t>
            </a:r>
            <a:r>
              <a:rPr lang="en-US" altLang="zh-TW" sz="2400" dirty="0"/>
              <a:t>, respectively.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54159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Model Comparison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BE8D7BE-4EB5-E8E7-E8F7-8250BCFF7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1743"/>
            <a:ext cx="12192000" cy="5937434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873AF1A-8736-5286-B4E8-B47933A2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480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 err="1"/>
              <a:t>PRNet</a:t>
            </a:r>
            <a:r>
              <a:rPr lang="en-US" altLang="zh-TW" sz="3200" dirty="0"/>
              <a:t> In these Model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1F69D10-1546-B52E-6C5E-0F9C10F1E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51" y="1452991"/>
            <a:ext cx="7055797" cy="490335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6B61231-93D4-0B1D-E5C2-7EB685C4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38</a:t>
            </a:fld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ABEA5CF-4C99-31FB-05D7-54AAEDDA61BC}"/>
              </a:ext>
            </a:extLst>
          </p:cNvPr>
          <p:cNvSpPr txBox="1"/>
          <p:nvPr/>
        </p:nvSpPr>
        <p:spPr>
          <a:xfrm>
            <a:off x="8090170" y="1808825"/>
            <a:ext cx="35457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The proposed structure assists them to </a:t>
            </a:r>
            <a:r>
              <a:rPr lang="zh-TW" altLang="en-US" sz="2400" b="1" dirty="0"/>
              <a:t>reduce the MAE</a:t>
            </a:r>
            <a:r>
              <a:rPr lang="zh-TW" altLang="en-US" sz="2400" dirty="0"/>
              <a:t> by </a:t>
            </a:r>
            <a:r>
              <a:rPr lang="zh-TW" altLang="en-US" sz="2400" b="1" dirty="0"/>
              <a:t>14.77%, 10.52 %, 5.13%, </a:t>
            </a:r>
            <a:r>
              <a:rPr lang="zh-TW" altLang="en-US" sz="2400" dirty="0"/>
              <a:t>and to promote the robustness (i.e., </a:t>
            </a:r>
            <a:r>
              <a:rPr lang="zh-TW" altLang="en-US" sz="2400" b="1" dirty="0"/>
              <a:t>reduce the standard deviation</a:t>
            </a:r>
            <a:r>
              <a:rPr lang="zh-TW" altLang="en-US" sz="2400" dirty="0"/>
              <a:t>) by </a:t>
            </a:r>
            <a:r>
              <a:rPr lang="zh-TW" altLang="en-US" sz="2400" b="1" dirty="0"/>
              <a:t>76.92%, 80.25%, 63.64% </a:t>
            </a:r>
            <a:r>
              <a:rPr lang="zh-TW" altLang="en-US" sz="2400" dirty="0"/>
              <a:t>on average on TaxiBJ dataset. </a:t>
            </a:r>
          </a:p>
        </p:txBody>
      </p:sp>
    </p:spTree>
    <p:extLst>
      <p:ext uri="{BB962C8B-B14F-4D97-AF65-F5344CB8AC3E}">
        <p14:creationId xmlns:p14="http://schemas.microsoft.com/office/powerpoint/2010/main" val="761032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Ablation Studies of </a:t>
            </a:r>
            <a:r>
              <a:rPr lang="en-US" altLang="zh-TW" sz="3200" dirty="0" err="1"/>
              <a:t>PRNet</a:t>
            </a:r>
            <a:endParaRPr lang="zh-TW" altLang="en-US" sz="32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C21907F-E484-9103-DB7C-11AAAA744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30" y="1202786"/>
            <a:ext cx="7411042" cy="3310850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FB193D0-ECA5-1B4E-B379-430633EF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39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B4A9DFF-E041-4081-ABF9-3CA8474708F7}"/>
              </a:ext>
            </a:extLst>
          </p:cNvPr>
          <p:cNvSpPr txBox="1"/>
          <p:nvPr/>
        </p:nvSpPr>
        <p:spPr>
          <a:xfrm>
            <a:off x="7320780" y="1493480"/>
            <a:ext cx="4740614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u="sng" dirty="0"/>
              <a:t>SCE</a:t>
            </a:r>
            <a:r>
              <a:rPr lang="zh-TW" altLang="en-US" sz="2200" dirty="0"/>
              <a:t> adopts a </a:t>
            </a:r>
            <a:r>
              <a:rPr lang="zh-TW" altLang="en-US" sz="2200" b="1" dirty="0"/>
              <a:t>single SCE Encoder </a:t>
            </a:r>
            <a:r>
              <a:rPr lang="zh-TW" altLang="en-US" sz="2200" dirty="0"/>
              <a:t>to encode </a:t>
            </a:r>
            <a:r>
              <a:rPr lang="zh-TW" altLang="en-US" sz="2200" b="1" dirty="0"/>
              <a:t>the </a:t>
            </a:r>
            <a:r>
              <a:rPr lang="zh-TW" altLang="en-US" sz="2200" b="1" dirty="0">
                <a:solidFill>
                  <a:schemeClr val="accent1">
                    <a:lumMod val="75000"/>
                  </a:schemeClr>
                </a:solidFill>
              </a:rPr>
              <a:t>closeness</a:t>
            </a:r>
            <a:r>
              <a:rPr lang="zh-TW" altLang="en-US" sz="2200" b="1" dirty="0"/>
              <a:t>, </a:t>
            </a:r>
            <a:r>
              <a:rPr lang="zh-TW" altLang="en-US" sz="2200" b="1" dirty="0">
                <a:solidFill>
                  <a:srgbClr val="0070C0"/>
                </a:solidFill>
              </a:rPr>
              <a:t>periodic closeness</a:t>
            </a:r>
            <a:r>
              <a:rPr lang="zh-TW" altLang="en-US" sz="2200" b="1" dirty="0"/>
              <a:t>, and </a:t>
            </a:r>
            <a:r>
              <a:rPr lang="zh-TW" altLang="en-US" sz="2200" b="1" dirty="0">
                <a:solidFill>
                  <a:srgbClr val="CC6600"/>
                </a:solidFill>
              </a:rPr>
              <a:t>periodic predictions</a:t>
            </a:r>
            <a:r>
              <a:rPr lang="zh-TW" altLang="en-US" sz="2200" b="1" dirty="0"/>
              <a:t>, </a:t>
            </a:r>
            <a:r>
              <a:rPr lang="zh-TW" altLang="en-US" sz="2200" dirty="0"/>
              <a:t>which is equivalent to the </a:t>
            </a:r>
            <a:r>
              <a:rPr lang="zh-TW" altLang="en-US" sz="2200" b="1" dirty="0"/>
              <a:t>PRNet</a:t>
            </a:r>
            <a:r>
              <a:rPr lang="zh-TW" altLang="en-US" sz="2200" dirty="0"/>
              <a:t> </a:t>
            </a:r>
            <a:r>
              <a:rPr lang="zh-TW" altLang="en-US" sz="2200" b="1" dirty="0"/>
              <a:t>without</a:t>
            </a:r>
            <a:r>
              <a:rPr lang="zh-TW" altLang="en-US" sz="2200" dirty="0"/>
              <a:t> the </a:t>
            </a:r>
            <a:r>
              <a:rPr lang="zh-TW" altLang="en-US" sz="2200" b="1" dirty="0"/>
              <a:t>periodic residual learning</a:t>
            </a:r>
            <a:r>
              <a:rPr lang="zh-TW" altLang="en-US" sz="2200" dirty="0"/>
              <a:t> mechanism.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TW" alt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u="sng" dirty="0"/>
              <a:t>SCE w/o PC</a:t>
            </a:r>
            <a:r>
              <a:rPr lang="zh-TW" altLang="en-US" sz="2200" b="1" dirty="0"/>
              <a:t> </a:t>
            </a:r>
            <a:r>
              <a:rPr lang="zh-TW" altLang="en-US" sz="2200" dirty="0"/>
              <a:t>only adopts a single SCE Encoder to encode the </a:t>
            </a:r>
            <a:r>
              <a:rPr lang="zh-TW" altLang="en-US" sz="2200" b="1" dirty="0">
                <a:solidFill>
                  <a:schemeClr val="accent1">
                    <a:lumMod val="75000"/>
                  </a:schemeClr>
                </a:solidFill>
              </a:rPr>
              <a:t>closeness</a:t>
            </a:r>
            <a:r>
              <a:rPr lang="zh-TW" altLang="en-US" sz="2200" dirty="0"/>
              <a:t> and </a:t>
            </a:r>
            <a:r>
              <a:rPr lang="zh-TW" altLang="en-US" sz="2200" b="1" dirty="0">
                <a:solidFill>
                  <a:srgbClr val="CC6600"/>
                </a:solidFill>
              </a:rPr>
              <a:t>periodic predictions</a:t>
            </a:r>
            <a:r>
              <a:rPr lang="zh-TW" altLang="en-US" sz="2200" dirty="0"/>
              <a:t>. </a:t>
            </a:r>
            <a:endParaRPr lang="en-US" altLang="zh-TW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u="sng" dirty="0"/>
              <a:t>SCE w/o S</a:t>
            </a:r>
            <a:r>
              <a:rPr lang="zh-TW" altLang="en-US" sz="2200" dirty="0"/>
              <a:t> is SCE model </a:t>
            </a:r>
            <a:r>
              <a:rPr lang="zh-TW" altLang="en-US" sz="2200" b="1" dirty="0"/>
              <a:t>without</a:t>
            </a:r>
            <a:r>
              <a:rPr lang="zh-TW" altLang="en-US" sz="2200" dirty="0"/>
              <a:t> the </a:t>
            </a:r>
            <a:r>
              <a:rPr lang="zh-TW" altLang="en-US" sz="2200" b="1" dirty="0"/>
              <a:t>Spatial Enhance Module (SEM)</a:t>
            </a:r>
            <a:r>
              <a:rPr lang="zh-TW" altLang="en-US" sz="2200" dirty="0"/>
              <a:t>. </a:t>
            </a:r>
          </a:p>
          <a:p>
            <a:endParaRPr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0E57E4-DE92-0035-D5FE-92E584D9EC6F}"/>
              </a:ext>
            </a:extLst>
          </p:cNvPr>
          <p:cNvSpPr txBox="1"/>
          <p:nvPr/>
        </p:nvSpPr>
        <p:spPr>
          <a:xfrm>
            <a:off x="652471" y="4316386"/>
            <a:ext cx="66569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u="sng" dirty="0"/>
              <a:t>w/o R</a:t>
            </a:r>
            <a:r>
              <a:rPr lang="zh-TW" altLang="en-US" sz="2200" dirty="0"/>
              <a:t> is </a:t>
            </a:r>
            <a:r>
              <a:rPr lang="zh-TW" altLang="en-US" sz="2200" b="1" dirty="0"/>
              <a:t>PRNet without the residual learning module</a:t>
            </a:r>
            <a:r>
              <a:rPr lang="zh-TW" altLang="en-US" sz="2200" dirty="0"/>
              <a:t>, which utilizes seven shared parameters SCE Encoders to encode seven observed segments.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TW" alt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200" b="1" u="sng" dirty="0"/>
              <a:t>w</a:t>
            </a:r>
            <a:r>
              <a:rPr lang="zh-TW" altLang="en-US" sz="2200" dirty="0"/>
              <a:t> abs uses PRNet to predict the </a:t>
            </a:r>
            <a:r>
              <a:rPr lang="zh-TW" altLang="en-US" sz="2200" b="1" dirty="0"/>
              <a:t>absolute values </a:t>
            </a:r>
            <a:r>
              <a:rPr lang="zh-TW" altLang="en-US" sz="2200" dirty="0"/>
              <a:t>rather than residuals.</a:t>
            </a:r>
          </a:p>
        </p:txBody>
      </p:sp>
    </p:spTree>
    <p:extLst>
      <p:ext uri="{BB962C8B-B14F-4D97-AF65-F5344CB8AC3E}">
        <p14:creationId xmlns:p14="http://schemas.microsoft.com/office/powerpoint/2010/main" val="36282056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Ablation Results</a:t>
            </a:r>
            <a:endParaRPr lang="zh-TW" altLang="en-US" sz="3200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FB193D0-ECA5-1B4E-B379-430633EFE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40</a:t>
            </a:fld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E2777C4-D3E9-2C99-BD03-701133077CD0}"/>
              </a:ext>
            </a:extLst>
          </p:cNvPr>
          <p:cNvSpPr txBox="1"/>
          <p:nvPr/>
        </p:nvSpPr>
        <p:spPr>
          <a:xfrm>
            <a:off x="1014920" y="881743"/>
            <a:ext cx="103388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/>
              <a:t>According to the results shown in Table 7, we can observe that:</a:t>
            </a:r>
            <a:endParaRPr lang="en-US" altLang="zh-TW" sz="2400" dirty="0"/>
          </a:p>
          <a:p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1) </a:t>
            </a:r>
            <a:r>
              <a:rPr lang="en-US" altLang="zh-TW" sz="2400" b="1" dirty="0"/>
              <a:t>Periodic closeness </a:t>
            </a:r>
            <a:r>
              <a:rPr lang="en-US" altLang="zh-TW" sz="2400" dirty="0"/>
              <a:t>is important in prediction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2) </a:t>
            </a:r>
            <a:r>
              <a:rPr lang="en-US" altLang="zh-TW" sz="2400" b="1" dirty="0"/>
              <a:t>Residual learning </a:t>
            </a:r>
            <a:r>
              <a:rPr lang="en-US" altLang="zh-TW" sz="2400" dirty="0"/>
              <a:t>is </a:t>
            </a:r>
            <a:r>
              <a:rPr lang="en-US" altLang="zh-TW" sz="2400" b="1" dirty="0"/>
              <a:t>essential</a:t>
            </a:r>
            <a:r>
              <a:rPr lang="en-US" altLang="zh-TW" sz="2400" dirty="0"/>
              <a:t> for our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3) </a:t>
            </a:r>
            <a:r>
              <a:rPr lang="en-US" altLang="zh-TW" sz="2400" b="1" dirty="0"/>
              <a:t>Enhancing spatial information </a:t>
            </a:r>
            <a:r>
              <a:rPr lang="en-US" altLang="zh-TW" sz="2400" dirty="0"/>
              <a:t>boosts model performance.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r>
              <a:rPr lang="en-US" altLang="zh-TW" sz="2400" dirty="0"/>
              <a:t>		-  Our </a:t>
            </a:r>
            <a:r>
              <a:rPr lang="en-US" altLang="zh-TW" sz="2400" b="1" dirty="0"/>
              <a:t>SEM</a:t>
            </a:r>
            <a:r>
              <a:rPr lang="en-US" altLang="zh-TW" sz="2400" dirty="0"/>
              <a:t> provides the most </a:t>
            </a:r>
            <a:r>
              <a:rPr lang="en-US" altLang="zh-TW" sz="2400" b="1" dirty="0"/>
              <a:t>salient features </a:t>
            </a:r>
            <a:r>
              <a:rPr lang="en-US" altLang="zh-TW" sz="2400" dirty="0"/>
              <a:t>based on city-scale grids, 			which further promotes </a:t>
            </a:r>
            <a:r>
              <a:rPr lang="en-US" altLang="zh-TW" sz="2400" b="1" dirty="0"/>
              <a:t>model performance</a:t>
            </a:r>
            <a:r>
              <a:rPr lang="en-US" altLang="zh-TW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/>
              <a:t>4) </a:t>
            </a:r>
            <a:r>
              <a:rPr lang="en-US" altLang="zh-TW" sz="2400" b="1" dirty="0"/>
              <a:t>Predicting the residual </a:t>
            </a:r>
            <a:r>
              <a:rPr lang="en-US" altLang="zh-TW" sz="2400" dirty="0"/>
              <a:t>instead of </a:t>
            </a:r>
            <a:r>
              <a:rPr lang="en-US" altLang="zh-TW" sz="2400" b="1" dirty="0"/>
              <a:t>absolute values </a:t>
            </a:r>
            <a:r>
              <a:rPr lang="en-US" altLang="zh-TW" sz="2400" dirty="0"/>
              <a:t>leads to noticeable improvement, which proves our assumption about </a:t>
            </a:r>
            <a:r>
              <a:rPr lang="en-US" altLang="zh-TW" sz="2400" b="1" dirty="0"/>
              <a:t>learning residual </a:t>
            </a:r>
            <a:r>
              <a:rPr lang="en-US" altLang="zh-TW" sz="2400" dirty="0"/>
              <a:t>is </a:t>
            </a:r>
            <a:r>
              <a:rPr lang="en-US" altLang="zh-TW" sz="2400" b="1" dirty="0"/>
              <a:t>much easier</a:t>
            </a:r>
            <a:r>
              <a:rPr lang="en-US" altLang="zh-TW" sz="2400" dirty="0"/>
              <a:t>. 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67779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Effects of Hyperparameters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E30C6ED-729A-CC8E-7D23-3F6B36146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624" y="956208"/>
            <a:ext cx="5558750" cy="576526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295626F-2300-B9BC-54A9-150FECD9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5218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Prediction Results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3D5AC5E-6E5E-7A3C-1FD3-003AADD3B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141" y="1184706"/>
            <a:ext cx="8759718" cy="536200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98F3FBB-1E50-A0F0-CB2B-F098656F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7547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924045D-A643-1CF1-2646-107AA0FC2F72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 Strategy</a:t>
            </a:r>
            <a:endParaRPr lang="zh-TW" altLang="en-US" sz="3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F3BFCC-0906-52F0-4BF4-7719C6BAE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452" y="1102871"/>
            <a:ext cx="9471093" cy="5338253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A2EF7A7-E53B-F0BC-30C7-44E6FC554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6745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0CB1747-DEDD-DAA2-C7B2-0AF928BF5130}"/>
              </a:ext>
            </a:extLst>
          </p:cNvPr>
          <p:cNvSpPr txBox="1"/>
          <p:nvPr/>
        </p:nvSpPr>
        <p:spPr>
          <a:xfrm>
            <a:off x="1162146" y="1154331"/>
            <a:ext cx="1056344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We devise a simple yet effective periodic residual learning structure that learns the periodic residual at each time interval to improve the accuracy of multi-step ahead prediction. This structure can be easily integrated into existing models. </a:t>
            </a:r>
          </a:p>
          <a:p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We introduce a lightweight Spatial-Channel Enhanced (SCE) Encoder to better capture global </a:t>
            </a:r>
            <a:r>
              <a:rPr lang="en-US" altLang="zh-TW" sz="2400" dirty="0" err="1"/>
              <a:t>spatio</a:t>
            </a:r>
            <a:r>
              <a:rPr lang="en-US" altLang="zh-TW" sz="2400" dirty="0"/>
              <a:t>-temporal dependencies.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dirty="0"/>
              <a:t>Experiments on two real-world datasets demonstrate that </a:t>
            </a:r>
            <a:r>
              <a:rPr lang="en-US" altLang="zh-TW" sz="2400" dirty="0" err="1"/>
              <a:t>PRNet</a:t>
            </a:r>
            <a:r>
              <a:rPr lang="en-US" altLang="zh-TW" sz="2400" dirty="0"/>
              <a:t> surpasses the state-of-the-art approaches in long-term predictions. We also show that the periodic residual learning structure brings significant improvements in performance for existing models, especially under the small data budget.</a:t>
            </a:r>
            <a:endParaRPr lang="zh-TW" altLang="en-US" sz="2400" dirty="0"/>
          </a:p>
          <a:p>
            <a:pPr marL="342900" indent="-342900">
              <a:buAutoNum type="arabicParenR"/>
            </a:pPr>
            <a:endParaRPr lang="en-US" altLang="zh-TW" dirty="0"/>
          </a:p>
          <a:p>
            <a:pPr marL="342900" indent="-342900">
              <a:buAutoNum type="arabicParenR"/>
            </a:pP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A10E1EA-3915-14BF-3DED-045F56CD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44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3455C7-A9FA-A590-E42B-E836C59E66A7}"/>
              </a:ext>
            </a:extLst>
          </p:cNvPr>
          <p:cNvSpPr/>
          <p:nvPr/>
        </p:nvSpPr>
        <p:spPr>
          <a:xfrm>
            <a:off x="-1" y="0"/>
            <a:ext cx="12192000" cy="881743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/>
              <a:t> Summary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330650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BF90F17-557B-8DB0-3A6F-E4A1DB1D4944}"/>
              </a:ext>
            </a:extLst>
          </p:cNvPr>
          <p:cNvSpPr txBox="1"/>
          <p:nvPr/>
        </p:nvSpPr>
        <p:spPr>
          <a:xfrm>
            <a:off x="1850749" y="2828835"/>
            <a:ext cx="8490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7200" b="1" dirty="0">
                <a:latin typeface="Century" panose="02040604050505020304" pitchFamily="18" charset="0"/>
              </a:rPr>
              <a:t>IN THE END</a:t>
            </a:r>
            <a:endParaRPr lang="zh-TW" altLang="en-US" sz="36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35BCBFB-5D77-1C9D-3B4E-7C829E74E0E9}"/>
              </a:ext>
            </a:extLst>
          </p:cNvPr>
          <p:cNvSpPr txBox="1"/>
          <p:nvPr/>
        </p:nvSpPr>
        <p:spPr>
          <a:xfrm>
            <a:off x="4565068" y="4029164"/>
            <a:ext cx="306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PERIODIC RESIDUAL LEARNING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605104-638D-AB92-AA07-4A6E5A97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FF638-4A32-438B-A35A-42042C876117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8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紫蘿蘭色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7632</TotalTime>
  <Words>2526</Words>
  <Application>Microsoft Office PowerPoint</Application>
  <PresentationFormat>寬螢幕</PresentationFormat>
  <Paragraphs>268</Paragraphs>
  <Slides>45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Century</vt:lpstr>
      <vt:lpstr>Wingdings</vt:lpstr>
      <vt:lpstr>Office 佈景主題</vt:lpstr>
      <vt:lpstr>Periodic Residual Learning for Crowd Flow Forecasting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Periodic Residual Learning for Crowd Flow Forecasting</dc:title>
  <dc:creator>張汶煜</dc:creator>
  <cp:lastModifiedBy>張汶煜</cp:lastModifiedBy>
  <cp:revision>51</cp:revision>
  <dcterms:created xsi:type="dcterms:W3CDTF">2023-02-13T09:53:15Z</dcterms:created>
  <dcterms:modified xsi:type="dcterms:W3CDTF">2023-03-20T09:53:34Z</dcterms:modified>
</cp:coreProperties>
</file>