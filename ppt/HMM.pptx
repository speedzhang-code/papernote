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256" r:id="rId3"/>
    <p:sldId id="275" r:id="rId4"/>
    <p:sldId id="258" r:id="rId5"/>
    <p:sldId id="261" r:id="rId6"/>
    <p:sldId id="262" r:id="rId7"/>
    <p:sldId id="263" r:id="rId8"/>
    <p:sldId id="267" r:id="rId9"/>
    <p:sldId id="264" r:id="rId10"/>
    <p:sldId id="276" r:id="rId11"/>
    <p:sldId id="268" r:id="rId12"/>
    <p:sldId id="269" r:id="rId13"/>
    <p:sldId id="274" r:id="rId14"/>
    <p:sldId id="271" r:id="rId15"/>
    <p:sldId id="277" r:id="rId16"/>
    <p:sldId id="273" r:id="rId17"/>
    <p:sldId id="280" r:id="rId18"/>
    <p:sldId id="278" r:id="rId19"/>
    <p:sldId id="279" r:id="rId20"/>
    <p:sldId id="281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7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BAC4B09-BF5D-168C-F053-797DC4FA00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40F1CE4-AF20-4972-16ED-49D39614F8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4A917-6F92-4B8E-8C22-CF577EBE867C}" type="datetimeFigureOut">
              <a:rPr lang="zh-TW" altLang="en-US" smtClean="0"/>
              <a:t>2023/5/10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9165FFF-294D-65D0-E4FB-4997AEF228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6F0051-EE72-43F2-FDF6-4455A852ED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33C3A-C565-416C-820A-CC91C14A63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71452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E2F73-76D6-4EF3-8410-33ABDDE4C99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60251-D3A6-480E-9F34-C6ADF35213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81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https://blog.csdn.net/deephub/article/details/121807552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88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https://zh.wikipedia.org/zh-tw/%E6%8C%87%E6%95%B0%E5%88%86%E5%B8%83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497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https://ckmarkoh.github.io/blog/2014/04/06/natural-language-processing-viterbi-algorithm/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95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https://ckmarkoh.github.io/blog/2014/04/06/natural-language-processing-viterbi-algorithm/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219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5936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https://zhtw.eferrit.com/%E6%8C%87%E6%95%B8%E5%88%86%E4%BD%88medians/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63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735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0251-D3A6-480E-9F34-C6ADF352134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74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1B340-60F5-B661-8B45-44687109A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CDFE4A-8643-B1A1-50F7-27A555E81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690A15-1008-6451-1D0A-DF5FBC2C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7C862-1CB0-428D-AE17-85E84EE9B0DB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2AD72F-3667-FEEE-C792-B37AF344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426927-772C-31B7-B79E-33C7B612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037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E54211-3D34-D1A8-2347-B9F4C9BE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9315E-8FDA-89C9-187E-F7E55FA0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80E37-7117-92BE-44FF-FABD87BF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6A9C2-3199-42D2-9B3A-F3986E778E51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86EBAE-92EA-9134-BBB9-F91AC2E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A0371D-FCC2-75FA-11C4-3ABB4A18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433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48E89-229B-DD5E-755E-4D53C846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04ED75-A9CD-F98B-8280-0E22FCF2C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1CA9D8-1EE7-A4BC-9D8C-1781BBBA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3C64-65A4-48E1-904F-1CB54BE2EF4A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F856EE-964D-6CD7-AF57-E51EE826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E75C6D-EC26-B46B-0EBA-99F9DC03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52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E67F5-F4CE-B2C6-DB64-6A1C8459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8A80DA-B829-959F-B6E0-5585203B5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E169F9-FC5A-D2E7-D0BE-768626430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50B9FE-3916-76C2-4508-CDCA7FA4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4FD55-91A6-44D5-A2CA-7B33279CADA1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8023C2-DA1B-13B8-07DE-D0345271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CAABB5-E0CF-C326-752A-A4195ACF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53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F3DEFE-D494-0C3D-E6B5-7E1B5A47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4C9B54-8A01-59DC-9E65-21BFF761C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A30C15-491F-0EAF-777E-979FA8EBE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24B0C81-5CB4-E683-3B91-A84328121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91B899C-01E9-EAD4-CCF0-3D813F9DF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60BCE3A-239F-CE71-D59D-F5152DF4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01D1-B90B-4753-9375-9655A72105DC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76200DE-6B7D-8F56-951B-9E4C7B29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2F58993-CA66-6B2E-3917-09E7E531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16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8A746-12BB-BAEA-B13E-C3297CEE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7D1EAD6-89A0-17CB-128F-D9E139B1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607A-C19F-4D6B-981D-E5D6B9206FEB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BEE99E-766E-067D-FCBD-361D12FF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AF3698-79C9-055C-D9E8-B0A56B3C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59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70BCAE7-375D-820A-01C5-EEDCA1D4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BF5B-5B56-4627-9E7B-E3369DFDD268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EBCCF5-5008-2ED2-C98D-1B68310A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4CCA8A-7FFA-81A9-FBF4-D1EFAB6D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412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3243C-88EA-FA9D-1055-DA9F4CD3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30AB31-FB86-97DD-F5D8-9B5E7C99D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323335-AE32-10D6-8A09-4D7D64386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14AF9C-7CC3-E3E1-057A-07B65174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2A93B-A9AD-4762-9B0F-76B1CF928117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826BE7-30A7-E626-00CB-B620A8E6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84A08-3218-86A7-62BF-48C90D37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24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241678-3942-609F-1171-EE272285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9389B0B-F4A1-998F-C47C-B71A273F8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4ED9442-5396-3FD0-32F6-6D9A327A2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00029E-30DD-DDC3-8AE1-E9B52050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CCA-3864-47FA-9D4C-909728A093C1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07B85F-9829-0C2F-5795-457C3D5F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DC74E8-BE8F-CC83-0792-D34C9FF4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29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3CC318-32B4-C9A3-4003-FB217A09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D88971-F02D-9C33-35AA-E55FBBD57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C64C0D-57FF-FDBC-F900-366AF366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0F51-65CB-4671-9A5C-EA2A7CA24EA8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9AB633-1F06-3E98-3D3B-55E5BD73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7F9926-CA7F-C73E-1C9E-EADE3A67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42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F27DBA-A2FD-F9C7-0671-DE841C21B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536F2A-3FAC-E5E7-8A14-CB8167BD6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77173C-F194-B646-F3F1-3D71C48E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B64B-1ABB-4930-B6DD-2A06FE4C6DC1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0F40D6-A53B-C148-44BD-8D3908DE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1004CD-D0E3-5A45-3590-6F72D067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59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EFE38E1-F355-6A70-4D3F-98BD5B24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C8CF89-7DC4-51A3-5808-2B262CE9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76D721-D99F-A190-0685-DF9F4E9B0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72BA4-668E-4C2F-829E-BA77A74C7EB2}" type="datetime1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EF87AE-DCB8-98C4-1192-392174891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2FC0B2-3BA0-5F98-F8D3-CD61CF056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EF5B-398F-4547-AB0F-CE070E7679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75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4E4C24B-4668-4E90-52F4-319667096462}"/>
              </a:ext>
            </a:extLst>
          </p:cNvPr>
          <p:cNvSpPr txBox="1"/>
          <p:nvPr/>
        </p:nvSpPr>
        <p:spPr>
          <a:xfrm>
            <a:off x="1265381" y="1593334"/>
            <a:ext cx="96612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 Markov Map Matching  Through Noise and Sparseness</a:t>
            </a:r>
            <a:endParaRPr lang="zh-TW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1CB864-3355-CA72-1544-79005D1B8ED6}"/>
              </a:ext>
            </a:extLst>
          </p:cNvPr>
          <p:cNvSpPr txBox="1"/>
          <p:nvPr/>
        </p:nvSpPr>
        <p:spPr>
          <a:xfrm>
            <a:off x="609991" y="6040400"/>
            <a:ext cx="11302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Paul Newson and John Krumm. 2009</a:t>
            </a:r>
            <a:r>
              <a:rPr lang="en-US" altLang="zh-TW" dirty="0"/>
              <a:t>. “Hidden </a:t>
            </a:r>
            <a:r>
              <a:rPr lang="en-US" altLang="zh-TW" dirty="0" err="1"/>
              <a:t>markov</a:t>
            </a:r>
            <a:r>
              <a:rPr lang="en-US" altLang="zh-TW" dirty="0"/>
              <a:t> map matching through noise and sparseness”. In Proceedings of the 17th ACM SIGSPATIAL international conference on advances in geographic information systems, 336–343.</a:t>
            </a:r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897A45-A469-DA77-8551-AB509E734B02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69337E-8D2A-E8C0-C849-CF0757EDF840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5172ED-2E94-ED34-F52C-3D130862BE49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79834-0601-DD64-B84E-D5998AB7AD9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半框架 28">
            <a:extLst>
              <a:ext uri="{FF2B5EF4-FFF2-40B4-BE49-F238E27FC236}">
                <a16:creationId xmlns:a16="http://schemas.microsoft.com/office/drawing/2014/main" id="{645FA742-C289-1CDF-BF30-F0022CFFE386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半框架 29">
            <a:extLst>
              <a:ext uri="{FF2B5EF4-FFF2-40B4-BE49-F238E27FC236}">
                <a16:creationId xmlns:a16="http://schemas.microsoft.com/office/drawing/2014/main" id="{AD22ACA2-B3EA-91B3-FA9B-8FEA84DBF351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半框架 30">
            <a:extLst>
              <a:ext uri="{FF2B5EF4-FFF2-40B4-BE49-F238E27FC236}">
                <a16:creationId xmlns:a16="http://schemas.microsoft.com/office/drawing/2014/main" id="{1FD0E0BA-4219-CA99-041B-4598BC27460C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2" name="半框架 31">
            <a:extLst>
              <a:ext uri="{FF2B5EF4-FFF2-40B4-BE49-F238E27FC236}">
                <a16:creationId xmlns:a16="http://schemas.microsoft.com/office/drawing/2014/main" id="{C540B621-2193-B149-4792-61E63FD502B0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4" name="投影片編號版面配置區 33">
            <a:extLst>
              <a:ext uri="{FF2B5EF4-FFF2-40B4-BE49-F238E27FC236}">
                <a16:creationId xmlns:a16="http://schemas.microsoft.com/office/drawing/2014/main" id="{EF6D786B-64C2-FBC3-02FF-92AFE78E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18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B99053-4677-1C29-0AAA-DB06D9172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319087"/>
            <a:ext cx="4991100" cy="621982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116467-6BED-DE2F-E2D0-F3D1480EABEB}"/>
              </a:ext>
            </a:extLst>
          </p:cNvPr>
          <p:cNvSpPr txBox="1"/>
          <p:nvPr/>
        </p:nvSpPr>
        <p:spPr>
          <a:xfrm>
            <a:off x="665018" y="57733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MAP Matching </a:t>
            </a:r>
          </a:p>
          <a:p>
            <a:r>
              <a:rPr lang="en-US" altLang="zh-TW" sz="3200" b="1" dirty="0"/>
              <a:t>Problem:</a:t>
            </a:r>
            <a:endParaRPr lang="zh-TW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DD9E83-05CE-7A77-14CF-464E65F81124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A43F17-F6D0-2DD1-D5A2-E15279A79789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F167F6-B854-7659-3BBB-7DDC85BF563D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237E28-D307-0BC5-9A5C-1F485BB9F00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半框架 15">
            <a:extLst>
              <a:ext uri="{FF2B5EF4-FFF2-40B4-BE49-F238E27FC236}">
                <a16:creationId xmlns:a16="http://schemas.microsoft.com/office/drawing/2014/main" id="{78AC964D-6F66-8941-D4CA-244ACFB6AEB7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CC959B56-732B-40A8-362A-CD8349831C94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9F3B222E-8A41-5BC9-124A-F1901EC83D67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D46CE211-AF95-C8D7-5A15-5F6F0BAD1470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E8B05F8B-1CE1-4C6D-8EF8-3518B246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707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FC8A699-3292-CDE0-B14D-DBDCB11DD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33" y="1314450"/>
            <a:ext cx="5257800" cy="51435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EB94DA0-AA49-8FAE-606C-1AD0F60B8C57}"/>
              </a:ext>
            </a:extLst>
          </p:cNvPr>
          <p:cNvSpPr txBox="1"/>
          <p:nvPr/>
        </p:nvSpPr>
        <p:spPr>
          <a:xfrm>
            <a:off x="6183969" y="951978"/>
            <a:ext cx="55865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In our map matching algorithm, the </a:t>
            </a:r>
            <a:r>
              <a:rPr lang="zh-TW" altLang="en-US" sz="2400" b="1" dirty="0"/>
              <a:t>states </a:t>
            </a:r>
            <a:r>
              <a:rPr lang="zh-TW" altLang="en-US" sz="2400" dirty="0"/>
              <a:t>of the </a:t>
            </a:r>
            <a:r>
              <a:rPr lang="zh-TW" altLang="en-US" sz="2400" b="1" dirty="0"/>
              <a:t>HMM </a:t>
            </a:r>
            <a:r>
              <a:rPr lang="zh-TW" altLang="en-US" sz="2400" dirty="0"/>
              <a:t>are the</a:t>
            </a:r>
            <a:r>
              <a:rPr lang="en-US" altLang="zh-TW" sz="2400" dirty="0"/>
              <a:t> I</a:t>
            </a:r>
            <a:r>
              <a:rPr lang="zh-TW" altLang="en-US" sz="2400" dirty="0"/>
              <a:t>ndivdual </a:t>
            </a:r>
            <a:r>
              <a:rPr lang="zh-TW" altLang="en-US" sz="2400" b="1" dirty="0"/>
              <a:t>road segments, </a:t>
            </a:r>
            <a:r>
              <a:rPr lang="zh-TW" altLang="en-US" sz="2400" dirty="0"/>
              <a:t>and the state measurements are the </a:t>
            </a:r>
            <a:r>
              <a:rPr lang="zh-TW" altLang="en-US" sz="2400" b="1" dirty="0"/>
              <a:t>noisy vehicle location </a:t>
            </a:r>
            <a:r>
              <a:rPr lang="zh-TW" altLang="en-US" sz="2400" dirty="0"/>
              <a:t>measurements. The goal is </a:t>
            </a:r>
            <a:r>
              <a:rPr lang="en-US" altLang="zh-TW" sz="2400" dirty="0"/>
              <a:t>t</a:t>
            </a:r>
            <a:r>
              <a:rPr lang="zh-TW" altLang="en-US" sz="2400" dirty="0"/>
              <a:t>o </a:t>
            </a:r>
            <a:r>
              <a:rPr lang="zh-TW" altLang="en-US" sz="2400" b="1" dirty="0"/>
              <a:t>match each</a:t>
            </a:r>
            <a:r>
              <a:rPr lang="en-US" altLang="zh-TW" sz="2400" b="1" dirty="0"/>
              <a:t> </a:t>
            </a:r>
            <a:r>
              <a:rPr lang="zh-TW" altLang="en-US" sz="2400" b="1" dirty="0"/>
              <a:t>location </a:t>
            </a:r>
            <a:r>
              <a:rPr lang="zh-TW" altLang="en-US" sz="2400" dirty="0"/>
              <a:t>measurement with the proper </a:t>
            </a:r>
            <a:r>
              <a:rPr lang="en-US" altLang="zh-TW" sz="2400" b="1" dirty="0"/>
              <a:t>r</a:t>
            </a:r>
            <a:r>
              <a:rPr lang="zh-TW" altLang="en-US" sz="2400" b="1" dirty="0"/>
              <a:t>oad segment</a:t>
            </a:r>
            <a:r>
              <a:rPr lang="zh-TW" altLang="en-US" sz="2400" dirty="0"/>
              <a:t>. 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More formally, the discrete </a:t>
            </a:r>
            <a:r>
              <a:rPr lang="en-US" altLang="zh-TW" sz="2400" dirty="0"/>
              <a:t>s</a:t>
            </a:r>
            <a:r>
              <a:rPr lang="zh-TW" altLang="en-US" sz="2400" dirty="0"/>
              <a:t>tates of the </a:t>
            </a:r>
            <a:r>
              <a:rPr lang="zh-TW" altLang="en-US" sz="2400" b="1" dirty="0"/>
              <a:t>HMM </a:t>
            </a:r>
            <a:r>
              <a:rPr lang="zh-TW" altLang="en-US" sz="2400" dirty="0"/>
              <a:t>are the </a:t>
            </a:r>
            <a:r>
              <a:rPr lang="zh-TW" altLang="en-US" sz="2800" b="1" dirty="0"/>
              <a:t>𝑁</a:t>
            </a:r>
            <a:r>
              <a:rPr lang="zh-TW" altLang="en-US" sz="2800" b="1" baseline="-25000" dirty="0"/>
              <a:t>𝑟 </a:t>
            </a:r>
            <a:r>
              <a:rPr lang="zh-TW" altLang="en-US" sz="2400" dirty="0"/>
              <a:t>road segments, </a:t>
            </a:r>
            <a:r>
              <a:rPr lang="zh-TW" altLang="en-US" sz="2800" b="1" dirty="0"/>
              <a:t>𝑟</a:t>
            </a:r>
            <a:r>
              <a:rPr lang="zh-TW" altLang="en-US" sz="2800" b="1" baseline="-25000" dirty="0"/>
              <a:t>𝑖  </a:t>
            </a:r>
            <a:r>
              <a:rPr lang="zh-TW" altLang="en-US" sz="2400" dirty="0"/>
              <a:t>,  </a:t>
            </a:r>
            <a:r>
              <a:rPr lang="zh-TW" altLang="en-US" sz="2400" b="1" dirty="0"/>
              <a:t>𝑖 = </a:t>
            </a:r>
            <a:r>
              <a:rPr lang="en-US" altLang="zh-TW" sz="2400" b="1" dirty="0"/>
              <a:t>{</a:t>
            </a:r>
            <a:r>
              <a:rPr lang="zh-TW" altLang="en-US" sz="2400" b="1" dirty="0"/>
              <a:t>1 … 𝑁</a:t>
            </a:r>
            <a:r>
              <a:rPr lang="zh-TW" altLang="en-US" sz="2400" b="1" baseline="-25000" dirty="0"/>
              <a:t>𝑟 </a:t>
            </a:r>
            <a:r>
              <a:rPr lang="en-US" altLang="zh-TW" sz="2400" b="1" dirty="0"/>
              <a:t>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For each </a:t>
            </a:r>
            <a:r>
              <a:rPr lang="zh-TW" altLang="en-US" sz="2400" b="1" dirty="0"/>
              <a:t>2D latitude/longitude </a:t>
            </a:r>
            <a:r>
              <a:rPr lang="zh-TW" altLang="en-US" sz="2400" dirty="0"/>
              <a:t>location measurement  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 </a:t>
            </a:r>
            <a:r>
              <a:rPr lang="en-US" altLang="zh-TW" sz="2400" b="1" baseline="-25000" dirty="0"/>
              <a:t>.</a:t>
            </a:r>
            <a:endParaRPr lang="zh-TW" altLang="en-US" sz="24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BA6D07-DA3E-FFDB-FB1C-16A59180B37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HMM MAP MATCHING:</a:t>
            </a:r>
            <a:endParaRPr lang="zh-TW" altLang="en-US" sz="3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8EB793-4543-B66C-C88C-2D4DE93DAC6B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0F2687-ADFC-E179-2AB3-5019784B10EC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E4645-BA81-CA0E-D3D3-CA062061EAD9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2593FE-4EAD-FBE5-82ED-433C2E4A3C36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2340F85C-3A89-712C-2EE3-C33EC57D7469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F1357AEF-0C7B-86A0-70A6-197766FBDB70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5AA135FC-854B-9294-ADF7-6825DCB7CD6A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30EFD765-850D-ECB4-C574-CF34846B6D25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E9533264-8971-1B62-250E-269FA386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754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FC8A699-3292-CDE0-B14D-DBDCB11DD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33" y="1314450"/>
            <a:ext cx="5257800" cy="51435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EB94DA0-AA49-8FAE-606C-1AD0F60B8C57}"/>
              </a:ext>
            </a:extLst>
          </p:cNvPr>
          <p:cNvSpPr txBox="1"/>
          <p:nvPr/>
        </p:nvSpPr>
        <p:spPr>
          <a:xfrm>
            <a:off x="6183969" y="951978"/>
            <a:ext cx="55865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/>
              <a:t>Figure 3</a:t>
            </a:r>
            <a:r>
              <a:rPr lang="zh-TW" altLang="en-US" sz="2400" dirty="0"/>
              <a:t> shows an illustration of the </a:t>
            </a:r>
            <a:r>
              <a:rPr lang="zh-TW" altLang="en-US" sz="2400" b="1" dirty="0"/>
              <a:t>HMM</a:t>
            </a:r>
            <a:r>
              <a:rPr lang="zh-TW" altLang="en-US" sz="2400" dirty="0"/>
              <a:t> for the map matching illustrated in  </a:t>
            </a:r>
            <a:r>
              <a:rPr lang="zh-TW" altLang="en-US" sz="2400" b="1" dirty="0"/>
              <a:t>Figure 1</a:t>
            </a:r>
            <a:r>
              <a:rPr lang="zh-TW" altLang="en-US" sz="2400" dirty="0"/>
              <a:t>. Here, each  vertical slice represents a point in time corresponding to a location  measurement 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 </a:t>
            </a:r>
            <a:r>
              <a:rPr lang="zh-TW" altLang="en-US" sz="2400" dirty="0"/>
              <a:t>for the three times </a:t>
            </a:r>
            <a:r>
              <a:rPr lang="zh-TW" altLang="en-US" sz="2400" b="1" dirty="0"/>
              <a:t>𝑡 = 1, 2, 3</a:t>
            </a:r>
            <a:r>
              <a:rPr lang="zh-TW" altLang="en-US" sz="2400" dirty="0"/>
              <a:t>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 do not consider matching to road Segments that are quite distant from the measurement. In our algorithm, we </a:t>
            </a:r>
            <a:r>
              <a:rPr lang="en-US" altLang="zh-TW" sz="2400" b="1" dirty="0"/>
              <a:t>set to zero </a:t>
            </a:r>
            <a:r>
              <a:rPr lang="en-US" altLang="zh-TW" sz="2400" dirty="0"/>
              <a:t>any measurement probability from a road segment that is more than </a:t>
            </a:r>
            <a:r>
              <a:rPr lang="en-US" altLang="zh-TW" sz="2400" b="1" dirty="0"/>
              <a:t>200 meters away from 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</a:t>
            </a:r>
            <a:r>
              <a:rPr lang="en-US" altLang="zh-TW" sz="2400" dirty="0"/>
              <a:t>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BA6D07-DA3E-FFDB-FB1C-16A59180B37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HMM MAP MATCHING:</a:t>
            </a:r>
            <a:endParaRPr lang="zh-TW" altLang="en-US" sz="3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534A10-A489-F147-1D8C-E24D99FEB6A1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F0FA7E-8E5A-7E4F-C1F4-F620AACBA7AE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6425F5-B8CB-FF22-3D9C-4221903D6EFD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00AFE0-638C-BBCF-3DD8-DED762A9BF7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661D44DE-D8A1-8B33-0D64-5203BBD356D2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415EB6A3-9096-9848-BB14-3994FA9623BD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F99D4295-3C94-CBBA-3781-3D49769CA4E6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BB48405D-9F4C-16C0-27D3-572BACF5E507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BD70D069-1ED8-1617-4ABB-B231C98D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47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693035E-9050-3C06-0B00-69CBEDCA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84" y="1175327"/>
            <a:ext cx="5428610" cy="450734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9130D51-ED26-25D6-8A50-FC4AF28E6FA8}"/>
              </a:ext>
            </a:extLst>
          </p:cNvPr>
          <p:cNvSpPr txBox="1"/>
          <p:nvPr/>
        </p:nvSpPr>
        <p:spPr>
          <a:xfrm>
            <a:off x="5012506" y="308734"/>
            <a:ext cx="663454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400" dirty="0"/>
              <a:t>Figure 4: This shows an example of our </a:t>
            </a:r>
            <a:r>
              <a:rPr lang="zh-TW" altLang="en-US" sz="2400" b="1" dirty="0"/>
              <a:t>notation</a:t>
            </a:r>
            <a:r>
              <a:rPr lang="zh-TW" altLang="en-US" sz="2400" dirty="0"/>
              <a:t>. There  are three </a:t>
            </a:r>
            <a:r>
              <a:rPr lang="zh-TW" altLang="en-US" sz="2400" b="1" dirty="0"/>
              <a:t>road segments,</a:t>
            </a:r>
            <a:r>
              <a:rPr lang="zh-TW" altLang="en-US" sz="2000" b="1" dirty="0"/>
              <a:t> </a:t>
            </a:r>
            <a:r>
              <a:rPr lang="zh-TW" altLang="en-US" sz="2800" b="1" dirty="0"/>
              <a:t>r</a:t>
            </a:r>
            <a:r>
              <a:rPr lang="zh-TW" altLang="en-US" sz="2800" b="1" baseline="-25000" dirty="0"/>
              <a:t>1</a:t>
            </a:r>
            <a:r>
              <a:rPr lang="zh-TW" altLang="en-US" sz="2400" dirty="0"/>
              <a:t>, </a:t>
            </a:r>
            <a:r>
              <a:rPr lang="zh-TW" altLang="en-US" sz="2800" b="1" dirty="0"/>
              <a:t>r</a:t>
            </a:r>
            <a:r>
              <a:rPr lang="zh-TW" altLang="en-US" sz="2800" b="1" baseline="-25000" dirty="0"/>
              <a:t>2</a:t>
            </a:r>
            <a:r>
              <a:rPr lang="zh-TW" altLang="en-US" sz="2400" dirty="0"/>
              <a:t>, and </a:t>
            </a:r>
            <a:r>
              <a:rPr lang="zh-TW" altLang="en-US" sz="2800" b="1" dirty="0"/>
              <a:t>r</a:t>
            </a:r>
            <a:r>
              <a:rPr lang="zh-TW" altLang="en-US" sz="2800" b="1" baseline="-25000" dirty="0"/>
              <a:t>3</a:t>
            </a:r>
            <a:r>
              <a:rPr lang="zh-TW" altLang="en-US" sz="2400" dirty="0"/>
              <a:t>,</a:t>
            </a:r>
            <a:endParaRPr lang="en-US" altLang="zh-TW" sz="2400" dirty="0"/>
          </a:p>
          <a:p>
            <a:pPr>
              <a:spcBef>
                <a:spcPts val="1200"/>
              </a:spcBef>
            </a:pPr>
            <a:r>
              <a:rPr lang="zh-TW" altLang="en-US" sz="2400" dirty="0"/>
              <a:t>     and two measured points ,</a:t>
            </a:r>
            <a:r>
              <a:rPr lang="zh-TW" altLang="en-US" sz="2800" b="1" dirty="0"/>
              <a:t>𝑧</a:t>
            </a:r>
            <a:r>
              <a:rPr lang="zh-TW" altLang="en-US" sz="2800" b="1" baseline="-25000" dirty="0"/>
              <a:t>𝑡</a:t>
            </a:r>
            <a:r>
              <a:rPr lang="zh-TW" altLang="en-US" sz="2800" b="1" dirty="0"/>
              <a:t> </a:t>
            </a:r>
            <a:r>
              <a:rPr lang="zh-TW" altLang="en-US" sz="2400" dirty="0"/>
              <a:t>and </a:t>
            </a:r>
            <a:r>
              <a:rPr lang="zh-TW" altLang="en-US" sz="2800" b="1" dirty="0"/>
              <a:t>𝑧</a:t>
            </a:r>
            <a:r>
              <a:rPr lang="zh-TW" altLang="en-US" sz="2800" b="1" baseline="-25000" dirty="0"/>
              <a:t>𝑡</a:t>
            </a:r>
            <a:r>
              <a:rPr lang="en-US" altLang="zh-TW" sz="2800" b="1" baseline="-25000" dirty="0"/>
              <a:t>+1</a:t>
            </a:r>
            <a:r>
              <a:rPr lang="zh-TW" altLang="en-US" sz="2400" dirty="0"/>
              <a:t>. </a:t>
            </a:r>
            <a:endParaRPr lang="en-US" altLang="zh-TW" sz="2400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400" dirty="0"/>
              <a:t>The first </a:t>
            </a:r>
            <a:r>
              <a:rPr lang="zh-TW" altLang="en-US" sz="2400" b="1" dirty="0"/>
              <a:t>measured point, 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</a:t>
            </a:r>
            <a:r>
              <a:rPr lang="zh-TW" altLang="en-US" sz="2400" dirty="0"/>
              <a:t>, has candidate road matches at </a:t>
            </a:r>
            <a:r>
              <a:rPr lang="zh-TW" altLang="en-US" sz="3200" b="1" dirty="0"/>
              <a:t>𝑥</a:t>
            </a:r>
            <a:r>
              <a:rPr lang="zh-TW" altLang="en-US" sz="3200" b="1" baseline="-25000" dirty="0"/>
              <a:t>𝑡</a:t>
            </a:r>
            <a:r>
              <a:rPr lang="en-US" altLang="zh-TW" sz="3200" b="1" baseline="-25000" dirty="0"/>
              <a:t>,1</a:t>
            </a:r>
            <a:r>
              <a:rPr lang="zh-TW" altLang="en-US" sz="2400" baseline="-25000" dirty="0"/>
              <a:t>  </a:t>
            </a:r>
            <a:r>
              <a:rPr lang="zh-TW" altLang="en-US" sz="2400" dirty="0"/>
              <a:t>and </a:t>
            </a:r>
            <a:r>
              <a:rPr lang="zh-TW" altLang="en-US" sz="3200" b="1" dirty="0"/>
              <a:t>𝑥</a:t>
            </a:r>
            <a:r>
              <a:rPr lang="zh-TW" altLang="en-US" sz="3200" b="1" baseline="-25000" dirty="0"/>
              <a:t>𝑡</a:t>
            </a:r>
            <a:r>
              <a:rPr lang="en-US" altLang="zh-TW" sz="3200" b="1" baseline="-25000" dirty="0"/>
              <a:t>,3</a:t>
            </a:r>
            <a:r>
              <a:rPr lang="zh-TW" altLang="en-US" sz="2400" dirty="0"/>
              <a:t>. Each match candidate results in a </a:t>
            </a:r>
            <a:r>
              <a:rPr lang="zh-TW" altLang="en-US" sz="2400" b="1" dirty="0"/>
              <a:t>route</a:t>
            </a:r>
            <a:r>
              <a:rPr lang="zh-TW" altLang="en-US" sz="2400" dirty="0"/>
              <a:t> to </a:t>
            </a:r>
            <a:r>
              <a:rPr lang="zh-TW" altLang="en-US" sz="3200" b="1" dirty="0"/>
              <a:t>𝑥</a:t>
            </a:r>
            <a:r>
              <a:rPr lang="zh-TW" altLang="en-US" sz="3200" b="1" baseline="-25000" dirty="0"/>
              <a:t>𝑡</a:t>
            </a:r>
            <a:r>
              <a:rPr lang="en-US" altLang="zh-TW" sz="3200" b="1" baseline="-25000" dirty="0"/>
              <a:t>+1,2 </a:t>
            </a:r>
            <a:r>
              <a:rPr lang="zh-TW" altLang="en-US" sz="2400" dirty="0"/>
              <a:t>, which is a match candidate for the second measured point, 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</a:t>
            </a:r>
            <a:r>
              <a:rPr lang="en-US" altLang="zh-TW" sz="3200" b="1" baseline="-25000" dirty="0"/>
              <a:t>+1</a:t>
            </a:r>
            <a:r>
              <a:rPr lang="zh-TW" altLang="en-US" sz="3200" b="1" dirty="0"/>
              <a:t> </a:t>
            </a:r>
            <a:r>
              <a:rPr lang="zh-TW" altLang="en-US" sz="2400" dirty="0"/>
              <a:t>. </a:t>
            </a:r>
            <a:endParaRPr lang="en-US" altLang="zh-TW" sz="2400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400" dirty="0"/>
              <a:t>These two</a:t>
            </a:r>
            <a:r>
              <a:rPr lang="zh-TW" altLang="en-US" sz="2400" b="1" dirty="0"/>
              <a:t> routes </a:t>
            </a:r>
            <a:r>
              <a:rPr lang="zh-TW" altLang="en-US" sz="2400" dirty="0"/>
              <a:t>have their own lengths, as does the </a:t>
            </a:r>
            <a:r>
              <a:rPr lang="zh-TW" altLang="en-US" sz="2400" b="1" dirty="0"/>
              <a:t>great circle path </a:t>
            </a:r>
            <a:r>
              <a:rPr lang="zh-TW" altLang="en-US" sz="2400" dirty="0"/>
              <a:t>between the two measured points. </a:t>
            </a:r>
            <a:endParaRPr lang="en-US" altLang="zh-TW" sz="2400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great circle distance </a:t>
            </a:r>
            <a:r>
              <a:rPr lang="en-US" altLang="zh-TW" sz="2400" dirty="0"/>
              <a:t>on </a:t>
            </a:r>
            <a:r>
              <a:rPr lang="en-US" altLang="zh-TW" sz="2400" b="1" dirty="0"/>
              <a:t>the surface of the earth</a:t>
            </a:r>
            <a:r>
              <a:rPr lang="en-US" altLang="zh-TW" sz="2400" dirty="0"/>
              <a:t> between the measured point and the  candidate match</a:t>
            </a:r>
            <a:r>
              <a:rPr lang="en-US" altLang="zh-TW" sz="2400" b="1" dirty="0"/>
              <a:t>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‖ </a:t>
            </a:r>
            <a:r>
              <a:rPr lang="zh-TW" altLang="en-US" sz="2400" b="1" dirty="0"/>
              <a:t>𝑧</a:t>
            </a:r>
            <a:r>
              <a:rPr lang="zh-TW" altLang="en-US" sz="2400" b="1" baseline="-25000" dirty="0"/>
              <a:t>𝑡 </a:t>
            </a:r>
            <a:r>
              <a:rPr lang="zh-TW" altLang="en-US" sz="2400" b="1" dirty="0"/>
              <a:t>− 𝑥</a:t>
            </a:r>
            <a:r>
              <a:rPr lang="zh-TW" altLang="en-US" sz="2400" b="1" baseline="-25000" dirty="0"/>
              <a:t>𝑡</a:t>
            </a:r>
            <a:r>
              <a:rPr lang="en-US" altLang="zh-TW" sz="2400" b="1" baseline="-25000" dirty="0"/>
              <a:t>,</a:t>
            </a:r>
            <a:r>
              <a:rPr lang="zh-TW" altLang="en-US" sz="2400" b="1" baseline="-25000" dirty="0"/>
              <a:t>𝑖 </a:t>
            </a:r>
            <a:r>
              <a:rPr lang="en-US" altLang="zh-TW" sz="2400" b="1" dirty="0"/>
              <a:t>‖</a:t>
            </a:r>
            <a:r>
              <a:rPr lang="zh-TW" altLang="en-US" sz="2400" b="1" baseline="-25000" dirty="0"/>
              <a:t>𝑔𝑟𝑒𝑎𝑡 𝑐𝑖𝑟𝑐𝑙</a:t>
            </a:r>
            <a:r>
              <a:rPr lang="en-US" altLang="zh-TW" sz="2400" b="1" baseline="-25000" dirty="0"/>
              <a:t>e</a:t>
            </a:r>
            <a:r>
              <a:rPr lang="en-US" altLang="zh-TW" sz="2400" dirty="0"/>
              <a:t>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CA91E0B-C3A8-BD7A-D651-9842C9133120}"/>
              </a:ext>
            </a:extLst>
          </p:cNvPr>
          <p:cNvSpPr txBox="1"/>
          <p:nvPr/>
        </p:nvSpPr>
        <p:spPr>
          <a:xfrm>
            <a:off x="2240009" y="5657969"/>
            <a:ext cx="1197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Figure 4</a:t>
            </a:r>
            <a:endParaRPr lang="zh-TW" altLang="en-US" sz="24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153EF-C639-8688-7FEF-E1C314D2EA26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HMM MAP MATCHING:</a:t>
            </a:r>
            <a:endParaRPr lang="zh-TW" altLang="en-US" sz="3200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F80E73-A064-254A-9C38-B523DEA780AB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151D51-0229-58BF-E81E-F249E2480E6D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F3AA40-2054-5F1C-84C6-9A9E31B710F5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6810B-1147-76E3-B8D3-BD2F26E363B7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19E90057-A4ED-F457-BA30-D74C5352BBC4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3CEA0AC3-9ADB-037C-3B5E-5806DAAA30A2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D45CEF86-BC26-530B-B64B-B5161231BB28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F9AAEF48-063C-60CB-0B19-ACFCC56285B4}"/>
              </a:ext>
            </a:extLst>
          </p:cNvPr>
          <p:cNvSpPr/>
          <p:nvPr/>
        </p:nvSpPr>
        <p:spPr>
          <a:xfrm rot="10800000">
            <a:off x="11209506" y="6211669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136575EC-E96F-7F84-03B9-000EB26D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65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D60673D-DD31-7F70-4058-653BA2E9F154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Measurement Probabilities:</a:t>
            </a:r>
            <a:endParaRPr lang="zh-TW" altLang="en-US" sz="32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F89BA39-CA65-3D97-C136-DD6DC9A18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20" y="3028104"/>
            <a:ext cx="6506670" cy="138977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7CFBD3C-2792-C575-FC89-ADC55C8D7FE1}"/>
              </a:ext>
            </a:extLst>
          </p:cNvPr>
          <p:cNvSpPr txBox="1"/>
          <p:nvPr/>
        </p:nvSpPr>
        <p:spPr>
          <a:xfrm>
            <a:off x="812800" y="2060997"/>
            <a:ext cx="10390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 the </a:t>
            </a:r>
            <a:r>
              <a:rPr lang="en-US" altLang="zh-TW" sz="2400" b="1" dirty="0"/>
              <a:t>correct match</a:t>
            </a:r>
            <a:r>
              <a:rPr lang="en-US" altLang="zh-TW" sz="2400" dirty="0"/>
              <a:t>, this difference is due to</a:t>
            </a:r>
            <a:r>
              <a:rPr lang="en-US" altLang="zh-TW" sz="2400" b="1" dirty="0"/>
              <a:t> GPS noise</a:t>
            </a:r>
            <a:r>
              <a:rPr lang="en-US" altLang="zh-TW" sz="2400" dirty="0"/>
              <a:t>. Based on previous work we can model </a:t>
            </a:r>
            <a:r>
              <a:rPr lang="en-US" altLang="zh-TW" sz="2400" b="1" dirty="0"/>
              <a:t>GPS noise </a:t>
            </a:r>
            <a:r>
              <a:rPr lang="en-US" altLang="zh-TW" sz="2400" dirty="0"/>
              <a:t>as </a:t>
            </a:r>
            <a:r>
              <a:rPr lang="en-US" altLang="zh-TW" sz="2400" b="1" dirty="0"/>
              <a:t>zero-mean Gaussian.</a:t>
            </a:r>
            <a:endParaRPr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50DE050-8ECA-DA99-4CF7-EBAF81F80ECB}"/>
              </a:ext>
            </a:extLst>
          </p:cNvPr>
          <p:cNvSpPr txBox="1"/>
          <p:nvPr/>
        </p:nvSpPr>
        <p:spPr>
          <a:xfrm>
            <a:off x="812800" y="4363794"/>
            <a:ext cx="1119113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Here </a:t>
            </a:r>
            <a:r>
              <a:rPr lang="zh-TW" altLang="en-US" sz="3200" b="1" dirty="0"/>
              <a:t>𝜎</a:t>
            </a:r>
            <a:r>
              <a:rPr lang="zh-TW" altLang="en-US" sz="3200" b="1" baseline="-25000" dirty="0"/>
              <a:t>𝑧 </a:t>
            </a:r>
            <a:r>
              <a:rPr lang="en-US" altLang="zh-TW" sz="2400" dirty="0"/>
              <a:t>is the </a:t>
            </a:r>
            <a:r>
              <a:rPr lang="en-US" altLang="zh-TW" sz="2400" b="1" dirty="0"/>
              <a:t>standard deviation </a:t>
            </a:r>
            <a:r>
              <a:rPr lang="en-US" altLang="zh-TW" sz="2400" dirty="0"/>
              <a:t>of GPS measurements [Parameter Estimation unit].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</a:t>
            </a:r>
            <a:r>
              <a:rPr lang="en-US" altLang="zh-TW" sz="2400" b="1" dirty="0"/>
              <a:t> initial state</a:t>
            </a:r>
            <a:r>
              <a:rPr lang="en-US" altLang="zh-TW" sz="2400" dirty="0"/>
              <a:t> probabilities  </a:t>
            </a:r>
            <a:r>
              <a:rPr lang="zh-TW" altLang="en-US" sz="3200" dirty="0"/>
              <a:t>𝜋</a:t>
            </a:r>
            <a:r>
              <a:rPr lang="zh-TW" altLang="en-US" sz="3200" baseline="-25000" dirty="0"/>
              <a:t>𝑖 </a:t>
            </a:r>
            <a:r>
              <a:rPr lang="en-US" altLang="zh-TW" sz="3200" dirty="0"/>
              <a:t>= </a:t>
            </a:r>
            <a:r>
              <a:rPr lang="zh-TW" altLang="en-US" sz="3200" dirty="0"/>
              <a:t>𝑝</a:t>
            </a:r>
            <a:r>
              <a:rPr lang="en-US" altLang="zh-TW" sz="3200" dirty="0"/>
              <a:t>(</a:t>
            </a:r>
            <a:r>
              <a:rPr lang="zh-TW" altLang="en-US" sz="3200" dirty="0"/>
              <a:t>𝑧</a:t>
            </a:r>
            <a:r>
              <a:rPr lang="en-US" altLang="zh-TW" sz="3200" baseline="-25000" dirty="0"/>
              <a:t>1</a:t>
            </a:r>
            <a:r>
              <a:rPr lang="en-US" altLang="zh-TW" sz="3200" dirty="0"/>
              <a:t>|</a:t>
            </a:r>
            <a:r>
              <a:rPr lang="zh-TW" altLang="en-US" sz="3200" dirty="0"/>
              <a:t>𝑟</a:t>
            </a:r>
            <a:r>
              <a:rPr lang="zh-TW" altLang="en-US" sz="3200" baseline="-25000" dirty="0"/>
              <a:t>𝑖</a:t>
            </a:r>
            <a:r>
              <a:rPr lang="en-US" altLang="zh-TW" sz="3200" dirty="0"/>
              <a:t>)</a:t>
            </a:r>
            <a:r>
              <a:rPr lang="zh-TW" altLang="en-US" sz="3200" baseline="-25000" dirty="0"/>
              <a:t> </a:t>
            </a:r>
            <a:r>
              <a:rPr lang="en-US" altLang="zh-TW" sz="2400" b="1" dirty="0"/>
              <a:t>, </a:t>
            </a:r>
            <a:r>
              <a:rPr lang="zh-TW" altLang="en-US" sz="2400" b="1" dirty="0"/>
              <a:t>𝑖 </a:t>
            </a:r>
            <a:r>
              <a:rPr lang="en-US" altLang="zh-TW" sz="2400" b="1" dirty="0"/>
              <a:t>= 1 … </a:t>
            </a:r>
            <a:r>
              <a:rPr lang="zh-TW" altLang="en-US" sz="2400" b="1" dirty="0"/>
              <a:t>𝑁</a:t>
            </a:r>
            <a:r>
              <a:rPr lang="zh-TW" altLang="en-US" sz="2400" b="1" baseline="-25000" dirty="0"/>
              <a:t>𝑟</a:t>
            </a:r>
            <a:r>
              <a:rPr lang="en-US" altLang="zh-TW" sz="2400" baseline="-25000" dirty="0"/>
              <a:t>.</a:t>
            </a:r>
            <a:r>
              <a:rPr lang="en-US" altLang="zh-TW" sz="2400" dirty="0"/>
              <a:t> Assuming no measurements have been taken, we start at the first measurement.</a:t>
            </a:r>
            <a:endParaRPr lang="en-US" altLang="zh-TW" sz="2400" baseline="-25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baseline="-25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798019B-A011-C648-C783-63F597C50318}"/>
              </a:ext>
            </a:extLst>
          </p:cNvPr>
          <p:cNvSpPr txBox="1"/>
          <p:nvPr/>
        </p:nvSpPr>
        <p:spPr>
          <a:xfrm>
            <a:off x="812800" y="1170767"/>
            <a:ext cx="1106303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This gives the likelihood that the measurement </a:t>
            </a:r>
            <a:r>
              <a:rPr lang="zh-TW" altLang="en-US" sz="2800" b="1" dirty="0"/>
              <a:t>𝑧</a:t>
            </a:r>
            <a:r>
              <a:rPr lang="zh-TW" altLang="en-US" sz="2800" b="1" baseline="-25000" dirty="0"/>
              <a:t>𝑡</a:t>
            </a:r>
            <a:r>
              <a:rPr lang="zh-TW" altLang="en-US" sz="2400" b="1" baseline="-25000" dirty="0"/>
              <a:t> </a:t>
            </a:r>
            <a:r>
              <a:rPr lang="zh-TW" altLang="en-US" sz="2400" dirty="0"/>
              <a:t>would be observed if the vehicle were actually on road segment </a:t>
            </a:r>
            <a:r>
              <a:rPr lang="zh-TW" altLang="en-US" sz="2800" b="1" dirty="0"/>
              <a:t>𝑟</a:t>
            </a:r>
            <a:r>
              <a:rPr lang="zh-TW" altLang="en-US" sz="2800" b="1" baseline="-25000" dirty="0"/>
              <a:t>𝑖</a:t>
            </a:r>
            <a:r>
              <a:rPr lang="zh-TW" altLang="en-US" sz="2400" dirty="0"/>
              <a:t>. (also called </a:t>
            </a:r>
            <a:r>
              <a:rPr lang="zh-TW" altLang="en-US" sz="2400" b="1" dirty="0"/>
              <a:t>emission probabilities</a:t>
            </a:r>
            <a:r>
              <a:rPr lang="zh-TW" altLang="en-US" sz="2400" dirty="0"/>
              <a:t>)</a:t>
            </a:r>
            <a:r>
              <a:rPr lang="en-US" altLang="zh-TW" sz="2400" dirty="0"/>
              <a:t> </a:t>
            </a:r>
          </a:p>
          <a:p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AC74C-562E-0EDF-B646-721D173E005B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EC7770-6AD7-BBAD-641D-9C49A1432A67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1F6202-EB39-F72A-A42F-05120C3200B4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E257C6-462C-B1D6-DB47-5696C8FD5927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F33E54BE-9093-1EDA-5D47-C3839C8274A0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240BA941-ED72-F2E7-7D2F-4702AB99966B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1A05E027-1306-3B8C-D052-55DB94E19199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半框架 21">
            <a:extLst>
              <a:ext uri="{FF2B5EF4-FFF2-40B4-BE49-F238E27FC236}">
                <a16:creationId xmlns:a16="http://schemas.microsoft.com/office/drawing/2014/main" id="{E2C93D0E-1C16-CD33-6BBF-307F2ABA8415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7B42F318-72AD-91FE-2E0F-EBA63156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36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75D2672-DFF9-69AE-CB47-AAA03ACEF114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Transition Probabilities:</a:t>
            </a:r>
            <a:endParaRPr lang="zh-TW" altLang="en-US" sz="32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6B5BBC3-54C2-04C2-D291-76FF0A267DB9}"/>
              </a:ext>
            </a:extLst>
          </p:cNvPr>
          <p:cNvSpPr txBox="1"/>
          <p:nvPr/>
        </p:nvSpPr>
        <p:spPr>
          <a:xfrm>
            <a:off x="1435464" y="1162109"/>
            <a:ext cx="963235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Each measurement 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 </a:t>
            </a:r>
            <a:r>
              <a:rPr lang="zh-TW" altLang="en-US" sz="2400" dirty="0"/>
              <a:t>has a </a:t>
            </a:r>
            <a:r>
              <a:rPr lang="zh-TW" altLang="en-US" sz="2400" b="1" dirty="0"/>
              <a:t>list of possible</a:t>
            </a:r>
            <a:r>
              <a:rPr lang="zh-TW" altLang="en-US" sz="2400" dirty="0"/>
              <a:t> road matches, as does the next measurement 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</a:t>
            </a:r>
            <a:r>
              <a:rPr lang="en-US" altLang="zh-TW" sz="3200" b="1" baseline="-25000" dirty="0"/>
              <a:t>+1</a:t>
            </a:r>
            <a:r>
              <a:rPr lang="zh-TW" altLang="en-US" sz="3200" b="1" baseline="-25000" dirty="0"/>
              <a:t> </a:t>
            </a:r>
            <a:r>
              <a:rPr lang="zh-TW" altLang="en-US" sz="2400" dirty="0"/>
              <a:t>. </a:t>
            </a:r>
            <a:r>
              <a:rPr lang="zh-TW" altLang="en-US" sz="2400" b="1" dirty="0"/>
              <a:t>Transition probabilities </a:t>
            </a:r>
            <a:r>
              <a:rPr lang="zh-TW" altLang="en-US" sz="2400" dirty="0"/>
              <a:t>give the probability of  a </a:t>
            </a:r>
            <a:r>
              <a:rPr lang="zh-TW" altLang="en-US" sz="2400" b="1" dirty="0"/>
              <a:t>vehicle moving</a:t>
            </a:r>
            <a:r>
              <a:rPr lang="zh-TW" altLang="en-US" sz="2400" dirty="0"/>
              <a:t> between the candidate road matches at </a:t>
            </a:r>
            <a:r>
              <a:rPr lang="en-US" altLang="zh-TW" sz="2400" dirty="0"/>
              <a:t>t</a:t>
            </a:r>
            <a:r>
              <a:rPr lang="zh-TW" altLang="en-US" sz="2400" dirty="0"/>
              <a:t>hese two times.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Practically,  we favor transitions whose </a:t>
            </a:r>
            <a:r>
              <a:rPr lang="en-US" altLang="zh-TW" sz="2400" b="1" dirty="0"/>
              <a:t>driving distance </a:t>
            </a:r>
            <a:r>
              <a:rPr lang="en-US" altLang="zh-TW" sz="2400" dirty="0"/>
              <a:t>is about the same as the </a:t>
            </a:r>
            <a:r>
              <a:rPr lang="en-US" altLang="zh-TW" sz="2400" b="1" dirty="0"/>
              <a:t>great circle distance </a:t>
            </a:r>
            <a:r>
              <a:rPr lang="en-US" altLang="zh-TW" sz="2400" dirty="0"/>
              <a:t>between the measurements.</a:t>
            </a:r>
          </a:p>
          <a:p>
            <a:r>
              <a:rPr lang="en-US" altLang="zh-TW" sz="2400" dirty="0"/>
              <a:t>	</a:t>
            </a:r>
          </a:p>
          <a:p>
            <a:pPr lvl="1"/>
            <a:r>
              <a:rPr lang="en-US" altLang="zh-TW" sz="2400" dirty="0"/>
              <a:t>-  	Our intuition, confirmed by experiment, is that these </a:t>
            </a:r>
            <a:r>
              <a:rPr lang="en-US" altLang="zh-TW" sz="2400" b="1" dirty="0"/>
              <a:t>two distances 	</a:t>
            </a:r>
            <a:r>
              <a:rPr lang="en-US" altLang="zh-TW" sz="2400" dirty="0"/>
              <a:t>will be about the</a:t>
            </a:r>
            <a:r>
              <a:rPr lang="en-US" altLang="zh-TW" sz="2400" b="1" dirty="0"/>
              <a:t> same </a:t>
            </a:r>
            <a:r>
              <a:rPr lang="en-US" altLang="zh-TW" sz="2400" dirty="0"/>
              <a:t>for </a:t>
            </a:r>
            <a:r>
              <a:rPr lang="en-US" altLang="zh-TW" sz="2400" b="1" dirty="0"/>
              <a:t>correct matches</a:t>
            </a:r>
            <a:r>
              <a:rPr lang="en-US" altLang="zh-TW" sz="2400" dirty="0"/>
              <a:t>. This is because the 	relatively </a:t>
            </a:r>
            <a:r>
              <a:rPr lang="en-US" altLang="zh-TW" sz="2400" b="1" dirty="0"/>
              <a:t>short distance </a:t>
            </a:r>
            <a:r>
              <a:rPr lang="en-US" altLang="zh-TW" sz="2400" dirty="0"/>
              <a:t>traveled on the road(s) between a pair of 	</a:t>
            </a:r>
            <a:r>
              <a:rPr lang="en-US" altLang="zh-TW" sz="2400" b="1" dirty="0"/>
              <a:t>correct matches </a:t>
            </a:r>
            <a:r>
              <a:rPr lang="en-US" altLang="zh-TW" sz="2400" dirty="0"/>
              <a:t>will be about the </a:t>
            </a:r>
            <a:r>
              <a:rPr lang="en-US" altLang="zh-TW" sz="2400" b="1" dirty="0"/>
              <a:t>same as the distance </a:t>
            </a:r>
            <a:r>
              <a:rPr lang="en-US" altLang="zh-TW" sz="2400" dirty="0"/>
              <a:t>between the 	</a:t>
            </a:r>
            <a:r>
              <a:rPr lang="en-US" altLang="zh-TW" sz="2400" b="1" dirty="0"/>
              <a:t>measured GPS points</a:t>
            </a:r>
            <a:r>
              <a:rPr lang="en-US" altLang="zh-TW" sz="2400" dirty="0"/>
              <a:t>. </a:t>
            </a:r>
            <a:endParaRPr lang="zh-TW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F164DC-68B3-7704-A49D-269076DBD7D5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1D523-8EC3-CC57-FDC3-7E3111706476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D827B9-2308-6B4E-00CB-EE88A69FA737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966A89-4B28-01FE-8074-E10F2B402B2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半框架 15">
            <a:extLst>
              <a:ext uri="{FF2B5EF4-FFF2-40B4-BE49-F238E27FC236}">
                <a16:creationId xmlns:a16="http://schemas.microsoft.com/office/drawing/2014/main" id="{ACE193D2-AD72-ABDE-FB2E-9A927EACA947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95DC0C87-FBC8-B85B-0030-E995C039106A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4E84D527-A46D-F50C-9BC9-D1B996335486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7DE81A5C-6802-0EC8-9350-84A3DF0F96ED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8A0F3F28-1C9F-E6FB-FE48-C8AD7E98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3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E94A624-FF14-5357-F00A-E0DC289239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97"/>
          <a:stretch/>
        </p:blipFill>
        <p:spPr>
          <a:xfrm>
            <a:off x="6425609" y="306215"/>
            <a:ext cx="5167930" cy="414381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7FD1890-E231-6653-A231-BA71B00AEAF6}"/>
              </a:ext>
            </a:extLst>
          </p:cNvPr>
          <p:cNvSpPr txBox="1"/>
          <p:nvPr/>
        </p:nvSpPr>
        <p:spPr>
          <a:xfrm>
            <a:off x="447796" y="1257502"/>
            <a:ext cx="55650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We computed a histogram of the </a:t>
            </a:r>
            <a:r>
              <a:rPr lang="zh-TW" altLang="en-US" sz="2400" b="1" dirty="0"/>
              <a:t>absolute values </a:t>
            </a:r>
            <a:r>
              <a:rPr lang="zh-TW" altLang="en-US" sz="2400" dirty="0"/>
              <a:t>of the </a:t>
            </a:r>
            <a:r>
              <a:rPr lang="zh-TW" altLang="en-US" sz="2400" b="1" dirty="0"/>
              <a:t>differences</a:t>
            </a:r>
            <a:r>
              <a:rPr lang="zh-TW" altLang="en-US" sz="2400" dirty="0"/>
              <a:t> between the </a:t>
            </a:r>
            <a:r>
              <a:rPr lang="zh-TW" altLang="en-US" sz="2400" b="1" dirty="0"/>
              <a:t>great circle distances </a:t>
            </a:r>
            <a:r>
              <a:rPr lang="zh-TW" altLang="en-US" sz="2400" dirty="0"/>
              <a:t>and the </a:t>
            </a:r>
            <a:r>
              <a:rPr lang="zh-TW" altLang="en-US" sz="2400" b="1" dirty="0"/>
              <a:t>route distances </a:t>
            </a:r>
            <a:r>
              <a:rPr lang="zh-TW" altLang="en-US" sz="2400" dirty="0"/>
              <a:t>from the correct matches, shown in </a:t>
            </a:r>
            <a:r>
              <a:rPr lang="zh-TW" altLang="en-US" sz="2400" b="1" dirty="0"/>
              <a:t>Figure 5</a:t>
            </a:r>
            <a:r>
              <a:rPr lang="zh-TW" altLang="en-US" sz="2400" dirty="0"/>
              <a:t>. </a:t>
            </a:r>
            <a:r>
              <a:rPr lang="zh-TW" altLang="en-US" sz="2400" b="1" dirty="0"/>
              <a:t>This histogram</a:t>
            </a:r>
            <a:r>
              <a:rPr lang="zh-TW" altLang="en-US" sz="2400" dirty="0"/>
              <a:t> fits well to an </a:t>
            </a:r>
            <a:r>
              <a:rPr lang="zh-TW" altLang="en-US" sz="2400" b="1" dirty="0"/>
              <a:t>exponential probability distribution</a:t>
            </a:r>
            <a:r>
              <a:rPr lang="zh-TW" altLang="en-US" sz="2400" dirty="0"/>
              <a:t> given by Equation ( 2 ):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B470F8-151A-DBB9-31CA-57A31B808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324" y="4039087"/>
            <a:ext cx="2438400" cy="9048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7310326-D47D-86D2-EC12-0CF3F6464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66" y="4785537"/>
            <a:ext cx="7995510" cy="86468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8567081-39C2-2D7C-EE8A-04F2A3D5A627}"/>
              </a:ext>
            </a:extLst>
          </p:cNvPr>
          <p:cNvSpPr txBox="1"/>
          <p:nvPr/>
        </p:nvSpPr>
        <p:spPr>
          <a:xfrm>
            <a:off x="779734" y="5583436"/>
            <a:ext cx="104841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where  </a:t>
            </a:r>
            <a:r>
              <a:rPr lang="zh-TW" altLang="en-US" sz="2800" b="1" dirty="0"/>
              <a:t>𝑖</a:t>
            </a:r>
            <a:r>
              <a:rPr lang="zh-TW" altLang="en-US" sz="2800" b="1" baseline="30000" dirty="0"/>
              <a:t>∗ </a:t>
            </a:r>
            <a:r>
              <a:rPr lang="zh-TW" altLang="en-US" sz="2800" b="1" dirty="0"/>
              <a:t> </a:t>
            </a:r>
            <a:r>
              <a:rPr lang="en-US" altLang="zh-TW" sz="2400" dirty="0"/>
              <a:t>and </a:t>
            </a:r>
            <a:r>
              <a:rPr lang="zh-TW" altLang="en-US" sz="2800" b="1" dirty="0"/>
              <a:t>𝑗</a:t>
            </a:r>
            <a:r>
              <a:rPr lang="zh-TW" altLang="en-US" sz="2800" b="1" baseline="30000" dirty="0"/>
              <a:t>∗</a:t>
            </a:r>
            <a:r>
              <a:rPr lang="zh-TW" altLang="en-US" sz="2800" b="1" dirty="0"/>
              <a:t>  </a:t>
            </a:r>
            <a:r>
              <a:rPr lang="en-US" altLang="zh-TW" sz="2400" dirty="0"/>
              <a:t>indicate  </a:t>
            </a:r>
            <a:r>
              <a:rPr lang="en-US" altLang="zh-TW" sz="2400" b="1" i="1" dirty="0"/>
              <a:t>the  ground  truth  road  segments  </a:t>
            </a:r>
            <a:r>
              <a:rPr lang="en-US" altLang="zh-TW" sz="2400" dirty="0"/>
              <a:t>of  the  route.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 estimate the value of </a:t>
            </a:r>
            <a:r>
              <a:rPr lang="zh-TW" altLang="en-US" sz="2400" dirty="0"/>
              <a:t>𝛽 </a:t>
            </a:r>
            <a:r>
              <a:rPr lang="en-US" altLang="zh-TW" sz="2400" dirty="0"/>
              <a:t>in [Parameter Estimation unit].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62780B-0E34-ADD3-9C80-8EC62A684AD8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Transition Probabilities:</a:t>
            </a:r>
            <a:endParaRPr lang="zh-TW" altLang="en-US" sz="3200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DE3A58-5830-0556-205C-333C170D0EED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09DF1E-ADCC-01E4-22F5-793FA425686C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5E8751-AE7C-5A27-D379-575856178127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DBB1D3-6E00-68E0-D48C-1B1851E0A99A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8B8483E4-6B36-48EB-43D4-D5AA3C398E3B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CD2C0206-DB94-2171-90C0-718DA1FD230F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半框架 21">
            <a:extLst>
              <a:ext uri="{FF2B5EF4-FFF2-40B4-BE49-F238E27FC236}">
                <a16:creationId xmlns:a16="http://schemas.microsoft.com/office/drawing/2014/main" id="{7B9791E3-DB33-016E-13C3-6C3EDB70B057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半框架 22">
            <a:extLst>
              <a:ext uri="{FF2B5EF4-FFF2-40B4-BE49-F238E27FC236}">
                <a16:creationId xmlns:a16="http://schemas.microsoft.com/office/drawing/2014/main" id="{12709704-9269-CB65-623F-8756FC9542ED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5" name="投影片編號版面配置區 24">
            <a:extLst>
              <a:ext uri="{FF2B5EF4-FFF2-40B4-BE49-F238E27FC236}">
                <a16:creationId xmlns:a16="http://schemas.microsoft.com/office/drawing/2014/main" id="{C1376AB9-FEC9-6C49-06FB-93C809E14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44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C67EBE1-1339-5FC4-F69D-E958667BE2C1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Optimal Path:</a:t>
            </a:r>
            <a:endParaRPr lang="zh-TW" altLang="en-US" sz="32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49845F7-8DC4-CADD-2CBA-5E76D839496C}"/>
              </a:ext>
            </a:extLst>
          </p:cNvPr>
          <p:cNvSpPr txBox="1"/>
          <p:nvPr/>
        </p:nvSpPr>
        <p:spPr>
          <a:xfrm>
            <a:off x="1325798" y="1819900"/>
            <a:ext cx="101467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With measurement probabilities from</a:t>
            </a:r>
            <a:r>
              <a:rPr lang="zh-TW" altLang="en-US" sz="2400" b="1" dirty="0"/>
              <a:t> Equation (</a:t>
            </a:r>
            <a:r>
              <a:rPr lang="en-US" altLang="zh-TW" sz="2400" b="1" dirty="0"/>
              <a:t>Measurement Probabilities</a:t>
            </a:r>
            <a:r>
              <a:rPr lang="zh-TW" altLang="en-US" sz="2400" b="1" dirty="0"/>
              <a:t>) </a:t>
            </a:r>
            <a:r>
              <a:rPr lang="zh-TW" altLang="en-US" sz="2400" dirty="0"/>
              <a:t>and transition probabilities from </a:t>
            </a:r>
            <a:r>
              <a:rPr lang="zh-TW" altLang="en-US" sz="2400" b="1" dirty="0"/>
              <a:t>Equation (</a:t>
            </a:r>
            <a:r>
              <a:rPr lang="en-US" altLang="zh-TW" sz="2400" b="1" dirty="0"/>
              <a:t>Transition Probabilities</a:t>
            </a:r>
            <a:r>
              <a:rPr lang="zh-TW" altLang="en-US" sz="2400" b="1" dirty="0"/>
              <a:t>)</a:t>
            </a:r>
            <a:r>
              <a:rPr lang="zh-TW" altLang="en-US" sz="2400" dirty="0"/>
              <a:t>, we used the </a:t>
            </a:r>
            <a:r>
              <a:rPr lang="zh-TW" altLang="en-US" sz="2400" b="1" dirty="0"/>
              <a:t>Viterbi algorithm </a:t>
            </a:r>
            <a:r>
              <a:rPr lang="zh-TW" altLang="en-US" sz="2400" dirty="0"/>
              <a:t>to compute the </a:t>
            </a:r>
            <a:r>
              <a:rPr lang="zh-TW" altLang="en-US" sz="2400" b="1" dirty="0"/>
              <a:t>best path </a:t>
            </a:r>
            <a:r>
              <a:rPr lang="zh-TW" altLang="en-US" sz="2400" dirty="0"/>
              <a:t>through the </a:t>
            </a:r>
            <a:r>
              <a:rPr lang="zh-TW" altLang="en-US" sz="2400" b="1" dirty="0"/>
              <a:t>HMM lattice</a:t>
            </a:r>
            <a:r>
              <a:rPr lang="zh-TW" altLang="en-US" sz="2400" dirty="0"/>
              <a:t>. 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</a:t>
            </a:r>
            <a:r>
              <a:rPr lang="zh-TW" altLang="en-US" sz="2400" b="1" dirty="0"/>
              <a:t> Viterbi algorithm </a:t>
            </a:r>
            <a:r>
              <a:rPr lang="zh-TW" altLang="en-US" sz="2400" dirty="0"/>
              <a:t>uses </a:t>
            </a:r>
            <a:r>
              <a:rPr lang="zh-TW" altLang="en-US" sz="2400" b="1" dirty="0"/>
              <a:t>dynamic programming </a:t>
            </a:r>
            <a:r>
              <a:rPr lang="zh-TW" altLang="en-US" sz="2400" dirty="0"/>
              <a:t>to quickly find the path through the lattice</a:t>
            </a:r>
            <a:r>
              <a:rPr lang="zh-TW" altLang="en-US" sz="2400" b="1" dirty="0"/>
              <a:t> </a:t>
            </a:r>
            <a:r>
              <a:rPr lang="zh-TW" altLang="en-US" sz="2400" dirty="0"/>
              <a:t>that </a:t>
            </a:r>
            <a:r>
              <a:rPr lang="zh-TW" altLang="en-US" sz="2400" b="1" dirty="0"/>
              <a:t>maximizes the product </a:t>
            </a:r>
            <a:r>
              <a:rPr lang="zh-TW" altLang="en-US" sz="2400" dirty="0"/>
              <a:t>of the </a:t>
            </a:r>
            <a:r>
              <a:rPr lang="zh-TW" altLang="en-US" sz="2400" b="1" dirty="0"/>
              <a:t>measurement probabilities</a:t>
            </a:r>
            <a:r>
              <a:rPr lang="zh-TW" altLang="en-US" sz="2400" dirty="0"/>
              <a:t> and </a:t>
            </a:r>
            <a:r>
              <a:rPr lang="zh-TW" altLang="en-US" sz="2400" b="1" dirty="0"/>
              <a:t>transition probabilities</a:t>
            </a:r>
            <a:r>
              <a:rPr lang="zh-TW" altLang="en-US" sz="2400" dirty="0"/>
              <a:t>. 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This gave us  an inference of the correct  road  segment  for  each  location measurement.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4123E4-E2BE-AE77-9776-F59AE1B31BF0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047E76-3F5D-4FC1-9F39-4E812BB9C37A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CA9FE8-ABF3-33CB-1D5F-156D5187CAFB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2C20D2-A263-6D5A-54B4-929FB3FC9272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半框架 15">
            <a:extLst>
              <a:ext uri="{FF2B5EF4-FFF2-40B4-BE49-F238E27FC236}">
                <a16:creationId xmlns:a16="http://schemas.microsoft.com/office/drawing/2014/main" id="{2AA33B7A-0AED-DF55-7CB0-99DEC7B62D1A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67EA077B-B036-BAA8-DB3E-0D25DE517B49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700FCE52-E927-D832-F767-CD7755309293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ED81A5C5-44AF-3B77-4037-956EFF06335B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8B98D7D2-FC01-B7DA-D62E-BC59DD02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22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96943DF-6904-5775-FA5F-2972FD8CF170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/>
              <a:t>Viterbi algorithm </a:t>
            </a:r>
            <a:r>
              <a:rPr lang="en-US" altLang="zh-TW" sz="3200" b="1" dirty="0"/>
              <a:t>:</a:t>
            </a:r>
            <a:endParaRPr lang="zh-TW" alt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135C8A0-060B-6A67-9935-9BECBC0C9151}"/>
                  </a:ext>
                </a:extLst>
              </p:cNvPr>
              <p:cNvSpPr txBox="1"/>
              <p:nvPr/>
            </p:nvSpPr>
            <p:spPr>
              <a:xfrm>
                <a:off x="4575243" y="321119"/>
                <a:ext cx="7616757" cy="2882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3200" b="1" baseline="-25000" dirty="0">
                    <a:cs typeface="Times New Roman" panose="02020603050405020304" pitchFamily="18" charset="0"/>
                  </a:rPr>
                  <a:t>1,</a:t>
                </a:r>
                <a:r>
                  <a:rPr lang="zh-TW" altLang="en-US" sz="3200" b="1" baseline="-25000" dirty="0"/>
                  <a:t>𝑖</a:t>
                </a:r>
                <a:r>
                  <a:rPr lang="en-US" altLang="zh-TW" sz="3200" b="1" i="1" baseline="-250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</a:t>
                </a:r>
                <a:r>
                  <a:rPr lang="zh-TW" altLang="en-US" sz="3200" b="1" dirty="0"/>
                  <a:t>𝑝 </a:t>
                </a:r>
                <a:r>
                  <a:rPr lang="en-US" altLang="zh-TW" sz="3200" b="1" dirty="0"/>
                  <a:t>( </a:t>
                </a:r>
                <a:r>
                  <a:rPr lang="zh-TW" altLang="en-US" sz="3200" b="1" dirty="0"/>
                  <a:t>𝑧</a:t>
                </a:r>
                <a:r>
                  <a:rPr lang="en-US" altLang="zh-TW" sz="3200" b="1" baseline="-25000" dirty="0"/>
                  <a:t>1</a:t>
                </a:r>
                <a:r>
                  <a:rPr lang="en-US" altLang="zh-TW" sz="3200" b="1" dirty="0"/>
                  <a:t>|</a:t>
                </a:r>
                <a:r>
                  <a:rPr lang="zh-TW" altLang="en-US" sz="3200" b="1" dirty="0"/>
                  <a:t>𝑟</a:t>
                </a:r>
                <a:r>
                  <a:rPr lang="zh-TW" altLang="en-US" sz="3200" b="1" baseline="-25000" dirty="0"/>
                  <a:t>𝑖 </a:t>
                </a:r>
                <a:r>
                  <a:rPr lang="en-US" altLang="zh-TW" sz="3200" b="1" dirty="0"/>
                  <a:t>)</a:t>
                </a:r>
                <a14:m>
                  <m:oMath xmlns:m="http://schemas.openxmlformats.org/officeDocument/2006/math">
                    <m:r>
                      <a:rPr lang="en-US" altLang="zh-TW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TW" altLang="en-US" sz="3200" dirty="0"/>
                  <a:t> 𝜋</a:t>
                </a:r>
                <a:r>
                  <a:rPr lang="zh-TW" altLang="en-US" sz="3200" baseline="-25000" dirty="0"/>
                  <a:t>𝑖 </a:t>
                </a:r>
                <a:endParaRPr lang="en-US" altLang="zh-TW" sz="3200" baseline="-25000" dirty="0"/>
              </a:p>
              <a:p>
                <a:endParaRPr lang="en-US" altLang="zh-TW" sz="3200" b="1" baseline="-25000" dirty="0"/>
              </a:p>
              <a:p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3200" b="1" baseline="-25000" dirty="0">
                    <a:cs typeface="Times New Roman" panose="02020603050405020304" pitchFamily="18" charset="0"/>
                  </a:rPr>
                  <a:t>2,</a:t>
                </a:r>
                <a:r>
                  <a:rPr lang="zh-TW" altLang="en-US" sz="3200" b="1" baseline="-25000" dirty="0"/>
                  <a:t>𝑗  </a:t>
                </a:r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max </a:t>
                </a:r>
                <a:r>
                  <a:rPr lang="en-US" altLang="zh-TW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:r>
                  <a:rPr lang="zh-TW" altLang="en-US" sz="3200" b="1" dirty="0"/>
                  <a:t>𝑝 </a:t>
                </a:r>
                <a:r>
                  <a:rPr lang="en-US" altLang="zh-TW" sz="3200" b="1" dirty="0"/>
                  <a:t>( </a:t>
                </a:r>
                <a:r>
                  <a:rPr lang="zh-TW" altLang="en-US" sz="3200" b="1" dirty="0"/>
                  <a:t>𝑧</a:t>
                </a:r>
                <a:r>
                  <a:rPr lang="en-US" altLang="zh-TW" sz="3200" b="1" baseline="-25000" dirty="0"/>
                  <a:t>2</a:t>
                </a:r>
                <a:r>
                  <a:rPr lang="en-US" altLang="zh-TW" sz="3200" b="1" dirty="0"/>
                  <a:t>|</a:t>
                </a:r>
                <a:r>
                  <a:rPr lang="zh-TW" altLang="en-US" sz="3200" b="1" dirty="0"/>
                  <a:t>𝑟</a:t>
                </a:r>
                <a:r>
                  <a:rPr lang="zh-TW" altLang="en-US" sz="3200" b="1" baseline="-25000" dirty="0"/>
                  <a:t>𝑗 </a:t>
                </a:r>
                <a:r>
                  <a:rPr lang="en-US" altLang="zh-TW" sz="3200" b="1" dirty="0"/>
                  <a:t>)</a:t>
                </a:r>
                <a:r>
                  <a:rPr lang="en-US" altLang="zh-TW" sz="3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zh-TW" altLang="en-US" sz="3200" b="1" dirty="0"/>
                  <a:t>𝑝</a:t>
                </a:r>
                <a:r>
                  <a:rPr lang="en-US" altLang="zh-TW" sz="3200" b="1" dirty="0"/>
                  <a:t>(</a:t>
                </a:r>
                <a:r>
                  <a:rPr lang="zh-TW" altLang="en-US" sz="3200" b="1" dirty="0"/>
                  <a:t>𝑑</a:t>
                </a:r>
                <a:r>
                  <a:rPr lang="en-US" altLang="zh-TW" sz="3200" b="1" baseline="-25000" dirty="0"/>
                  <a:t>2</a:t>
                </a:r>
                <a:r>
                  <a:rPr lang="en-US" altLang="zh-TW" sz="3200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3200" b="1" baseline="-25000" dirty="0">
                    <a:cs typeface="Times New Roman" panose="02020603050405020304" pitchFamily="18" charset="0"/>
                  </a:rPr>
                  <a:t>1,</a:t>
                </a:r>
                <a:r>
                  <a:rPr lang="zh-TW" altLang="en-US" sz="3200" b="1" baseline="-25000" dirty="0"/>
                  <a:t>𝑖</a:t>
                </a:r>
                <a:r>
                  <a:rPr lang="en-US" altLang="zh-TW" sz="3200" b="1" i="1" baseline="-2500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b="1" dirty="0"/>
                  <a:t>)</a:t>
                </a:r>
                <a:endParaRPr lang="en-US" altLang="zh-TW" sz="3200" b="1" baseline="-25000" dirty="0"/>
              </a:p>
              <a:p>
                <a:pPr algn="ctr"/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ctr"/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3200" b="1" baseline="-25000" dirty="0" err="1">
                    <a:cs typeface="Times New Roman" panose="02020603050405020304" pitchFamily="18" charset="0"/>
                  </a:rPr>
                  <a:t>t,n</a:t>
                </a:r>
                <a:r>
                  <a:rPr lang="en-US" altLang="zh-TW" sz="3200" b="1" baseline="-250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max </a:t>
                </a:r>
                <a:r>
                  <a:rPr lang="en-US" altLang="zh-TW" sz="3200" b="1" dirty="0"/>
                  <a:t>( </a:t>
                </a:r>
                <a:r>
                  <a:rPr lang="zh-TW" altLang="en-US" sz="3200" b="1" dirty="0"/>
                  <a:t>𝑝 </a:t>
                </a:r>
                <a:r>
                  <a:rPr lang="en-US" altLang="zh-TW" sz="3200" b="1" dirty="0"/>
                  <a:t>( </a:t>
                </a:r>
                <a:r>
                  <a:rPr lang="zh-TW" altLang="en-US" sz="3200" b="1" dirty="0"/>
                  <a:t>𝑧</a:t>
                </a:r>
                <a:r>
                  <a:rPr lang="zh-TW" altLang="en-US" sz="3200" b="1" baseline="-25000" dirty="0"/>
                  <a:t>𝑡</a:t>
                </a:r>
                <a:r>
                  <a:rPr lang="en-US" altLang="zh-TW" sz="3200" b="1" dirty="0"/>
                  <a:t>|</a:t>
                </a:r>
                <a:r>
                  <a:rPr lang="zh-TW" altLang="en-US" sz="3200" b="1" dirty="0"/>
                  <a:t>𝑟</a:t>
                </a:r>
                <a:r>
                  <a:rPr lang="zh-TW" altLang="en-US" sz="3200" b="1" baseline="-25000" dirty="0"/>
                  <a:t> </a:t>
                </a:r>
                <a:r>
                  <a:rPr lang="en-US" altLang="zh-TW" sz="3200" b="1" baseline="-25000" dirty="0"/>
                  <a:t>n</a:t>
                </a:r>
                <a:r>
                  <a:rPr lang="en-US" altLang="zh-TW" sz="3200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zh-TW" altLang="en-US" sz="3200" b="1" dirty="0"/>
                  <a:t>𝑝</a:t>
                </a:r>
                <a:r>
                  <a:rPr lang="en-US" altLang="zh-TW" sz="3200" b="1" dirty="0"/>
                  <a:t>(</a:t>
                </a:r>
                <a:r>
                  <a:rPr lang="zh-TW" altLang="en-US" sz="3200" b="1" dirty="0"/>
                  <a:t>𝑑</a:t>
                </a:r>
                <a:r>
                  <a:rPr lang="zh-TW" altLang="en-US" sz="3200" b="1" baseline="-25000" dirty="0"/>
                  <a:t>𝑡</a:t>
                </a:r>
                <a:r>
                  <a:rPr lang="en-US" altLang="zh-TW" sz="3200" b="1" dirty="0"/>
                  <a:t>) </a:t>
                </a:r>
                <a14:m>
                  <m:oMath xmlns:m="http://schemas.openxmlformats.org/officeDocument/2006/math">
                    <m:r>
                      <a:rPr lang="en-US" altLang="zh-TW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n-US" altLang="zh-TW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3200" b="1" baseline="-25000" dirty="0">
                    <a:cs typeface="Times New Roman" panose="02020603050405020304" pitchFamily="18" charset="0"/>
                  </a:rPr>
                  <a:t>t-1,k</a:t>
                </a:r>
                <a:r>
                  <a:rPr lang="en-US" altLang="zh-TW" sz="3200" b="1" i="1" baseline="-2500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b="1" dirty="0"/>
                  <a:t>)</a:t>
                </a:r>
                <a:endParaRPr lang="zh-TW" altLang="en-US" sz="3200" b="1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135C8A0-060B-6A67-9935-9BECBC0C9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243" y="321119"/>
                <a:ext cx="7616757" cy="2882840"/>
              </a:xfrm>
              <a:prstGeom prst="rect">
                <a:avLst/>
              </a:prstGeom>
              <a:blipFill>
                <a:blip r:embed="rId3"/>
                <a:stretch>
                  <a:fillRect l="-2082" t="-3171" b="-61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D23AE31A-2C30-63F1-9FA5-6FAB0F75190F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97F966-31B6-64F0-3B0C-58EE968F6749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0F4DB3-7B45-DDE5-47AD-1B99AB07F73F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E835D5-3C3A-829A-42F8-D5D92A2D39FC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8FDBA1D0-4D5F-8611-825E-D6978D1DD3FB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D75461E7-7C93-DCC6-5C46-55F48D99071D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31E0820C-9C3B-7E07-B11A-52A909A3799D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D582954F-5447-9171-E1FA-0E66C5390A1F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7BA889DC-6AFD-5042-11B1-B98BAA07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80" y="3630394"/>
            <a:ext cx="4124325" cy="25812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5"/>
          <a:srcRect b="3314"/>
          <a:stretch/>
        </p:blipFill>
        <p:spPr>
          <a:xfrm>
            <a:off x="1208685" y="1133406"/>
            <a:ext cx="2247900" cy="254177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505" y="3661959"/>
            <a:ext cx="7391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0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79C7514-B832-BA9E-0FEB-C5825857B3DD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GROUND TRUTH DATA:</a:t>
            </a:r>
            <a:endParaRPr lang="zh-TW" altLang="en-US" sz="32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D76A7BE-1C5F-B958-4DCC-B647C5756C41}"/>
              </a:ext>
            </a:extLst>
          </p:cNvPr>
          <p:cNvSpPr txBox="1"/>
          <p:nvPr/>
        </p:nvSpPr>
        <p:spPr>
          <a:xfrm>
            <a:off x="241160" y="1138513"/>
            <a:ext cx="45201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 data for our </a:t>
            </a:r>
            <a:r>
              <a:rPr lang="zh-TW" altLang="en-US" sz="2400" b="1" dirty="0"/>
              <a:t>test route </a:t>
            </a:r>
            <a:r>
              <a:rPr lang="zh-TW" altLang="en-US" sz="2400" dirty="0"/>
              <a:t>was collected by driving a known, planned route in a vehicle containing a commercially available consumer grade </a:t>
            </a:r>
            <a:r>
              <a:rPr lang="zh-TW" altLang="en-US" sz="2400" b="1" dirty="0"/>
              <a:t>GPS device </a:t>
            </a:r>
            <a:r>
              <a:rPr lang="zh-TW" altLang="en-US" sz="2400" dirty="0"/>
              <a:t>with a logging featur  that records </a:t>
            </a:r>
            <a:r>
              <a:rPr lang="zh-TW" altLang="en-US" sz="2400" b="1" dirty="0"/>
              <a:t>the current latitude </a:t>
            </a:r>
            <a:r>
              <a:rPr lang="zh-TW" altLang="en-US" sz="2400" dirty="0"/>
              <a:t>and </a:t>
            </a:r>
            <a:r>
              <a:rPr lang="zh-TW" altLang="en-US" sz="2400" b="1" dirty="0"/>
              <a:t>longitude</a:t>
            </a:r>
            <a:r>
              <a:rPr lang="zh-TW" altLang="en-US" sz="2400" dirty="0"/>
              <a:t> </a:t>
            </a:r>
            <a:r>
              <a:rPr lang="zh-TW" altLang="en-US" sz="2400" b="1" dirty="0"/>
              <a:t>once per second</a:t>
            </a:r>
            <a:r>
              <a:rPr lang="zh-TW" altLang="en-US" sz="2400" dirty="0"/>
              <a:t>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A map of the route is shown in </a:t>
            </a:r>
            <a:r>
              <a:rPr lang="en-US" altLang="zh-TW" sz="2400" b="1" dirty="0"/>
              <a:t>Figure 2. </a:t>
            </a:r>
            <a:r>
              <a:rPr lang="en-US" altLang="zh-TW" sz="2400" dirty="0"/>
              <a:t>This route is about </a:t>
            </a:r>
            <a:r>
              <a:rPr lang="en-US" altLang="zh-TW" sz="2400" b="1" dirty="0"/>
              <a:t>80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kilometers </a:t>
            </a:r>
            <a:r>
              <a:rPr lang="en-US" altLang="zh-TW" sz="2400" dirty="0"/>
              <a:t>long, and</a:t>
            </a:r>
            <a:r>
              <a:rPr lang="zh-TW" altLang="en-US" sz="2400" dirty="0"/>
              <a:t> </a:t>
            </a:r>
            <a:r>
              <a:rPr lang="en-US" altLang="zh-TW" sz="2400" dirty="0"/>
              <a:t>it took about </a:t>
            </a:r>
            <a:r>
              <a:rPr lang="en-US" altLang="zh-TW" sz="2400" b="1" dirty="0"/>
              <a:t>2 hours to drive</a:t>
            </a:r>
            <a:r>
              <a:rPr lang="en-US" altLang="zh-TW" sz="2400" dirty="0"/>
              <a:t>.</a:t>
            </a:r>
            <a:r>
              <a:rPr lang="zh-TW" altLang="en-US" sz="2400" dirty="0"/>
              <a:t> </a:t>
            </a:r>
            <a:r>
              <a:rPr lang="en-US" altLang="zh-TW" sz="2400" dirty="0"/>
              <a:t>It Resulted in </a:t>
            </a:r>
            <a:r>
              <a:rPr lang="en-US" altLang="zh-TW" sz="2400" b="1" dirty="0"/>
              <a:t>7531 time stamped </a:t>
            </a:r>
            <a:r>
              <a:rPr lang="en-US" altLang="zh-TW" sz="2400" dirty="0"/>
              <a:t>latitude/</a:t>
            </a:r>
            <a:r>
              <a:rPr lang="en-US" altLang="zh-TW" sz="2400" dirty="0" err="1"/>
              <a:t>longitudepairs</a:t>
            </a:r>
            <a:r>
              <a:rPr lang="en-US" altLang="zh-TW" sz="2400" dirty="0"/>
              <a:t>.</a:t>
            </a:r>
            <a:r>
              <a:rPr lang="zh-TW" altLang="en-US" sz="2400" dirty="0"/>
              <a:t> 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ED3F712-3BE9-E426-EF8E-FDBA3ADE78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105"/>
          <a:stretch/>
        </p:blipFill>
        <p:spPr>
          <a:xfrm>
            <a:off x="4761295" y="1425341"/>
            <a:ext cx="7336919" cy="429414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3BFA50B-C583-358D-3832-9B44330DC010}"/>
              </a:ext>
            </a:extLst>
          </p:cNvPr>
          <p:cNvSpPr txBox="1"/>
          <p:nvPr/>
        </p:nvSpPr>
        <p:spPr>
          <a:xfrm>
            <a:off x="7961421" y="5798053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Figure 2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E91E2-9F3E-809A-9B43-68797A966D45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7FCC30-D650-2D8E-B59E-41B7802AFCEC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6EAB94-3472-4D7A-E547-0BDB3AE6E32E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0A4AFC-1ED4-7FD8-C67C-C7D22FB82FD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92809E8D-6A05-7EE2-AC55-DF5FB7FEBA3D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C2B76A01-CCFF-E14F-1F5F-F49F02C17D88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E13D4911-FA59-ABD7-BCF9-72877679B1AA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923F4562-188B-7933-2FF0-6B6BF1AC5D7E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B79A2A95-F57D-8AB6-5286-636E4630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797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5820D9F-7D76-9AC0-9602-95FF04603A8A}"/>
              </a:ext>
            </a:extLst>
          </p:cNvPr>
          <p:cNvSpPr txBox="1"/>
          <p:nvPr/>
        </p:nvSpPr>
        <p:spPr>
          <a:xfrm>
            <a:off x="1155565" y="1506804"/>
            <a:ext cx="98808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simulate degraded versions of the GPS data by </a:t>
            </a:r>
            <a:r>
              <a:rPr lang="en-US" altLang="zh-TW" sz="2400" b="1" dirty="0"/>
              <a:t>removing points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adding Gaussian random noise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</a:t>
            </a:r>
            <a:r>
              <a:rPr lang="zh-TW" altLang="en-US" sz="2400" dirty="0"/>
              <a:t> </a:t>
            </a:r>
            <a:r>
              <a:rPr lang="en-US" altLang="zh-TW" sz="2400" dirty="0"/>
              <a:t>simulated</a:t>
            </a:r>
            <a:r>
              <a:rPr lang="zh-TW" altLang="en-US" sz="2400" dirty="0"/>
              <a:t> </a:t>
            </a:r>
            <a:r>
              <a:rPr lang="en-US" altLang="zh-TW" sz="2400" dirty="0"/>
              <a:t>sampling</a:t>
            </a:r>
            <a:r>
              <a:rPr lang="zh-TW" altLang="en-US" sz="2400" dirty="0"/>
              <a:t> </a:t>
            </a:r>
            <a:r>
              <a:rPr lang="en-US" altLang="zh-TW" sz="2400" dirty="0"/>
              <a:t>periods</a:t>
            </a:r>
            <a:r>
              <a:rPr lang="zh-TW" altLang="en-US" sz="2400" dirty="0"/>
              <a:t> </a:t>
            </a:r>
            <a:r>
              <a:rPr lang="en-US" altLang="zh-TW" sz="2400" dirty="0"/>
              <a:t>of</a:t>
            </a:r>
            <a:r>
              <a:rPr lang="zh-TW" altLang="en-US" sz="2400" dirty="0"/>
              <a:t> </a:t>
            </a:r>
            <a:r>
              <a:rPr lang="en-US" altLang="zh-TW" sz="2400" b="1" dirty="0"/>
              <a:t>(2,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5,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10,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20,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30,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45,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60,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90,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120,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180,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240,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300,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360,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420,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480,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540,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and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600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seconds</a:t>
            </a:r>
            <a:r>
              <a:rPr lang="en-US" altLang="zh-TW" sz="2400" dirty="0"/>
              <a:t>)</a:t>
            </a:r>
            <a:r>
              <a:rPr lang="zh-TW" altLang="en-US" sz="2400" dirty="0"/>
              <a:t> </a:t>
            </a:r>
            <a:r>
              <a:rPr lang="en-US" altLang="zh-TW" sz="2400" dirty="0"/>
              <a:t>in</a:t>
            </a:r>
            <a:r>
              <a:rPr lang="zh-TW" altLang="en-US" sz="2400" dirty="0"/>
              <a:t> </a:t>
            </a:r>
            <a:r>
              <a:rPr lang="en-US" altLang="zh-TW" sz="2400" dirty="0"/>
              <a:t>addition</a:t>
            </a:r>
            <a:r>
              <a:rPr lang="zh-TW" altLang="en-US" sz="2400" dirty="0"/>
              <a:t> </a:t>
            </a:r>
            <a:r>
              <a:rPr lang="en-US" altLang="zh-TW" sz="2400" dirty="0"/>
              <a:t>to</a:t>
            </a:r>
            <a:r>
              <a:rPr lang="zh-TW" altLang="en-US" sz="2400" dirty="0"/>
              <a:t> </a:t>
            </a:r>
            <a:r>
              <a:rPr lang="en-US" altLang="zh-TW" sz="2400" dirty="0"/>
              <a:t>the</a:t>
            </a:r>
            <a:r>
              <a:rPr lang="zh-TW" altLang="en-US" sz="2400" dirty="0"/>
              <a:t> </a:t>
            </a:r>
            <a:r>
              <a:rPr lang="en-US" altLang="zh-TW" sz="2400" dirty="0"/>
              <a:t>original</a:t>
            </a:r>
            <a:r>
              <a:rPr lang="zh-TW" altLang="en-US" sz="2400" dirty="0"/>
              <a:t> </a:t>
            </a:r>
            <a:r>
              <a:rPr lang="en-US" altLang="zh-TW" sz="2400" dirty="0"/>
              <a:t>1 - second</a:t>
            </a:r>
            <a:r>
              <a:rPr lang="zh-TW" altLang="en-US" sz="2400" dirty="0"/>
              <a:t> </a:t>
            </a:r>
            <a:r>
              <a:rPr lang="en-US" altLang="zh-TW" sz="2400" dirty="0"/>
              <a:t>data</a:t>
            </a:r>
            <a:r>
              <a:rPr lang="zh-TW" altLang="en-US" sz="2400" dirty="0"/>
              <a:t> </a:t>
            </a:r>
            <a:r>
              <a:rPr lang="en-US" altLang="zh-TW" sz="2400" dirty="0"/>
              <a:t>from</a:t>
            </a:r>
            <a:r>
              <a:rPr lang="zh-TW" altLang="en-US" sz="2400" dirty="0"/>
              <a:t> </a:t>
            </a:r>
            <a:r>
              <a:rPr lang="en-US" altLang="zh-TW" sz="2400" dirty="0"/>
              <a:t>our</a:t>
            </a:r>
            <a:r>
              <a:rPr lang="zh-TW" altLang="en-US" sz="2400" dirty="0"/>
              <a:t> </a:t>
            </a:r>
            <a:r>
              <a:rPr lang="en-US" altLang="zh-TW" sz="2400" dirty="0"/>
              <a:t>logger.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simulated </a:t>
            </a:r>
            <a:r>
              <a:rPr lang="en-US" altLang="zh-TW" sz="2400" b="1" dirty="0"/>
              <a:t>random Gaussian noise </a:t>
            </a:r>
            <a:r>
              <a:rPr lang="en-US" altLang="zh-TW" sz="2400" dirty="0"/>
              <a:t>with </a:t>
            </a:r>
            <a:r>
              <a:rPr lang="en-US" altLang="zh-TW" sz="2400" b="1" dirty="0"/>
              <a:t>standard deviations </a:t>
            </a:r>
            <a:r>
              <a:rPr lang="en-US" altLang="zh-TW" sz="2400" dirty="0"/>
              <a:t>of </a:t>
            </a:r>
            <a:r>
              <a:rPr lang="en-US" altLang="zh-TW" sz="2400" b="1" dirty="0"/>
              <a:t>(10, 15, 20, 30, 40, 50, 75, and 100 meters).</a:t>
            </a:r>
            <a:endParaRPr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3447394-6237-165E-17BF-5A22C602480B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Degraded Data:</a:t>
            </a:r>
            <a:endParaRPr lang="zh-TW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5ABB0E-A41C-1AD8-F371-8FF68ED4112E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1805C8-5A59-0A04-FB8F-39CB30CE99FB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6DD049-7543-6E9D-4F77-CEEA6F3317FA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FCD67B-0119-32A1-51F9-5D922D881E9A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半框架 15">
            <a:extLst>
              <a:ext uri="{FF2B5EF4-FFF2-40B4-BE49-F238E27FC236}">
                <a16:creationId xmlns:a16="http://schemas.microsoft.com/office/drawing/2014/main" id="{406B36B9-6119-016B-94CD-281D3DDF2E20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85CBC74D-816A-AA13-DFD0-1A9DF10BAE45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78987F5E-3368-2E81-B7EC-3FD9ED1FB671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E609C1A7-40BE-91F4-DD0A-040563AB02E9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587E29D5-10CB-169A-61B7-8170571E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819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6B41ADB-D02E-8237-7074-A356DCCE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62" y="4485797"/>
            <a:ext cx="6924675" cy="16287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1027E5-9AB2-1BF4-FF21-B9D94A9649E4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Degraded Data:</a:t>
            </a:r>
            <a:endParaRPr lang="zh-TW" altLang="en-US" sz="32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0FCD718-A0CD-B087-8671-DB4EDCE3DCB2}"/>
              </a:ext>
            </a:extLst>
          </p:cNvPr>
          <p:cNvSpPr txBox="1"/>
          <p:nvPr/>
        </p:nvSpPr>
        <p:spPr>
          <a:xfrm>
            <a:off x="1237844" y="1455942"/>
            <a:ext cx="991005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Note that to simulate a particular </a:t>
            </a:r>
            <a:r>
              <a:rPr lang="en-US" altLang="zh-TW" sz="2400" b="1" dirty="0"/>
              <a:t>noise level</a:t>
            </a:r>
            <a:r>
              <a:rPr lang="en-US" altLang="zh-TW" sz="2400" dirty="0"/>
              <a:t>, we had to account for the fact that there is already </a:t>
            </a:r>
            <a:r>
              <a:rPr lang="en-US" altLang="zh-TW" sz="2400" b="1" dirty="0"/>
              <a:t>some random noise </a:t>
            </a:r>
            <a:r>
              <a:rPr lang="en-US" altLang="zh-TW" sz="2400" dirty="0"/>
              <a:t>in the </a:t>
            </a:r>
            <a:r>
              <a:rPr lang="en-US" altLang="zh-TW" sz="2400" b="1" dirty="0"/>
              <a:t>original data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Fortunately, </a:t>
            </a:r>
            <a:r>
              <a:rPr lang="en-US" altLang="zh-TW" sz="2400" b="1" dirty="0"/>
              <a:t>Gaussian noise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additive</a:t>
            </a:r>
            <a:r>
              <a:rPr lang="en-US" altLang="zh-TW" sz="2400" dirty="0"/>
              <a:t> </a:t>
            </a:r>
            <a:r>
              <a:rPr lang="en-US" altLang="zh-TW" sz="2400" b="1" dirty="0"/>
              <a:t>in the sense of the equations below</a:t>
            </a:r>
            <a:r>
              <a:rPr lang="en-US" altLang="zh-TW" sz="2400" dirty="0"/>
              <a:t>, so we could simulate </a:t>
            </a:r>
            <a:r>
              <a:rPr lang="en-US" altLang="zh-TW" sz="2400" b="1" dirty="0"/>
              <a:t>any</a:t>
            </a:r>
            <a:r>
              <a:rPr lang="en-US" altLang="zh-TW" sz="2400" dirty="0"/>
              <a:t> amount of </a:t>
            </a:r>
            <a:r>
              <a:rPr lang="en-US" altLang="zh-TW" sz="2400" b="1" dirty="0"/>
              <a:t>additional noise </a:t>
            </a:r>
            <a:r>
              <a:rPr lang="en-US" altLang="zh-TW" sz="2400" dirty="0"/>
              <a:t>with knowledge of the original </a:t>
            </a:r>
            <a:r>
              <a:rPr lang="zh-TW" altLang="en-US" sz="3600" dirty="0"/>
              <a:t>𝜎</a:t>
            </a:r>
            <a:r>
              <a:rPr lang="zh-TW" altLang="en-US" sz="3600" baseline="-25000" dirty="0"/>
              <a:t>𝑧 </a:t>
            </a:r>
            <a:r>
              <a:rPr lang="en-US" altLang="zh-TW" sz="2400" dirty="0"/>
              <a:t>from the sensor.</a:t>
            </a:r>
            <a:endParaRPr lang="zh-TW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7B2EA8-0163-6EE9-B20F-80067C416877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2E137D-E25C-D203-4D5F-5F348E6A5701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E75644-6B71-D314-C514-637529805886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535A45-020D-356C-AAFD-39AE5EF2F400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DB1A46DA-0477-A761-DF67-277D8052DBD8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7ECE8A1A-BFE8-8E35-E7F8-9AC3F2596F1F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B9E2EC52-CD4C-3F00-DDC1-C2DE2A3473CB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AC3A326E-E165-C857-E54C-5573D91BA17E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30547A80-504A-51DC-CAD8-39A42706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5233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79C7514-B832-BA9E-0FEB-C5825857B3DD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Parameter Estimation:</a:t>
            </a:r>
            <a:endParaRPr lang="zh-TW" altLang="en-US" sz="32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5EA86A0-35CF-5379-41A7-A52DA442D5DC}"/>
              </a:ext>
            </a:extLst>
          </p:cNvPr>
          <p:cNvSpPr txBox="1"/>
          <p:nvPr/>
        </p:nvSpPr>
        <p:spPr>
          <a:xfrm>
            <a:off x="831152" y="1375634"/>
            <a:ext cx="1005658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Our </a:t>
            </a:r>
            <a:r>
              <a:rPr lang="en-US" altLang="zh-TW" sz="2400" b="1" dirty="0"/>
              <a:t>HMM</a:t>
            </a:r>
            <a:r>
              <a:rPr lang="en-US" altLang="zh-TW" sz="2400" dirty="0"/>
              <a:t> needs two </a:t>
            </a:r>
            <a:r>
              <a:rPr lang="en-US" altLang="zh-TW" sz="2400" b="1" dirty="0"/>
              <a:t>probability-related</a:t>
            </a:r>
            <a:r>
              <a:rPr lang="en-US" altLang="zh-TW" sz="2400" dirty="0"/>
              <a:t> parameters. One is </a:t>
            </a:r>
            <a:r>
              <a:rPr lang="zh-TW" altLang="en-US" sz="3200" b="1" dirty="0"/>
              <a:t>𝜎</a:t>
            </a:r>
            <a:r>
              <a:rPr lang="zh-TW" altLang="en-US" sz="3200" b="1" baseline="-25000" dirty="0"/>
              <a:t>𝑧 </a:t>
            </a:r>
            <a:r>
              <a:rPr lang="en-US" altLang="zh-TW" sz="2400" dirty="0"/>
              <a:t>, which is the </a:t>
            </a:r>
            <a:r>
              <a:rPr lang="en-US" altLang="zh-TW" sz="2400" b="1" dirty="0"/>
              <a:t>standard deviation </a:t>
            </a:r>
            <a:r>
              <a:rPr lang="en-US" altLang="zh-TW" sz="2400" dirty="0"/>
              <a:t>of </a:t>
            </a:r>
            <a:r>
              <a:rPr lang="en-US" altLang="zh-TW" sz="2400" b="1" dirty="0"/>
              <a:t>Gaussian GPS noise</a:t>
            </a:r>
            <a:r>
              <a:rPr lang="en-US" altLang="zh-TW" sz="2400" dirty="0"/>
              <a:t>. We estimate this starting with our </a:t>
            </a:r>
            <a:r>
              <a:rPr lang="zh-TW" altLang="en-US" sz="3200" b="1" dirty="0"/>
              <a:t>𝑧</a:t>
            </a:r>
            <a:r>
              <a:rPr lang="zh-TW" altLang="en-US" sz="3200" b="1" baseline="-25000" dirty="0"/>
              <a:t>𝑡 </a:t>
            </a:r>
            <a:r>
              <a:rPr lang="en-US" altLang="zh-TW" sz="2400" dirty="0"/>
              <a:t>measurements.</a:t>
            </a:r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standard deviation </a:t>
            </a:r>
            <a:r>
              <a:rPr lang="en-US" altLang="zh-TW" sz="2400" dirty="0"/>
              <a:t>of these values is our estimate of the GPS noise, </a:t>
            </a:r>
            <a:r>
              <a:rPr lang="zh-TW" altLang="en-US" sz="3200" b="1" dirty="0"/>
              <a:t>𝜎</a:t>
            </a:r>
            <a:r>
              <a:rPr lang="zh-TW" altLang="en-US" sz="3200" b="1" baseline="-25000" dirty="0"/>
              <a:t>𝑧 </a:t>
            </a:r>
            <a:r>
              <a:rPr lang="en-US" altLang="zh-TW" sz="2400" dirty="0"/>
              <a:t>. We estimated </a:t>
            </a:r>
            <a:r>
              <a:rPr lang="zh-TW" altLang="en-US" sz="3200" b="1" dirty="0"/>
              <a:t>𝜎</a:t>
            </a:r>
            <a:r>
              <a:rPr lang="zh-TW" altLang="en-US" sz="3200" b="1" baseline="-25000" dirty="0"/>
              <a:t>𝑧  </a:t>
            </a:r>
            <a:r>
              <a:rPr lang="en-US" altLang="zh-TW" sz="2400" dirty="0"/>
              <a:t>using the </a:t>
            </a:r>
            <a:r>
              <a:rPr lang="en-US" altLang="zh-TW" sz="2400" b="1" dirty="0"/>
              <a:t>median absolute deviation (MAD), </a:t>
            </a:r>
            <a:r>
              <a:rPr lang="en-US" altLang="zh-TW" sz="2400" dirty="0"/>
              <a:t>which is a robust estimator of standard deviation: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 our test data, this value was </a:t>
            </a:r>
            <a:r>
              <a:rPr lang="zh-TW" altLang="en-US" sz="3200" b="1" dirty="0"/>
              <a:t>𝜎</a:t>
            </a:r>
            <a:r>
              <a:rPr lang="zh-TW" altLang="en-US" sz="3200" b="1" baseline="-25000" dirty="0"/>
              <a:t>𝑧</a:t>
            </a:r>
            <a:r>
              <a:rPr lang="zh-TW" altLang="en-US" sz="3200" dirty="0"/>
              <a:t> </a:t>
            </a:r>
            <a:r>
              <a:rPr lang="en-US" altLang="zh-TW" sz="2400" dirty="0"/>
              <a:t>= 4.07 meters, which is a reasonable value for GPS noise. 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00" y="4587702"/>
            <a:ext cx="7031595" cy="89206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1D6EF1E-63DF-76D3-E063-D4B02C7A425B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C4BB31-E908-27E5-8BDC-8935A5FCE7C7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2970DB-6A20-ACBB-1AD1-E58180E3EB7C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3108A8-D5FF-68E2-7EF6-C167BF3E18E7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DA10CB41-9BD1-1CE1-4511-35CB252DD6D5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89975CF5-A901-6418-4E31-A6027A57D6D6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41C1BCE5-E77B-4705-C8FF-66C2CB76AF3A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AA06CF19-AB87-3B8A-CE1D-6C6B1B4115E8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766A5320-66F7-C5F2-2F5E-F9AA479B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880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E84722E-E33F-BA1B-ACAC-0D5B8F06BDE3}"/>
              </a:ext>
            </a:extLst>
          </p:cNvPr>
          <p:cNvSpPr txBox="1"/>
          <p:nvPr/>
        </p:nvSpPr>
        <p:spPr>
          <a:xfrm>
            <a:off x="1385932" y="1671005"/>
            <a:ext cx="901293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other probability parameter we need is </a:t>
            </a:r>
            <a:r>
              <a:rPr lang="zh-TW" altLang="en-US" sz="2400" b="1" dirty="0"/>
              <a:t>𝛽 </a:t>
            </a:r>
            <a:r>
              <a:rPr lang="en-US" altLang="zh-TW" sz="2400" dirty="0"/>
              <a:t>from the exponential distribution in Equation (</a:t>
            </a:r>
            <a:r>
              <a:rPr lang="en-US" altLang="zh-TW" sz="2400" b="1" dirty="0"/>
              <a:t>Transition Probabilities</a:t>
            </a:r>
            <a:r>
              <a:rPr lang="en-US" altLang="zh-TW" sz="2400" dirty="0"/>
              <a:t>). This describes the </a:t>
            </a:r>
            <a:r>
              <a:rPr lang="en-US" altLang="zh-TW" sz="2400" b="1" dirty="0"/>
              <a:t>difference</a:t>
            </a:r>
            <a:r>
              <a:rPr lang="en-US" altLang="zh-TW" sz="2400" dirty="0"/>
              <a:t> between </a:t>
            </a:r>
            <a:r>
              <a:rPr lang="en-US" altLang="zh-TW" sz="2400" b="1" dirty="0"/>
              <a:t>route distances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great circle distances</a:t>
            </a:r>
            <a:r>
              <a:rPr lang="en-US" altLang="zh-TW" sz="2400" dirty="0"/>
              <a:t>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A larger value of </a:t>
            </a:r>
            <a:r>
              <a:rPr lang="zh-TW" altLang="en-US" sz="3200" b="1" dirty="0"/>
              <a:t>𝜎</a:t>
            </a:r>
            <a:r>
              <a:rPr lang="zh-TW" altLang="en-US" sz="3200" b="1" baseline="-25000" dirty="0"/>
              <a:t>𝑧 </a:t>
            </a:r>
            <a:r>
              <a:rPr lang="en-US" altLang="zh-TW" sz="2400" dirty="0"/>
              <a:t>,represents less trust in the location measurements.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A larger value of </a:t>
            </a:r>
            <a:r>
              <a:rPr lang="zh-TW" altLang="en-US" sz="2400" b="1" dirty="0"/>
              <a:t>𝛽</a:t>
            </a:r>
            <a:r>
              <a:rPr lang="en-US" altLang="zh-TW" sz="2400" dirty="0"/>
              <a:t>, represents more tolerance of non-direct routes.</a:t>
            </a:r>
            <a:endParaRPr lang="zh-TW" altLang="en-US" sz="24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A2F0A88-E804-1509-3542-3EF51B0B0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42" y="3005848"/>
            <a:ext cx="5355316" cy="135143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ED205EF-D746-B777-AD07-B4C5CA1ECF16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Parameter Estimation:</a:t>
            </a:r>
            <a:endParaRPr lang="zh-TW" altLang="en-US" sz="3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89BF78-77AD-72AA-E605-082FF4A54BBB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D3A2A2-D01B-20C6-AAEB-A5A770B724E5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78780D-C0BD-3598-CD69-66F4E32503CC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274714-DE81-8D0F-4D84-4BA5B8935FBA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984430A6-BC58-9A8A-3A2E-55E5D9DCA287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CD1AF232-FA91-E02E-EDF2-643E34FA1E6F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17B8061A-8E2B-2AD6-F363-BD32DE98073A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3A6099A7-E247-4DCE-7FE5-478CD5E36786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49AD2A52-49DD-11BC-A2C4-F146BE82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880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CCFD8E8-E314-FAA0-1623-0A8EA812183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RESULTS:</a:t>
            </a:r>
            <a:endParaRPr lang="zh-TW" altLang="en-US" sz="3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0ECD5F-B5BB-AC53-E333-1680B5855625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1BFF1B-D8D2-3EC7-5EF1-8564E5D8A0E5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04D5CE-7D26-D69E-875E-98834A122076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860BF8-8151-0E09-981F-2729BAFE47E1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D1CB2651-A729-15F9-A5AF-EB7EBFCA8D81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212B5103-4DC9-D537-D454-FB9C7EB37B4D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B73D7CEF-9317-F046-69A9-619032CED416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E0434B59-D865-E653-077C-2BAD7B08BF2A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2974C29D-F53C-C198-9002-951DF18B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AB2DB76-FCFB-DCA6-FABF-CFEA8F28DD15}"/>
              </a:ext>
            </a:extLst>
          </p:cNvPr>
          <p:cNvSpPr txBox="1"/>
          <p:nvPr/>
        </p:nvSpPr>
        <p:spPr>
          <a:xfrm>
            <a:off x="838199" y="1223665"/>
            <a:ext cx="107912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There</a:t>
            </a:r>
            <a:r>
              <a:rPr lang="zh-TW" altLang="en-US" sz="2400" dirty="0"/>
              <a:t> </a:t>
            </a:r>
            <a:r>
              <a:rPr lang="en-US" altLang="zh-TW" sz="2400" dirty="0"/>
              <a:t>are</a:t>
            </a:r>
            <a:r>
              <a:rPr lang="zh-TW" altLang="en-US" sz="2400" dirty="0"/>
              <a:t> </a:t>
            </a:r>
            <a:r>
              <a:rPr lang="en-US" altLang="zh-TW" sz="2400" b="1" dirty="0"/>
              <a:t>various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conditions</a:t>
            </a:r>
            <a:r>
              <a:rPr lang="zh-TW" altLang="en-US" sz="2400" b="1" dirty="0"/>
              <a:t> </a:t>
            </a:r>
            <a:r>
              <a:rPr lang="en-US" altLang="zh-TW" sz="2400" dirty="0"/>
              <a:t>that</a:t>
            </a:r>
            <a:r>
              <a:rPr lang="zh-TW" altLang="en-US" sz="2400" dirty="0"/>
              <a:t> </a:t>
            </a:r>
            <a:r>
              <a:rPr lang="en-US" altLang="zh-TW" sz="2400" dirty="0"/>
              <a:t>induce</a:t>
            </a:r>
            <a:r>
              <a:rPr lang="zh-TW" altLang="en-US" sz="2400" dirty="0"/>
              <a:t> </a:t>
            </a:r>
            <a:r>
              <a:rPr lang="en-US" altLang="zh-TW" sz="2400" dirty="0"/>
              <a:t>a</a:t>
            </a:r>
            <a:r>
              <a:rPr lang="zh-TW" altLang="en-US" sz="2400" dirty="0"/>
              <a:t> </a:t>
            </a:r>
            <a:r>
              <a:rPr lang="en-US" altLang="zh-TW" sz="2400" dirty="0"/>
              <a:t>break</a:t>
            </a:r>
            <a:r>
              <a:rPr lang="zh-TW" altLang="en-US" sz="2400" dirty="0"/>
              <a:t> </a:t>
            </a:r>
            <a:r>
              <a:rPr lang="en-US" altLang="zh-TW" sz="2400" dirty="0"/>
              <a:t>in</a:t>
            </a:r>
            <a:r>
              <a:rPr lang="zh-TW" altLang="en-US" sz="2400" dirty="0"/>
              <a:t> </a:t>
            </a:r>
            <a:r>
              <a:rPr lang="en-US" altLang="zh-TW" sz="2400" dirty="0"/>
              <a:t>the</a:t>
            </a:r>
            <a:r>
              <a:rPr lang="zh-TW" altLang="en-US" sz="2400" dirty="0"/>
              <a:t> </a:t>
            </a:r>
            <a:r>
              <a:rPr lang="en-US" altLang="zh-TW" sz="2400" b="1" dirty="0"/>
              <a:t>HMM</a:t>
            </a:r>
            <a:r>
              <a:rPr lang="zh-TW" altLang="en-US" sz="2400" dirty="0"/>
              <a:t> </a:t>
            </a:r>
            <a:r>
              <a:rPr lang="en-US" altLang="zh-TW" sz="2400" dirty="0"/>
              <a:t>lattice</a:t>
            </a:r>
            <a:r>
              <a:rPr lang="zh-TW" altLang="en-US" sz="2400" dirty="0"/>
              <a:t> </a:t>
            </a:r>
            <a:r>
              <a:rPr lang="en-US" altLang="zh-TW" sz="2400" dirty="0"/>
              <a:t>where</a:t>
            </a:r>
            <a:r>
              <a:rPr lang="zh-TW" altLang="en-US" sz="2400" dirty="0"/>
              <a:t> </a:t>
            </a:r>
            <a:r>
              <a:rPr lang="en-US" altLang="zh-TW" sz="2400" dirty="0"/>
              <a:t>all</a:t>
            </a:r>
            <a:r>
              <a:rPr lang="zh-TW" altLang="en-US" sz="2400" dirty="0"/>
              <a:t> </a:t>
            </a:r>
            <a:r>
              <a:rPr lang="en-US" altLang="zh-TW" sz="2400" dirty="0"/>
              <a:t>the</a:t>
            </a:r>
            <a:r>
              <a:rPr lang="zh-TW" altLang="en-US" sz="2400" dirty="0"/>
              <a:t> </a:t>
            </a:r>
            <a:r>
              <a:rPr lang="en-US" altLang="zh-TW" sz="2400" b="1" dirty="0"/>
              <a:t>transition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probabilities</a:t>
            </a:r>
            <a:r>
              <a:rPr lang="zh-TW" altLang="en-US" sz="2400" b="1" dirty="0"/>
              <a:t> </a:t>
            </a:r>
            <a:r>
              <a:rPr lang="en-US" altLang="zh-TW" sz="2400" dirty="0"/>
              <a:t>from</a:t>
            </a:r>
            <a:r>
              <a:rPr lang="zh-TW" altLang="en-US" sz="2400" dirty="0"/>
              <a:t> </a:t>
            </a:r>
            <a:r>
              <a:rPr lang="en-US" altLang="zh-TW" sz="2400" dirty="0"/>
              <a:t>one</a:t>
            </a:r>
            <a:r>
              <a:rPr lang="zh-TW" altLang="en-US" sz="2400" dirty="0"/>
              <a:t> </a:t>
            </a:r>
            <a:r>
              <a:rPr lang="en-US" altLang="zh-TW" sz="2400" dirty="0"/>
              <a:t>time</a:t>
            </a:r>
            <a:r>
              <a:rPr lang="zh-TW" altLang="en-US" sz="2400" dirty="0"/>
              <a:t> </a:t>
            </a:r>
            <a:r>
              <a:rPr lang="en-US" altLang="zh-TW" sz="2400" dirty="0"/>
              <a:t>step</a:t>
            </a:r>
            <a:r>
              <a:rPr lang="zh-TW" altLang="en-US" sz="2400" dirty="0"/>
              <a:t> </a:t>
            </a:r>
            <a:r>
              <a:rPr lang="en-US" altLang="zh-TW" sz="2400" dirty="0"/>
              <a:t>to</a:t>
            </a:r>
            <a:r>
              <a:rPr lang="zh-TW" altLang="en-US" sz="2400" dirty="0"/>
              <a:t> </a:t>
            </a:r>
            <a:r>
              <a:rPr lang="en-US" altLang="zh-TW" sz="2400" dirty="0"/>
              <a:t>the</a:t>
            </a:r>
            <a:r>
              <a:rPr lang="zh-TW" altLang="en-US" sz="2400" dirty="0"/>
              <a:t> </a:t>
            </a:r>
            <a:r>
              <a:rPr lang="en-US" altLang="zh-TW" sz="2400" dirty="0"/>
              <a:t>next</a:t>
            </a:r>
            <a:r>
              <a:rPr lang="zh-TW" altLang="en-US" sz="2400" dirty="0"/>
              <a:t> </a:t>
            </a:r>
            <a:r>
              <a:rPr lang="en-US" altLang="zh-TW" sz="2400" dirty="0"/>
              <a:t>are</a:t>
            </a:r>
            <a:r>
              <a:rPr lang="zh-TW" altLang="en-US" sz="2400" dirty="0"/>
              <a:t> </a:t>
            </a:r>
            <a:r>
              <a:rPr lang="en-US" altLang="zh-TW" sz="2400" b="1" dirty="0"/>
              <a:t>zero</a:t>
            </a:r>
            <a:r>
              <a:rPr lang="en-US" altLang="zh-TW" sz="2400" dirty="0"/>
              <a:t>. We</a:t>
            </a:r>
            <a:r>
              <a:rPr lang="zh-TW" altLang="en-US" sz="2400" dirty="0"/>
              <a:t> </a:t>
            </a:r>
            <a:r>
              <a:rPr lang="en-US" altLang="zh-TW" sz="2400" dirty="0"/>
              <a:t>detail</a:t>
            </a:r>
            <a:r>
              <a:rPr lang="zh-TW" altLang="en-US" sz="2400" dirty="0"/>
              <a:t> </a:t>
            </a:r>
            <a:r>
              <a:rPr lang="en-US" altLang="zh-TW" sz="2400" dirty="0"/>
              <a:t>these</a:t>
            </a:r>
            <a:r>
              <a:rPr lang="zh-TW" altLang="en-US" sz="2400" dirty="0"/>
              <a:t> </a:t>
            </a:r>
            <a:r>
              <a:rPr lang="en-US" altLang="zh-TW" sz="2400" dirty="0"/>
              <a:t>conditions</a:t>
            </a:r>
            <a:r>
              <a:rPr lang="zh-TW" altLang="en-US" sz="2400" dirty="0"/>
              <a:t> </a:t>
            </a:r>
            <a:r>
              <a:rPr lang="en-US" altLang="zh-TW" sz="2400" dirty="0"/>
              <a:t>below, after</a:t>
            </a:r>
            <a:r>
              <a:rPr lang="zh-TW" altLang="en-US" sz="2400" dirty="0"/>
              <a:t> </a:t>
            </a:r>
            <a:r>
              <a:rPr lang="en-US" altLang="zh-TW" sz="2400" dirty="0"/>
              <a:t>which</a:t>
            </a:r>
            <a:r>
              <a:rPr lang="zh-TW" altLang="en-US" sz="2400" dirty="0"/>
              <a:t> </a:t>
            </a:r>
            <a:r>
              <a:rPr lang="en-US" altLang="zh-TW" sz="2400" dirty="0"/>
              <a:t>we</a:t>
            </a:r>
            <a:r>
              <a:rPr lang="zh-TW" altLang="en-US" sz="2400" dirty="0"/>
              <a:t> </a:t>
            </a:r>
            <a:r>
              <a:rPr lang="en-US" altLang="zh-TW" sz="2400" dirty="0"/>
              <a:t>give</a:t>
            </a:r>
            <a:r>
              <a:rPr lang="zh-TW" altLang="en-US" sz="2400" dirty="0"/>
              <a:t> </a:t>
            </a:r>
            <a:r>
              <a:rPr lang="en-US" altLang="zh-TW" sz="2400" dirty="0"/>
              <a:t>a</a:t>
            </a:r>
            <a:r>
              <a:rPr lang="zh-TW" altLang="en-US" sz="2400" dirty="0"/>
              <a:t> </a:t>
            </a:r>
            <a:r>
              <a:rPr lang="en-US" altLang="zh-TW" sz="2400" dirty="0"/>
              <a:t>simple</a:t>
            </a:r>
            <a:r>
              <a:rPr lang="zh-TW" altLang="en-US" sz="2400" dirty="0"/>
              <a:t> </a:t>
            </a:r>
            <a:r>
              <a:rPr lang="en-US" altLang="zh-TW" sz="2400" dirty="0"/>
              <a:t>method</a:t>
            </a:r>
            <a:r>
              <a:rPr lang="zh-TW" altLang="en-US" sz="2400" dirty="0"/>
              <a:t> </a:t>
            </a:r>
            <a:r>
              <a:rPr lang="en-US" altLang="zh-TW" sz="2400" dirty="0"/>
              <a:t>to</a:t>
            </a:r>
            <a:r>
              <a:rPr lang="zh-TW" altLang="en-US" sz="2400" dirty="0"/>
              <a:t> </a:t>
            </a:r>
            <a:r>
              <a:rPr lang="en-US" altLang="zh-TW" sz="2400" dirty="0"/>
              <a:t>work</a:t>
            </a:r>
            <a:r>
              <a:rPr lang="zh-TW" altLang="en-US" sz="2400" dirty="0"/>
              <a:t> </a:t>
            </a:r>
            <a:r>
              <a:rPr lang="en-US" altLang="zh-TW" sz="2400" dirty="0"/>
              <a:t>around</a:t>
            </a:r>
            <a:r>
              <a:rPr lang="zh-TW" altLang="en-US" sz="2400" dirty="0"/>
              <a:t> </a:t>
            </a:r>
            <a:r>
              <a:rPr lang="en-US" altLang="zh-TW" sz="2400" dirty="0"/>
              <a:t>these</a:t>
            </a:r>
            <a:r>
              <a:rPr lang="zh-TW" altLang="en-US" sz="2400" dirty="0"/>
              <a:t> </a:t>
            </a:r>
            <a:r>
              <a:rPr lang="en-US" altLang="zh-TW" sz="2400" dirty="0"/>
              <a:t>breaks, </a:t>
            </a:r>
            <a:r>
              <a:rPr lang="en-US" altLang="zh-TW" sz="2400" b="1" dirty="0"/>
              <a:t>effectively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removing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unmatchable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data</a:t>
            </a:r>
            <a:r>
              <a:rPr lang="en-US" altLang="zh-TW" sz="2400" dirty="0"/>
              <a:t>.</a:t>
            </a:r>
            <a:r>
              <a:rPr lang="zh-TW" altLang="en-US" sz="2400" dirty="0"/>
              <a:t> </a:t>
            </a:r>
            <a:r>
              <a:rPr lang="en-US" altLang="zh-TW" sz="2400" b="1" dirty="0"/>
              <a:t>The conditions </a:t>
            </a:r>
            <a:r>
              <a:rPr lang="en-US" altLang="zh-TW" sz="2400" dirty="0"/>
              <a:t>that </a:t>
            </a:r>
            <a:r>
              <a:rPr lang="en-US" altLang="zh-TW" sz="2400" b="1" dirty="0"/>
              <a:t>lead to a break are</a:t>
            </a:r>
            <a:r>
              <a:rPr lang="en-US" altLang="zh-TW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400" b="1" dirty="0"/>
              <a:t>Route Localization</a:t>
            </a:r>
            <a:r>
              <a:rPr lang="en-US" altLang="zh-TW" sz="2400" b="1" dirty="0"/>
              <a:t>:</a:t>
            </a:r>
            <a:r>
              <a:rPr lang="zh-TW" altLang="en-US" sz="2400" b="1" dirty="0"/>
              <a:t> </a:t>
            </a:r>
            <a:r>
              <a:rPr lang="en-US" altLang="zh-TW" sz="2400" dirty="0"/>
              <a:t>to</a:t>
            </a:r>
            <a:r>
              <a:rPr lang="zh-TW" altLang="en-US" sz="2400" dirty="0"/>
              <a:t> </a:t>
            </a:r>
            <a:r>
              <a:rPr lang="en-US" altLang="zh-TW" sz="2400" dirty="0"/>
              <a:t>avoid</a:t>
            </a:r>
            <a:r>
              <a:rPr lang="zh-TW" altLang="en-US" sz="2400" dirty="0"/>
              <a:t> </a:t>
            </a:r>
            <a:r>
              <a:rPr lang="en-US" altLang="zh-TW" sz="2400" dirty="0"/>
              <a:t>an unreasonable</a:t>
            </a:r>
            <a:r>
              <a:rPr lang="zh-TW" altLang="en-US" sz="2400" dirty="0"/>
              <a:t> </a:t>
            </a:r>
            <a:r>
              <a:rPr lang="en-US" altLang="zh-TW" sz="2400" dirty="0"/>
              <a:t>amount</a:t>
            </a:r>
            <a:r>
              <a:rPr lang="zh-TW" altLang="en-US" sz="2400" dirty="0"/>
              <a:t> </a:t>
            </a:r>
            <a:r>
              <a:rPr lang="en-US" altLang="zh-TW" sz="2400" dirty="0"/>
              <a:t>of</a:t>
            </a:r>
            <a:r>
              <a:rPr lang="zh-TW" altLang="en-US" sz="2400" dirty="0"/>
              <a:t> </a:t>
            </a:r>
            <a:r>
              <a:rPr lang="en-US" altLang="zh-TW" sz="2400" dirty="0"/>
              <a:t>computation,</a:t>
            </a:r>
            <a:r>
              <a:rPr lang="zh-TW" altLang="en-US" sz="2400" dirty="0"/>
              <a:t> </a:t>
            </a:r>
            <a:r>
              <a:rPr lang="en-US" altLang="zh-TW" sz="2400" dirty="0"/>
              <a:t>we set to zero the measurement probability of any road segment more than 200 meters  away from the GPS point.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Low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Probability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Routes: </a:t>
            </a:r>
            <a:r>
              <a:rPr lang="en-US" altLang="zh-TW" sz="2400" dirty="0"/>
              <a:t>we terminate the search for a route when </a:t>
            </a:r>
            <a:r>
              <a:rPr lang="en-US" altLang="zh-TW" sz="2400" b="1" dirty="0"/>
              <a:t>‖</a:t>
            </a:r>
            <a:r>
              <a:rPr lang="zh-TW" altLang="en-US" sz="2400" b="1" dirty="0"/>
              <a:t>𝑥</a:t>
            </a:r>
            <a:r>
              <a:rPr lang="zh-TW" altLang="en-US" sz="2400" b="1" baseline="-25000" dirty="0"/>
              <a:t>𝑡</a:t>
            </a:r>
            <a:r>
              <a:rPr lang="en-US" altLang="zh-TW" sz="2400" b="1" baseline="-25000" dirty="0"/>
              <a:t>,</a:t>
            </a:r>
            <a:r>
              <a:rPr lang="zh-TW" altLang="en-US" sz="2400" b="1" baseline="-25000" dirty="0"/>
              <a:t>𝑖 </a:t>
            </a:r>
            <a:r>
              <a:rPr lang="zh-TW" altLang="en-US" sz="2400" b="1" dirty="0"/>
              <a:t>− 𝑥</a:t>
            </a:r>
            <a:r>
              <a:rPr lang="zh-TW" altLang="en-US" sz="2400" b="1" baseline="-25000" dirty="0"/>
              <a:t>𝑡 </a:t>
            </a:r>
            <a:r>
              <a:rPr lang="en-US" altLang="zh-TW" sz="2400" b="1" baseline="-25000" dirty="0"/>
              <a:t>1,</a:t>
            </a:r>
            <a:r>
              <a:rPr lang="zh-TW" altLang="en-US" sz="2400" b="1" baseline="-25000" dirty="0"/>
              <a:t>𝑗 </a:t>
            </a:r>
            <a:r>
              <a:rPr lang="en-US" altLang="zh-TW" sz="2400" b="1" dirty="0"/>
              <a:t>‖</a:t>
            </a:r>
            <a:r>
              <a:rPr lang="zh-TW" altLang="en-US" sz="2400" b="1" baseline="-25000" dirty="0"/>
              <a:t>𝑟𝑜𝑢𝑡𝑒  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&gt;   ‖</a:t>
            </a:r>
            <a:r>
              <a:rPr lang="zh-TW" altLang="en-US" sz="2400" b="1" dirty="0"/>
              <a:t>𝑧</a:t>
            </a:r>
            <a:r>
              <a:rPr lang="zh-TW" altLang="en-US" sz="2400" b="1" baseline="-25000" dirty="0"/>
              <a:t>𝑡 </a:t>
            </a:r>
            <a:r>
              <a:rPr lang="zh-TW" altLang="en-US" sz="2400" b="1" dirty="0"/>
              <a:t>− 𝑧</a:t>
            </a:r>
            <a:r>
              <a:rPr lang="zh-TW" altLang="en-US" sz="2400" b="1" baseline="-25000" dirty="0"/>
              <a:t>𝑡</a:t>
            </a:r>
            <a:r>
              <a:rPr lang="en-US" altLang="zh-TW" sz="2400" b="1" baseline="-25000" dirty="0"/>
              <a:t>+1</a:t>
            </a:r>
            <a:r>
              <a:rPr lang="en-US" altLang="zh-TW" sz="2400" b="1" dirty="0"/>
              <a:t>‖</a:t>
            </a:r>
            <a:r>
              <a:rPr lang="zh-TW" altLang="en-US" sz="2400" b="1" baseline="-25000" dirty="0"/>
              <a:t>𝑔𝑟𝑒𝑎𝑡 𝑐𝑖𝑟𝑐𝑙𝑒  </a:t>
            </a:r>
            <a:r>
              <a:rPr lang="en-US" altLang="zh-TW" sz="2400" b="1" baseline="-25000" dirty="0"/>
              <a:t>, </a:t>
            </a:r>
            <a:r>
              <a:rPr lang="en-US" altLang="zh-TW" sz="2400" dirty="0"/>
              <a:t>the transition probability </a:t>
            </a:r>
            <a:r>
              <a:rPr lang="zh-TW" altLang="en-US" sz="2400" b="1" dirty="0"/>
              <a:t>𝑝</a:t>
            </a:r>
            <a:r>
              <a:rPr lang="en-US" altLang="zh-TW" sz="2400" b="1" dirty="0"/>
              <a:t>(</a:t>
            </a:r>
            <a:r>
              <a:rPr lang="zh-TW" altLang="en-US" sz="2400" b="1" dirty="0"/>
              <a:t>𝑑</a:t>
            </a:r>
            <a:r>
              <a:rPr lang="zh-TW" altLang="en-US" sz="2400" b="1" baseline="-25000" dirty="0"/>
              <a:t>𝑡</a:t>
            </a:r>
            <a:r>
              <a:rPr lang="en-US" altLang="zh-TW" sz="2400" b="1" dirty="0"/>
              <a:t>) </a:t>
            </a:r>
            <a:r>
              <a:rPr lang="en-US" altLang="zh-TW" sz="2400" dirty="0"/>
              <a:t>becomes very small.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GPS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Outliers: </a:t>
            </a:r>
            <a:r>
              <a:rPr lang="zh-TW" altLang="en-US" sz="2400" b="1" dirty="0"/>
              <a:t> </a:t>
            </a:r>
            <a:r>
              <a:rPr lang="en-US" altLang="zh-TW" sz="2400" dirty="0"/>
              <a:t>Speed &gt; 180 km/h and set its probability to zero.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089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E66E4F6-A953-ECF6-FB12-F095B460A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954" y="1639105"/>
            <a:ext cx="5070799" cy="357084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CFD8E8-E314-FAA0-1623-0A8EA812183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RESULTS:</a:t>
            </a:r>
            <a:endParaRPr lang="zh-TW" altLang="en-US" sz="3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0ECD5F-B5BB-AC53-E333-1680B5855625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1BFF1B-D8D2-3EC7-5EF1-8564E5D8A0E5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04D5CE-7D26-D69E-875E-98834A122076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860BF8-8151-0E09-981F-2729BAFE47E1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半框架 16">
            <a:extLst>
              <a:ext uri="{FF2B5EF4-FFF2-40B4-BE49-F238E27FC236}">
                <a16:creationId xmlns:a16="http://schemas.microsoft.com/office/drawing/2014/main" id="{D1CB2651-A729-15F9-A5AF-EB7EBFCA8D81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212B5103-4DC9-D537-D454-FB9C7EB37B4D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B73D7CEF-9317-F046-69A9-619032CED416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E0434B59-D865-E653-077C-2BAD7B08BF2A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2974C29D-F53C-C198-9002-951DF18B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DA2304-4FCC-5CF5-AF53-8E061864D6A0}"/>
              </a:ext>
            </a:extLst>
          </p:cNvPr>
          <p:cNvSpPr txBox="1"/>
          <p:nvPr/>
        </p:nvSpPr>
        <p:spPr>
          <a:xfrm>
            <a:off x="604125" y="1204264"/>
            <a:ext cx="61568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Giving </a:t>
            </a:r>
            <a:r>
              <a:rPr lang="en-US" altLang="zh-TW" sz="2400" b="1" dirty="0"/>
              <a:t>7531 time </a:t>
            </a:r>
            <a:r>
              <a:rPr lang="en-US" altLang="zh-TW" sz="2400" dirty="0"/>
              <a:t>stamped latitude/longitude pairs.  After  removing  points ,there were  </a:t>
            </a:r>
            <a:r>
              <a:rPr lang="en-US" altLang="zh-TW" sz="2400" b="1" dirty="0"/>
              <a:t>4605 remaining</a:t>
            </a:r>
            <a:r>
              <a:rPr lang="en-US" altLang="zh-TW" sz="2400" dirty="0"/>
              <a:t>. The result of running our algorithm is a road segment match for each point.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we </a:t>
            </a:r>
            <a:r>
              <a:rPr lang="zh-TW" altLang="en-US" sz="2400" b="1" dirty="0"/>
              <a:t>sum the lengths </a:t>
            </a:r>
            <a:r>
              <a:rPr lang="zh-TW" altLang="en-US" sz="2400" dirty="0"/>
              <a:t>of </a:t>
            </a:r>
            <a:r>
              <a:rPr lang="zh-TW" altLang="en-US" sz="2400" b="1" dirty="0"/>
              <a:t>incorrect</a:t>
            </a:r>
            <a:r>
              <a:rPr lang="zh-TW" altLang="en-US" sz="2400" dirty="0"/>
              <a:t> road added to and subtracted from the </a:t>
            </a:r>
            <a:r>
              <a:rPr lang="zh-TW" altLang="en-US" sz="2400" b="1" dirty="0"/>
              <a:t>correct route</a:t>
            </a:r>
            <a:r>
              <a:rPr lang="zh-TW" altLang="en-US" sz="2400" dirty="0"/>
              <a:t>. We </a:t>
            </a:r>
            <a:r>
              <a:rPr lang="zh-TW" altLang="en-US" sz="2400" b="1" dirty="0"/>
              <a:t>divide</a:t>
            </a:r>
            <a:r>
              <a:rPr lang="zh-TW" altLang="en-US" sz="2400" dirty="0"/>
              <a:t> this </a:t>
            </a:r>
            <a:r>
              <a:rPr lang="zh-TW" altLang="en-US" sz="2400" b="1" dirty="0"/>
              <a:t>sum </a:t>
            </a:r>
            <a:r>
              <a:rPr lang="zh-TW" altLang="en-US" sz="2400" dirty="0"/>
              <a:t>by the length of the </a:t>
            </a:r>
            <a:r>
              <a:rPr lang="zh-TW" altLang="en-US" sz="2400" b="1" dirty="0"/>
              <a:t>correct route </a:t>
            </a:r>
            <a:r>
              <a:rPr lang="zh-TW" altLang="en-US" sz="2400" dirty="0"/>
              <a:t>to compute the fraction of </a:t>
            </a:r>
            <a:r>
              <a:rPr lang="zh-TW" altLang="en-US" sz="2400" b="1" dirty="0"/>
              <a:t>incorrect route</a:t>
            </a:r>
            <a:r>
              <a:rPr lang="zh-TW" altLang="en-US" sz="2400" dirty="0"/>
              <a:t>, which is the error value we </a:t>
            </a:r>
            <a:r>
              <a:rPr lang="zh-TW" altLang="en-US" sz="2400" b="1" dirty="0"/>
              <a:t>report</a:t>
            </a:r>
            <a:r>
              <a:rPr lang="zh-TW" altLang="en-US" sz="2400" dirty="0"/>
              <a:t>. This is  shown  in  </a:t>
            </a:r>
            <a:r>
              <a:rPr lang="zh-TW" altLang="en-US" sz="2400" b="1" dirty="0"/>
              <a:t>Figure  6</a:t>
            </a:r>
            <a:r>
              <a:rPr lang="zh-TW" altLang="en-US" sz="2400" dirty="0"/>
              <a:t>. 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234260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CCFD8E8-E314-FAA0-1623-0A8EA812183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RESULTS:</a:t>
            </a:r>
            <a:endParaRPr lang="zh-TW" altLang="en-US" sz="32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358A18-9C58-B8A3-E2D8-08CDBBC5C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203" y="1035933"/>
            <a:ext cx="6817550" cy="465995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35E4568-B9D8-D010-E1AA-B635E24B20FC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88F92A-D8A1-360A-773F-29BABDB6227B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B591A1-6587-4447-0D40-E5F934C0AD99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9FECCA-70BB-E727-4CC5-69D602A2FEEC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5D021EB8-DF50-D7F9-86CD-78ED8DA3AF9E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2579BEE8-9FA1-CC9B-2CE8-D8DDEB133878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09D462BA-026C-EA4F-ED01-55F3010F9E47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CBF3A369-F6A1-9FC4-BC03-39EA6EF8D116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880C6BE-E615-58D9-3CD0-AE5773BD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A840C0-EC75-B76D-BD04-CD8B27708823}"/>
              </a:ext>
            </a:extLst>
          </p:cNvPr>
          <p:cNvSpPr txBox="1"/>
          <p:nvPr/>
        </p:nvSpPr>
        <p:spPr>
          <a:xfrm>
            <a:off x="626918" y="1456251"/>
            <a:ext cx="42562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/>
              <a:t>Figure 7</a:t>
            </a:r>
            <a:r>
              <a:rPr lang="en-US" altLang="zh-TW" sz="2400" dirty="0"/>
              <a:t>,</a:t>
            </a:r>
            <a:r>
              <a:rPr lang="zh-TW" altLang="en-US" sz="2400" dirty="0"/>
              <a:t> </a:t>
            </a:r>
            <a:r>
              <a:rPr lang="en-US" altLang="zh-TW" sz="2400" dirty="0"/>
              <a:t>S</a:t>
            </a:r>
            <a:r>
              <a:rPr lang="zh-TW" altLang="en-US" sz="2400" dirty="0"/>
              <a:t>hows how our results </a:t>
            </a:r>
            <a:r>
              <a:rPr lang="zh-TW" altLang="en-US" sz="2400" b="1" dirty="0"/>
              <a:t>degrade with subsampling</a:t>
            </a:r>
            <a:r>
              <a:rPr lang="zh-TW" altLang="en-US" sz="2400" dirty="0"/>
              <a:t>. We note that </a:t>
            </a:r>
            <a:r>
              <a:rPr lang="en-US" altLang="zh-TW" sz="2400" dirty="0"/>
              <a:t>t</a:t>
            </a:r>
            <a:r>
              <a:rPr lang="zh-TW" altLang="en-US" sz="2400" dirty="0"/>
              <a:t>he error is only </a:t>
            </a:r>
            <a:r>
              <a:rPr lang="zh-TW" altLang="en-US" sz="2400" b="1" dirty="0"/>
              <a:t>0.11% </a:t>
            </a:r>
            <a:r>
              <a:rPr lang="zh-TW" altLang="en-US" sz="2400" dirty="0"/>
              <a:t>even when the sampling period grows to </a:t>
            </a:r>
            <a:r>
              <a:rPr lang="zh-TW" altLang="en-US" sz="2400" b="1" dirty="0"/>
              <a:t>30 seconds</a:t>
            </a:r>
            <a:r>
              <a:rPr lang="zh-TW" altLang="en-US" sz="2400" dirty="0"/>
              <a:t>. </a:t>
            </a:r>
            <a:endParaRPr lang="en-US" altLang="zh-TW" sz="2400" dirty="0"/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179056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CCFD8E8-E314-FAA0-1623-0A8EA812183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RESULTS:</a:t>
            </a:r>
            <a:endParaRPr lang="zh-TW" altLang="en-US" sz="32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A9165F-94C4-41C7-15F0-69FBDA6C6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540" y="278204"/>
            <a:ext cx="6924675" cy="633412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9FD3653-5A23-A18B-4ACA-3A88045DFD9D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9A375D-C8E1-6E41-4CA1-1D0D275565A0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B96C06-4D50-F906-7F45-CFB0CC4AC0D4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E8CCD-8C8C-7589-73DC-46188DDAD29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2016740F-F0CA-5CC3-F61E-AEF4EB2F5586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94E06A86-3AC4-01DD-98F3-3246B2A3D690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65638F08-6986-20ED-9681-4FF50E9E2641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CD0F17E2-F148-50EE-DF5F-2971E31832D7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8730A42D-2C5E-7239-9284-14FB715E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07857F-6FE2-5ECE-1BBB-A9AA51459CAC}"/>
              </a:ext>
            </a:extLst>
          </p:cNvPr>
          <p:cNvSpPr txBox="1"/>
          <p:nvPr/>
        </p:nvSpPr>
        <p:spPr>
          <a:xfrm>
            <a:off x="700391" y="1112203"/>
            <a:ext cx="421185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Surprisingly, it is mor</a:t>
            </a:r>
            <a:r>
              <a:rPr lang="en-US" altLang="zh-TW" sz="2400" dirty="0"/>
              <a:t>e </a:t>
            </a:r>
            <a:r>
              <a:rPr lang="zh-TW" altLang="en-US" sz="2400" b="1" dirty="0"/>
              <a:t>sensitive </a:t>
            </a:r>
            <a:r>
              <a:rPr lang="zh-TW" altLang="en-US" sz="2400" dirty="0"/>
              <a:t>to noise with a </a:t>
            </a:r>
            <a:r>
              <a:rPr lang="zh-TW" altLang="en-US" sz="2400" b="1" dirty="0"/>
              <a:t>1 second </a:t>
            </a:r>
            <a:r>
              <a:rPr lang="zh-TW" altLang="en-US" sz="2400" dirty="0"/>
              <a:t>sampling period than at longer periods. This is likely because </a:t>
            </a:r>
            <a:r>
              <a:rPr lang="zh-TW" altLang="en-US" sz="2400" b="1" dirty="0"/>
              <a:t>frequent</a:t>
            </a:r>
            <a:r>
              <a:rPr lang="zh-TW" altLang="en-US" sz="2400" dirty="0"/>
              <a:t>, </a:t>
            </a:r>
            <a:r>
              <a:rPr lang="zh-TW" altLang="en-US" sz="2400" b="1" dirty="0"/>
              <a:t>noisy</a:t>
            </a:r>
            <a:r>
              <a:rPr lang="zh-TW" altLang="en-US" sz="2400" dirty="0"/>
              <a:t> points tend to </a:t>
            </a:r>
            <a:r>
              <a:rPr lang="zh-TW" altLang="en-US" sz="2400" b="1" dirty="0"/>
              <a:t>pull</a:t>
            </a:r>
            <a:r>
              <a:rPr lang="zh-TW" altLang="en-US" sz="2400" dirty="0"/>
              <a:t> the route rather violently in </a:t>
            </a:r>
            <a:r>
              <a:rPr lang="zh-TW" altLang="en-US" sz="2400" b="1" dirty="0"/>
              <a:t>different directions</a:t>
            </a:r>
            <a:r>
              <a:rPr lang="zh-TW" altLang="en-US" sz="2400" dirty="0"/>
              <a:t>.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At longer sampling periods, shows </a:t>
            </a:r>
            <a:r>
              <a:rPr lang="zh-TW" altLang="en-US" sz="2400" b="1" dirty="0"/>
              <a:t>robustness</a:t>
            </a:r>
            <a:r>
              <a:rPr lang="zh-TW" altLang="en-US" sz="2400" dirty="0"/>
              <a:t> t</a:t>
            </a:r>
            <a:r>
              <a:rPr lang="en-US" altLang="zh-TW" sz="2400" dirty="0"/>
              <a:t>o</a:t>
            </a:r>
            <a:r>
              <a:rPr lang="zh-TW" altLang="en-US" sz="2400" dirty="0"/>
              <a:t> </a:t>
            </a:r>
            <a:r>
              <a:rPr lang="zh-TW" altLang="en-US" sz="2400" b="1" dirty="0"/>
              <a:t>measurement noise </a:t>
            </a:r>
            <a:r>
              <a:rPr lang="zh-TW" altLang="en-US" sz="2400" dirty="0"/>
              <a:t>as high as </a:t>
            </a:r>
            <a:r>
              <a:rPr lang="zh-TW" altLang="en-US" sz="2400" b="1" dirty="0"/>
              <a:t>50 meters standard deviation</a:t>
            </a:r>
            <a:r>
              <a:rPr lang="zh-TW" altLang="en-US" sz="2400" dirty="0"/>
              <a:t>, </a:t>
            </a:r>
            <a:r>
              <a:rPr lang="en-US" altLang="zh-TW" sz="2400" dirty="0"/>
              <a:t>because </a:t>
            </a:r>
            <a:r>
              <a:rPr lang="zh-TW" altLang="en-US" sz="2400" dirty="0"/>
              <a:t>the accuracy of WiFi-based </a:t>
            </a:r>
            <a:r>
              <a:rPr lang="zh-TW" altLang="en-US" sz="2400" b="1" dirty="0"/>
              <a:t>multilateration</a:t>
            </a:r>
            <a:r>
              <a:rPr lang="zh-TW" alt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373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CCFD8E8-E314-FAA0-1623-0A8EA8121832}"/>
              </a:ext>
            </a:extLst>
          </p:cNvPr>
          <p:cNvSpPr txBox="1"/>
          <p:nvPr/>
        </p:nvSpPr>
        <p:spPr>
          <a:xfrm>
            <a:off x="665018" y="577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/>
              <a:t>RESULTS:</a:t>
            </a:r>
            <a:endParaRPr lang="zh-TW" altLang="en-US" sz="3200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FD3653-5A23-A18B-4ACA-3A88045DFD9D}"/>
              </a:ext>
            </a:extLst>
          </p:cNvPr>
          <p:cNvSpPr/>
          <p:nvPr/>
        </p:nvSpPr>
        <p:spPr>
          <a:xfrm rot="5400000">
            <a:off x="6010365" y="1376757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9A375D-C8E1-6E41-4CA1-1D0D275565A0}"/>
              </a:ext>
            </a:extLst>
          </p:cNvPr>
          <p:cNvSpPr/>
          <p:nvPr/>
        </p:nvSpPr>
        <p:spPr>
          <a:xfrm rot="5400000">
            <a:off x="6010364" y="-5309973"/>
            <a:ext cx="171269" cy="107912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B96C06-4D50-F906-7F45-CFB0CC4AC0D4}"/>
              </a:ext>
            </a:extLst>
          </p:cNvPr>
          <p:cNvSpPr/>
          <p:nvPr/>
        </p:nvSpPr>
        <p:spPr>
          <a:xfrm>
            <a:off x="12026630" y="519231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E8CCD-8C8C-7589-73DC-46188DDAD29D}"/>
              </a:ext>
            </a:extLst>
          </p:cNvPr>
          <p:cNvSpPr/>
          <p:nvPr/>
        </p:nvSpPr>
        <p:spPr>
          <a:xfrm>
            <a:off x="9727" y="526969"/>
            <a:ext cx="155643" cy="583659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半框架 17">
            <a:extLst>
              <a:ext uri="{FF2B5EF4-FFF2-40B4-BE49-F238E27FC236}">
                <a16:creationId xmlns:a16="http://schemas.microsoft.com/office/drawing/2014/main" id="{2016740F-F0CA-5CC3-F61E-AEF4EB2F5586}"/>
              </a:ext>
            </a:extLst>
          </p:cNvPr>
          <p:cNvSpPr/>
          <p:nvPr/>
        </p:nvSpPr>
        <p:spPr>
          <a:xfrm>
            <a:off x="9727" y="-4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半框架 18">
            <a:extLst>
              <a:ext uri="{FF2B5EF4-FFF2-40B4-BE49-F238E27FC236}">
                <a16:creationId xmlns:a16="http://schemas.microsoft.com/office/drawing/2014/main" id="{94E06A86-3AC4-01DD-98F3-3246B2A3D690}"/>
              </a:ext>
            </a:extLst>
          </p:cNvPr>
          <p:cNvSpPr/>
          <p:nvPr/>
        </p:nvSpPr>
        <p:spPr>
          <a:xfrm flipV="1">
            <a:off x="-4866" y="6228732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半框架 19">
            <a:extLst>
              <a:ext uri="{FF2B5EF4-FFF2-40B4-BE49-F238E27FC236}">
                <a16:creationId xmlns:a16="http://schemas.microsoft.com/office/drawing/2014/main" id="{65638F08-6986-20ED-9681-4FF50E9E2641}"/>
              </a:ext>
            </a:extLst>
          </p:cNvPr>
          <p:cNvSpPr/>
          <p:nvPr/>
        </p:nvSpPr>
        <p:spPr>
          <a:xfrm flipH="1">
            <a:off x="11209506" y="-3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半框架 20">
            <a:extLst>
              <a:ext uri="{FF2B5EF4-FFF2-40B4-BE49-F238E27FC236}">
                <a16:creationId xmlns:a16="http://schemas.microsoft.com/office/drawing/2014/main" id="{CD0F17E2-F148-50EE-DF5F-2971E31832D7}"/>
              </a:ext>
            </a:extLst>
          </p:cNvPr>
          <p:cNvSpPr/>
          <p:nvPr/>
        </p:nvSpPr>
        <p:spPr>
          <a:xfrm rot="10800000">
            <a:off x="11199779" y="6228731"/>
            <a:ext cx="982494" cy="646331"/>
          </a:xfrm>
          <a:prstGeom prst="halfFrame">
            <a:avLst/>
          </a:prstGeom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8730A42D-2C5E-7239-9284-14FB715E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EF5B-398F-4547-AB0F-CE070E76790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1B7ACA7-4DC7-2E74-F90A-335311749489}"/>
              </a:ext>
            </a:extLst>
          </p:cNvPr>
          <p:cNvSpPr txBox="1"/>
          <p:nvPr/>
        </p:nvSpPr>
        <p:spPr>
          <a:xfrm>
            <a:off x="2965900" y="489095"/>
            <a:ext cx="81057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have presented a </a:t>
            </a:r>
            <a:r>
              <a:rPr lang="en-US" altLang="zh-TW" sz="2400" b="1" dirty="0"/>
              <a:t>new algorithm </a:t>
            </a:r>
            <a:r>
              <a:rPr lang="en-US" altLang="zh-TW" sz="2400" dirty="0"/>
              <a:t>based on the </a:t>
            </a:r>
            <a:r>
              <a:rPr lang="en-US" altLang="zh-TW" sz="2400" b="1" dirty="0"/>
              <a:t>HMM</a:t>
            </a:r>
            <a:r>
              <a:rPr lang="en-US" altLang="zh-TW" sz="2400" dirty="0"/>
              <a:t> that explicitly accounts for </a:t>
            </a:r>
            <a:r>
              <a:rPr lang="en-US" altLang="zh-TW" sz="2400" b="1" dirty="0"/>
              <a:t>measurement noise </a:t>
            </a:r>
            <a:r>
              <a:rPr lang="en-US" altLang="zh-TW" sz="2400" dirty="0"/>
              <a:t>and the </a:t>
            </a:r>
            <a:r>
              <a:rPr lang="en-US" altLang="zh-TW" sz="2400" b="1" dirty="0"/>
              <a:t>feasible routes </a:t>
            </a:r>
            <a:r>
              <a:rPr lang="en-US" altLang="zh-TW" sz="2400" dirty="0"/>
              <a:t>through the </a:t>
            </a:r>
            <a:r>
              <a:rPr lang="en-US" altLang="zh-TW" sz="2400" b="1" dirty="0"/>
              <a:t>road network</a:t>
            </a:r>
            <a:r>
              <a:rPr lang="en-US" altLang="zh-TW" sz="2400" dirty="0"/>
              <a:t>. We </a:t>
            </a:r>
            <a:r>
              <a:rPr lang="en-US" altLang="zh-TW" sz="2400" b="1" dirty="0"/>
              <a:t>tested</a:t>
            </a:r>
            <a:r>
              <a:rPr lang="en-US" altLang="zh-TW" sz="2400" dirty="0"/>
              <a:t> the algorithm on an </a:t>
            </a:r>
            <a:r>
              <a:rPr lang="en-US" altLang="zh-TW" sz="2400" b="1" dirty="0"/>
              <a:t>80 kilometer</a:t>
            </a:r>
            <a:r>
              <a:rPr lang="en-US" altLang="zh-TW" sz="2400" dirty="0"/>
              <a:t> drive. Compared to manually matching the data, our algorithm </a:t>
            </a:r>
            <a:r>
              <a:rPr lang="en-US" altLang="zh-TW" sz="2400" b="1" dirty="0"/>
              <a:t>performed perfectly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also tested how the </a:t>
            </a:r>
            <a:r>
              <a:rPr lang="en-US" altLang="zh-TW" sz="2400" b="1" dirty="0"/>
              <a:t>accuracy </a:t>
            </a:r>
            <a:r>
              <a:rPr lang="en-US" altLang="zh-TW" sz="2400" dirty="0"/>
              <a:t>of our algorithm </a:t>
            </a:r>
            <a:r>
              <a:rPr lang="en-US" altLang="zh-TW" sz="2400" b="1" dirty="0"/>
              <a:t>degrades</a:t>
            </a:r>
            <a:r>
              <a:rPr lang="en-US" altLang="zh-TW" sz="2400" dirty="0"/>
              <a:t> when the </a:t>
            </a:r>
            <a:r>
              <a:rPr lang="en-US" altLang="zh-TW" sz="2400" b="1" dirty="0"/>
              <a:t>location sampling rate decreases</a:t>
            </a:r>
            <a:r>
              <a:rPr lang="en-US" altLang="zh-TW" sz="2400" dirty="0"/>
              <a:t> and when the </a:t>
            </a:r>
            <a:r>
              <a:rPr lang="en-US" altLang="zh-TW" sz="2400" b="1" dirty="0"/>
              <a:t>measurement noise increases</a:t>
            </a:r>
            <a:r>
              <a:rPr lang="en-US" altLang="zh-TW" sz="2400" dirty="0"/>
              <a:t>. Significantly, we found that even with </a:t>
            </a:r>
            <a:r>
              <a:rPr lang="en-US" altLang="zh-TW" sz="2400" b="1" dirty="0"/>
              <a:t>30 seconds </a:t>
            </a:r>
            <a:r>
              <a:rPr lang="en-US" altLang="zh-TW" sz="2400" dirty="0"/>
              <a:t>between measured locations, the </a:t>
            </a:r>
            <a:r>
              <a:rPr lang="en-US" altLang="zh-TW" sz="2400" b="1" dirty="0"/>
              <a:t>accuracy</a:t>
            </a:r>
            <a:r>
              <a:rPr lang="en-US" altLang="zh-TW" sz="2400" dirty="0"/>
              <a:t> of our algorithm </a:t>
            </a:r>
            <a:r>
              <a:rPr lang="en-US" altLang="zh-TW" sz="2400" b="1" dirty="0"/>
              <a:t>was barely degraded.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Finally, we made our </a:t>
            </a:r>
            <a:r>
              <a:rPr lang="en-US" altLang="zh-TW" sz="2400" b="1" dirty="0"/>
              <a:t>test data</a:t>
            </a:r>
            <a:r>
              <a:rPr lang="en-US" altLang="zh-TW" sz="2400" dirty="0"/>
              <a:t>, </a:t>
            </a:r>
            <a:r>
              <a:rPr lang="en-US" altLang="zh-TW" sz="2400" b="1" dirty="0"/>
              <a:t>ground truth data</a:t>
            </a:r>
            <a:r>
              <a:rPr lang="en-US" altLang="zh-TW" sz="2400" dirty="0"/>
              <a:t>, and </a:t>
            </a:r>
            <a:r>
              <a:rPr lang="en-US" altLang="zh-TW" sz="2400" b="1" dirty="0"/>
              <a:t>road</a:t>
            </a:r>
            <a:r>
              <a:rPr lang="en-US" altLang="zh-TW" sz="2400" dirty="0"/>
              <a:t> </a:t>
            </a:r>
            <a:r>
              <a:rPr lang="en-US" altLang="zh-TW" sz="2400" b="1" dirty="0"/>
              <a:t>network</a:t>
            </a:r>
            <a:r>
              <a:rPr lang="en-US" altLang="zh-TW" sz="2400" dirty="0"/>
              <a:t> publicly available for other researchers to develop, test, and compare their own map matching algorithms. 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838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2143</TotalTime>
  <Words>1907</Words>
  <Application>Microsoft Office PowerPoint</Application>
  <PresentationFormat>寬螢幕</PresentationFormat>
  <Paragraphs>135</Paragraphs>
  <Slides>20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張汶煜</dc:creator>
  <cp:lastModifiedBy>汶煜 張</cp:lastModifiedBy>
  <cp:revision>34</cp:revision>
  <dcterms:created xsi:type="dcterms:W3CDTF">2023-04-25T13:23:03Z</dcterms:created>
  <dcterms:modified xsi:type="dcterms:W3CDTF">2023-05-09T20:27:21Z</dcterms:modified>
</cp:coreProperties>
</file>