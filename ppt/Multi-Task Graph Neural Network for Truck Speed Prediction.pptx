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6" r:id="rId9"/>
    <p:sldId id="267" r:id="rId10"/>
    <p:sldId id="268" r:id="rId11"/>
    <p:sldId id="280" r:id="rId12"/>
    <p:sldId id="287" r:id="rId13"/>
    <p:sldId id="269" r:id="rId14"/>
    <p:sldId id="286" r:id="rId15"/>
    <p:sldId id="270" r:id="rId16"/>
    <p:sldId id="272" r:id="rId17"/>
    <p:sldId id="273" r:id="rId18"/>
    <p:sldId id="274" r:id="rId19"/>
    <p:sldId id="276" r:id="rId20"/>
    <p:sldId id="277" r:id="rId21"/>
    <p:sldId id="278" r:id="rId22"/>
    <p:sldId id="279" r:id="rId23"/>
    <p:sldId id="281" r:id="rId24"/>
    <p:sldId id="282" r:id="rId25"/>
    <p:sldId id="283" r:id="rId26"/>
    <p:sldId id="284" r:id="rId2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90" autoAdjust="0"/>
  </p:normalViewPr>
  <p:slideViewPr>
    <p:cSldViewPr snapToGrid="0">
      <p:cViewPr varScale="1">
        <p:scale>
          <a:sx n="79" d="100"/>
          <a:sy n="79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D24B0D-B652-4806-9FF8-C2864F18497A}" type="datetimeFigureOut">
              <a:rPr lang="zh-TW" altLang="en-US" smtClean="0"/>
              <a:t>2023/5/8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D19764-BDDC-45FF-9628-02B70D1C23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1106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/>
              <a:t>Synthetic Minority Oversampling Technique </a:t>
            </a:r>
            <a:r>
              <a:rPr lang="zh-TW" altLang="en-US" sz="1200" dirty="0"/>
              <a:t>合成少數過採樣技術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19764-BDDC-45FF-9628-02B70D1C235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4870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19764-BDDC-45FF-9628-02B70D1C235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0996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https://dysonma.github.io/2021/01/27/%E6%A9%9F%E5%99%A8%E5%AD%B8%E7%BF%92-%E6%AD%A3%E8%A6%8F%E5%8C%96-Regularization/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19764-BDDC-45FF-9628-02B70D1C235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6116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19764-BDDC-45FF-9628-02B70D1C235E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458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19764-BDDC-45FF-9628-02B70D1C235E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1607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https://web.ntnu.edu.tw/~algo/HiddenMarkovModel.html#2</a:t>
            </a:r>
            <a:br>
              <a:rPr lang="en-US" altLang="zh-TW" dirty="0"/>
            </a:br>
            <a:r>
              <a:rPr lang="en-US" altLang="zh-TW" dirty="0"/>
              <a:t>https://www.ismll.uni-hildesheim.de/lehre/semSpatial-10s/script/6.pdf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19764-BDDC-45FF-9628-02B70D1C235E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7515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https://zh.wikipedia.org/zh-tw/%E9%9A%90%E9%A9%AC%E5%B0%94%E5%8F%AF%E5%A4%AB%E6%A8%A1%E5%9E%8B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19764-BDDC-45FF-9628-02B70D1C235E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87987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19764-BDDC-45FF-9628-02B70D1C235E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36481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19764-BDDC-45FF-9628-02B70D1C235E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4268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19764-BDDC-45FF-9628-02B70D1C235E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0562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https://medium.com/@x02018991/%E6%A9%9F%E5%99%A8%E5%AD%B8%E7%BF%92%E7%AD%86%E8%A8%98-self-attention-fa6897080a0a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19764-BDDC-45FF-9628-02B70D1C235E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96434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19764-BDDC-45FF-9628-02B70D1C235E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53901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19764-BDDC-45FF-9628-02B70D1C235E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84801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19764-BDDC-45FF-9628-02B70D1C235E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7815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19764-BDDC-45FF-9628-02B70D1C235E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7960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19764-BDDC-45FF-9628-02B70D1C235E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8443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19764-BDDC-45FF-9628-02B70D1C235E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16873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19764-BDDC-45FF-9628-02B70D1C235E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5712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19764-BDDC-45FF-9628-02B70D1C235E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0365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3409C-77F1-C8B2-2902-D616DB7A3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1C768D2-51D8-0CB3-92BA-20C0FBAE5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33D30E5-18AB-4700-6E29-4303756C0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56967-A747-49EC-BDFF-717FDE78BB41}" type="datetime1">
              <a:rPr lang="zh-TW" altLang="en-US" smtClean="0"/>
              <a:t>2023/5/8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9AF26B-5796-5E48-635C-5B5F13925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02B205-0122-41F4-18A0-E6B99AD5E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7E450-C746-450D-BFB4-25B9FA6500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853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E33976-00BA-104B-AA84-9F8E67E11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37840-76F7-64C4-11AA-B015DB35F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5B09F1-4252-821F-E3C3-6C83077DF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D687-A8E0-45CE-A7D9-525E58546E52}" type="datetime1">
              <a:rPr lang="zh-TW" altLang="en-US" smtClean="0"/>
              <a:t>2023/5/8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6DA9018-6C1D-086A-907C-923120B7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A7ADBD-6F6E-0397-988F-3EC661387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7E450-C746-450D-BFB4-25B9FA6500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4956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C17543-8170-C15A-83A6-9BA4C6868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39F5EE5-43A5-DB76-54B9-0F26959BF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D3F872-0ECD-60F4-0115-98F332289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2B16-7C8A-4003-8E88-8F1207BC0556}" type="datetime1">
              <a:rPr lang="zh-TW" altLang="en-US" smtClean="0"/>
              <a:t>2023/5/8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9CE1177-420D-6D8D-B421-FA881306D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20B0D9-4183-9435-F8C1-53F5253D5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7E450-C746-450D-BFB4-25B9FA6500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2108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41EB7F-DBF5-D59A-0D3D-36798C1A5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CCAF18-E515-E7EF-40C0-5B491F662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5BCB254-B9AC-5AB3-D14C-4D602C9EF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F74DDFF-8551-3318-F120-3CED8D980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CFB92-9409-4CE8-988D-8C72AB66F254}" type="datetime1">
              <a:rPr lang="zh-TW" altLang="en-US" smtClean="0"/>
              <a:t>2023/5/8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C210464-FC68-0D1F-ACFE-0776230E7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95516B1-1238-1561-1FBA-9C581FE79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7E450-C746-450D-BFB4-25B9FA6500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5082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4EE353-2781-43A6-02EA-0F0BB40D2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096F9FC-7F4C-3819-D20E-E6EB19854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8A8F548-2851-1DB0-D001-CD56DF58B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09CC9BB-68C5-BF35-785C-52B62A07CA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98BE978-58CC-B59D-2E0E-F09B777D2A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09AA1AA-947C-972E-D4A6-58118A1D0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BA3FA-EF81-4E3D-BF0E-D1C1C8C26BFD}" type="datetime1">
              <a:rPr lang="zh-TW" altLang="en-US" smtClean="0"/>
              <a:t>2023/5/8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BA7C916-D147-1F98-B236-2706A4843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8B82D9A-6BC4-6853-C342-3F62D1446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7E450-C746-450D-BFB4-25B9FA6500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9316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24B79D-0744-70F1-ECA9-3146FA8E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B1166D5-FE4D-A595-0C17-2E8E8EF87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29FA1-344B-4CA5-8A42-E470A564B742}" type="datetime1">
              <a:rPr lang="zh-TW" altLang="en-US" smtClean="0"/>
              <a:t>2023/5/8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FF20148-215B-7803-1DF3-16D76A604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AB4B87B-91F2-0AC8-C428-7F159DA1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7E450-C746-450D-BFB4-25B9FA6500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981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515AC9E-B79A-985A-6D2E-E91E8EFEB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C7DA8-CF25-431B-AE47-71956A5A4DE0}" type="datetime1">
              <a:rPr lang="zh-TW" altLang="en-US" smtClean="0"/>
              <a:t>2023/5/8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3CE2D94-3F16-216C-F196-CB9BBDE05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183822-006A-BD4E-334E-B7DA51B7F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7E450-C746-450D-BFB4-25B9FA6500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6157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6CE490-4C0E-1EDB-0963-31AC30E19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42A2F0F-C6E8-E37B-E8B4-AB3A0E252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0560A6B-6403-33A1-412D-37A3D5104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42D03F9-694D-EA11-8988-3E9E6CA4F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6F432-B8E3-4722-8F59-3FD6621FF63A}" type="datetime1">
              <a:rPr lang="zh-TW" altLang="en-US" smtClean="0"/>
              <a:t>2023/5/8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F881D0F-4555-C8A3-9BFB-77D9AAC73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3F7C10D-1B07-415A-A987-09012C0DF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7E450-C746-450D-BFB4-25B9FA6500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43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4FD967-2AA8-E851-67BF-1D3F47008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5D4662A-9470-F1F7-46F5-3CD908FD0F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2E0A8F7-FC81-5468-6F0D-F563B0EC7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08F8A2B-8843-5423-92F0-B183F12C3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C8F9D-6396-4397-917C-2276493F2B55}" type="datetime1">
              <a:rPr lang="zh-TW" altLang="en-US" smtClean="0"/>
              <a:t>2023/5/8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1CE7BD3-4956-7CDA-BC6E-FA94E41BE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6754B5F-2572-76DF-15B3-6A9490D05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7E450-C746-450D-BFB4-25B9FA6500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1808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972187-AD34-ED6F-9067-F9050F5DE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F84039C-6C5C-A204-A51E-5615542E8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F74A53-F6C9-FC76-38D2-30BB828DE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83C7E-7596-4FA9-96A6-AA0AE7E77C72}" type="datetime1">
              <a:rPr lang="zh-TW" altLang="en-US" smtClean="0"/>
              <a:t>2023/5/8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F41D64-8D44-A48D-142B-F0F18C7D9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8FE289-3E90-3BA7-0E3E-C65245EA2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7E450-C746-450D-BFB4-25B9FA6500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3208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319B251-5121-6E68-EEAD-5C5B9AD467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B1FADEA-32E7-7DEA-F6D9-83683CAA4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5DD168-912B-93BB-98D3-0416FAA1E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2A345-F484-4A12-89FA-A66C4032A747}" type="datetime1">
              <a:rPr lang="zh-TW" altLang="en-US" smtClean="0"/>
              <a:t>2023/5/8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BCC7B2D-1CC3-C423-2FF9-C1A95B19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367C02-6BC6-EE0C-4C36-647F306C7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7E450-C746-450D-BFB4-25B9FA6500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8453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B184FF9-A0AB-4979-0E4E-1D31C52D8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CBAC978-8D2B-5B21-B8C2-4E7D0CB52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C416A5-B1AF-CF2E-D110-726EBE4522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788D0-10F5-45BA-9767-9B1EA1D9BFB2}" type="datetime1">
              <a:rPr lang="zh-TW" altLang="en-US" smtClean="0"/>
              <a:t>2023/5/8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10F74A-D695-EF37-BD66-50CFEB0E03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E1F748-CE5A-7F8C-4FBA-141B41976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7E450-C746-450D-BFB4-25B9FA6500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1337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1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1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2E89FC2-4DE0-B0CE-9780-1C1C33768D0E}"/>
              </a:ext>
            </a:extLst>
          </p:cNvPr>
          <p:cNvSpPr txBox="1"/>
          <p:nvPr/>
        </p:nvSpPr>
        <p:spPr>
          <a:xfrm>
            <a:off x="838200" y="133565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TW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Multi-Task Graph Neural Network for Truck Speed Prediction Under Extreme Weather Conditions</a:t>
            </a:r>
          </a:p>
        </p:txBody>
      </p:sp>
      <p:sp>
        <p:nvSpPr>
          <p:cNvPr id="31" name="Arc 2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3AA564B-010E-A9E7-E4D9-3FA21AE32EE0}"/>
              </a:ext>
            </a:extLst>
          </p:cNvPr>
          <p:cNvSpPr txBox="1"/>
          <p:nvPr/>
        </p:nvSpPr>
        <p:spPr>
          <a:xfrm>
            <a:off x="2658707" y="5741341"/>
            <a:ext cx="8488218" cy="55833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zh-TW" dirty="0"/>
              <a:t>In The 30th International Conference on Advances in Geographic Information Systems (SIGSPATIAL ’22), November 1–4, 2022, Seattle, WA, USA. ACM SIGSPATIAL, Seattle, WA, USA.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8D8AE515-DD75-9682-B1BB-62B357615D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239" r="21767"/>
          <a:stretch/>
        </p:blipFill>
        <p:spPr>
          <a:xfrm rot="16200000">
            <a:off x="5873544" y="539542"/>
            <a:ext cx="447964" cy="12188951"/>
          </a:xfrm>
          <a:custGeom>
            <a:avLst/>
            <a:gdLst/>
            <a:ahLst/>
            <a:cxnLst/>
            <a:rect l="l" t="t" r="r" b="b"/>
            <a:pathLst>
              <a:path w="6832674" h="6858000">
                <a:moveTo>
                  <a:pt x="0" y="0"/>
                </a:moveTo>
                <a:lnTo>
                  <a:pt x="6832674" y="0"/>
                </a:lnTo>
                <a:lnTo>
                  <a:pt x="6749707" y="183520"/>
                </a:lnTo>
                <a:cubicBezTo>
                  <a:pt x="6327787" y="1181050"/>
                  <a:pt x="6094475" y="2277779"/>
                  <a:pt x="6094475" y="3429000"/>
                </a:cubicBezTo>
                <a:cubicBezTo>
                  <a:pt x="6094475" y="4580222"/>
                  <a:pt x="6327787" y="5676950"/>
                  <a:pt x="6749707" y="6674481"/>
                </a:cubicBezTo>
                <a:lnTo>
                  <a:pt x="683267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71118A78-E44C-0ED4-6A95-012CA0E05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050" y="2981409"/>
            <a:ext cx="9105900" cy="222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412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4B65793-5001-2C1E-9FC8-6EA746A7444B}"/>
              </a:ext>
            </a:extLst>
          </p:cNvPr>
          <p:cNvSpPr txBox="1"/>
          <p:nvPr/>
        </p:nvSpPr>
        <p:spPr>
          <a:xfrm>
            <a:off x="1479448" y="539373"/>
            <a:ext cx="9233103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chemeClr val="accent2">
                    <a:lumMod val="75000"/>
                  </a:schemeClr>
                </a:solidFill>
              </a:rPr>
              <a:t>Introduction:</a:t>
            </a: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Truck speed prediction </a:t>
            </a:r>
            <a:r>
              <a:rPr lang="en-US" altLang="zh-TW" sz="2400" dirty="0"/>
              <a:t>plays a </a:t>
            </a:r>
            <a:r>
              <a:rPr lang="en-US" altLang="zh-TW" sz="2400" b="1" dirty="0"/>
              <a:t>key </a:t>
            </a:r>
            <a:r>
              <a:rPr lang="en-US" altLang="zh-TW" sz="2400" dirty="0"/>
              <a:t>role in </a:t>
            </a:r>
            <a:r>
              <a:rPr lang="en-US" altLang="zh-TW" sz="2400" b="1" dirty="0"/>
              <a:t>truck transportation  management</a:t>
            </a:r>
            <a:r>
              <a:rPr lang="en-US" altLang="zh-TW" sz="24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truck traffic data is typically </a:t>
            </a:r>
            <a:r>
              <a:rPr lang="en-US" altLang="zh-TW" sz="2400" b="1" dirty="0"/>
              <a:t>sparse and noisy</a:t>
            </a:r>
            <a:r>
              <a:rPr lang="en-US" altLang="zh-TW" sz="2400" dirty="0"/>
              <a:t>, which makes the </a:t>
            </a:r>
            <a:r>
              <a:rPr lang="en-US" altLang="zh-TW" sz="2400" b="1" dirty="0"/>
              <a:t>truck speed prediction </a:t>
            </a:r>
            <a:r>
              <a:rPr lang="en-US" altLang="zh-TW" sz="2400" dirty="0"/>
              <a:t>an even more </a:t>
            </a:r>
            <a:r>
              <a:rPr lang="en-US" altLang="zh-TW" sz="2400" b="1" dirty="0"/>
              <a:t>challenging task</a:t>
            </a:r>
            <a:r>
              <a:rPr lang="en-US" altLang="zh-TW" sz="24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Most of the existing </a:t>
            </a:r>
            <a:r>
              <a:rPr lang="en-US" altLang="zh-TW" sz="2400" b="1" dirty="0"/>
              <a:t>traffic prediction methods </a:t>
            </a:r>
            <a:r>
              <a:rPr lang="en-US" altLang="zh-TW" sz="2400" dirty="0"/>
              <a:t>lack the ability to model the dynamic </a:t>
            </a:r>
            <a:r>
              <a:rPr lang="en-US" altLang="zh-TW" sz="2400" b="1" dirty="0"/>
              <a:t>spatial-temporal</a:t>
            </a:r>
            <a:r>
              <a:rPr lang="en-US" altLang="zh-TW" sz="2400" dirty="0"/>
              <a:t> </a:t>
            </a:r>
            <a:r>
              <a:rPr lang="en-US" altLang="zh-TW" sz="2400" b="1" dirty="0"/>
              <a:t>correlations</a:t>
            </a:r>
            <a:r>
              <a:rPr lang="en-US" altLang="zh-TW" sz="2400" dirty="0"/>
              <a:t> of truck traffic or ignore contributing </a:t>
            </a:r>
            <a:r>
              <a:rPr lang="en-US" altLang="zh-TW" sz="2400" b="1" dirty="0"/>
              <a:t>contextual factors </a:t>
            </a:r>
            <a:r>
              <a:rPr lang="en-US" altLang="zh-TW" sz="2400" dirty="0"/>
              <a:t>that impact traffic. </a:t>
            </a:r>
          </a:p>
          <a:p>
            <a:endParaRPr lang="en-US" altLang="zh-TW" sz="2400" dirty="0"/>
          </a:p>
          <a:p>
            <a:pPr lvl="1"/>
            <a:r>
              <a:rPr lang="en-US" altLang="zh-TW" sz="2400" dirty="0"/>
              <a:t>-	Additionally,  </a:t>
            </a:r>
            <a:r>
              <a:rPr lang="en-US" altLang="zh-TW" sz="2400" b="1" dirty="0"/>
              <a:t>traffic</a:t>
            </a:r>
            <a:r>
              <a:rPr lang="en-US" altLang="zh-TW" sz="2400" dirty="0"/>
              <a:t> </a:t>
            </a:r>
            <a:r>
              <a:rPr lang="en-US" altLang="zh-TW" sz="2400" b="1" dirty="0"/>
              <a:t>congestions</a:t>
            </a:r>
            <a:r>
              <a:rPr lang="en-US" altLang="zh-TW" sz="2400" dirty="0"/>
              <a:t> and </a:t>
            </a:r>
            <a:r>
              <a:rPr lang="en-US" altLang="zh-TW" sz="2400" b="1" dirty="0"/>
              <a:t>poor driving conditions</a:t>
            </a:r>
            <a:r>
              <a:rPr lang="en-US" altLang="zh-TW" sz="2400" dirty="0"/>
              <a:t> 	caused by </a:t>
            </a:r>
            <a:r>
              <a:rPr lang="en-US" altLang="zh-TW" sz="2400" b="1" dirty="0"/>
              <a:t>extreme  weather conditions</a:t>
            </a:r>
            <a:r>
              <a:rPr lang="en-US" altLang="zh-TW" sz="2400" dirty="0"/>
              <a:t> can make sudden 	</a:t>
            </a:r>
            <a:r>
              <a:rPr lang="en-US" altLang="zh-TW" sz="2400" b="1" dirty="0"/>
              <a:t>changes</a:t>
            </a:r>
            <a:r>
              <a:rPr lang="en-US" altLang="zh-TW" sz="2400" dirty="0"/>
              <a:t> in the general pattern  of the </a:t>
            </a:r>
            <a:r>
              <a:rPr lang="en-US" altLang="zh-TW" sz="2400" b="1" dirty="0"/>
              <a:t>truck speed</a:t>
            </a:r>
            <a:r>
              <a:rPr lang="en-US" altLang="zh-TW" sz="24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51C29DF-7C1C-540E-A454-754E419AF84D}"/>
              </a:ext>
            </a:extLst>
          </p:cNvPr>
          <p:cNvSpPr/>
          <p:nvPr/>
        </p:nvSpPr>
        <p:spPr>
          <a:xfrm>
            <a:off x="11353800" y="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TW" sz="5400" b="1" dirty="0">
                <a:ln/>
                <a:solidFill>
                  <a:schemeClr val="accent3"/>
                </a:solidFill>
              </a:rPr>
              <a:t>2</a:t>
            </a:r>
            <a:endParaRPr lang="zh-TW" alt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C5CF43-5606-0CA9-0F6E-B527C459C44C}"/>
              </a:ext>
            </a:extLst>
          </p:cNvPr>
          <p:cNvSpPr/>
          <p:nvPr/>
        </p:nvSpPr>
        <p:spPr>
          <a:xfrm>
            <a:off x="0" y="0"/>
            <a:ext cx="11178272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CCE318-6ED6-1DAB-E52C-020B6CF7A2C3}"/>
              </a:ext>
            </a:extLst>
          </p:cNvPr>
          <p:cNvSpPr/>
          <p:nvPr/>
        </p:nvSpPr>
        <p:spPr>
          <a:xfrm>
            <a:off x="0" y="159226"/>
            <a:ext cx="149537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E8A143-54D1-1300-3B63-5451E658D1CE}"/>
              </a:ext>
            </a:extLst>
          </p:cNvPr>
          <p:cNvSpPr/>
          <p:nvPr/>
        </p:nvSpPr>
        <p:spPr>
          <a:xfrm>
            <a:off x="149537" y="6698774"/>
            <a:ext cx="12042463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8022A0-6154-4A94-C84F-90FBC7467319}"/>
              </a:ext>
            </a:extLst>
          </p:cNvPr>
          <p:cNvSpPr/>
          <p:nvPr/>
        </p:nvSpPr>
        <p:spPr>
          <a:xfrm>
            <a:off x="12042463" y="1"/>
            <a:ext cx="146674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剪去單一角落 7">
            <a:extLst>
              <a:ext uri="{FF2B5EF4-FFF2-40B4-BE49-F238E27FC236}">
                <a16:creationId xmlns:a16="http://schemas.microsoft.com/office/drawing/2014/main" id="{B416F2C2-16CF-F7AF-2841-61FA4AEC6530}"/>
              </a:ext>
            </a:extLst>
          </p:cNvPr>
          <p:cNvSpPr/>
          <p:nvPr/>
        </p:nvSpPr>
        <p:spPr>
          <a:xfrm rot="10800000">
            <a:off x="10993120" y="159225"/>
            <a:ext cx="179426" cy="80555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2B0A92-8B90-C2CC-8043-25381F7EA467}"/>
              </a:ext>
            </a:extLst>
          </p:cNvPr>
          <p:cNvSpPr/>
          <p:nvPr/>
        </p:nvSpPr>
        <p:spPr>
          <a:xfrm>
            <a:off x="11175409" y="805557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A363C4-0A0C-C43E-9E55-C9A5B37DE1AC}"/>
              </a:ext>
            </a:extLst>
          </p:cNvPr>
          <p:cNvSpPr/>
          <p:nvPr/>
        </p:nvSpPr>
        <p:spPr>
          <a:xfrm>
            <a:off x="11172546" y="-2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476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81DD24B9-B704-961C-936F-993A1795FB19}"/>
              </a:ext>
            </a:extLst>
          </p:cNvPr>
          <p:cNvSpPr txBox="1"/>
          <p:nvPr/>
        </p:nvSpPr>
        <p:spPr>
          <a:xfrm>
            <a:off x="1818640" y="793095"/>
            <a:ext cx="938784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chemeClr val="accent2">
                    <a:lumMod val="75000"/>
                  </a:schemeClr>
                </a:solidFill>
              </a:rPr>
              <a:t>Goal:</a:t>
            </a:r>
          </a:p>
          <a:p>
            <a:endParaRPr lang="en-US" altLang="zh-TW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How can </a:t>
            </a:r>
            <a:r>
              <a:rPr lang="en-US" altLang="zh-TW" sz="2400" b="1" dirty="0" err="1"/>
              <a:t>Spatio</a:t>
            </a:r>
            <a:r>
              <a:rPr lang="en-US" altLang="zh-TW" sz="2400" b="1" dirty="0"/>
              <a:t>-temporal </a:t>
            </a:r>
            <a:r>
              <a:rPr lang="en-US" altLang="zh-TW" sz="2400" dirty="0"/>
              <a:t>and other</a:t>
            </a:r>
            <a:r>
              <a:rPr lang="en-US" altLang="zh-TW" sz="2400" b="1" dirty="0"/>
              <a:t> contextual information </a:t>
            </a:r>
            <a:r>
              <a:rPr lang="en-US" altLang="zh-TW" sz="2400" dirty="0"/>
              <a:t>be </a:t>
            </a:r>
            <a:r>
              <a:rPr lang="en-US" altLang="zh-TW" sz="2400" b="1" dirty="0"/>
              <a:t>incorporated</a:t>
            </a:r>
            <a:r>
              <a:rPr lang="en-US" altLang="zh-TW" sz="2400" dirty="0"/>
              <a:t> with </a:t>
            </a:r>
            <a:r>
              <a:rPr lang="en-US" altLang="zh-TW" sz="2400" b="1" dirty="0"/>
              <a:t>historical truck trajectories </a:t>
            </a:r>
            <a:r>
              <a:rPr lang="en-US" altLang="zh-TW" sz="2400" dirty="0"/>
              <a:t>to achieve  the best</a:t>
            </a:r>
            <a:r>
              <a:rPr lang="en-US" altLang="zh-TW" sz="2400" b="1" dirty="0"/>
              <a:t> truck speed prediction results</a:t>
            </a:r>
            <a:r>
              <a:rPr lang="en-US" altLang="zh-TW" sz="2400" dirty="0"/>
              <a:t>?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How can improve </a:t>
            </a:r>
            <a:r>
              <a:rPr lang="en-US" altLang="zh-TW" sz="2400" b="1" dirty="0"/>
              <a:t>truck speed prediction accuracy </a:t>
            </a:r>
            <a:r>
              <a:rPr lang="en-US" altLang="zh-TW" sz="2400" dirty="0"/>
              <a:t>by taking  advantage of other relevant truck traffic information (such as  the </a:t>
            </a:r>
            <a:r>
              <a:rPr lang="en-US" altLang="zh-TW" sz="2400" b="1" dirty="0"/>
              <a:t>truck flow</a:t>
            </a:r>
            <a:r>
              <a:rPr lang="en-US" altLang="zh-TW" sz="2400" dirty="0"/>
              <a:t>)?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How to deal with </a:t>
            </a:r>
            <a:r>
              <a:rPr lang="en-US" altLang="zh-TW" sz="2400" b="1" dirty="0"/>
              <a:t>under-represented truck traffic data </a:t>
            </a:r>
            <a:r>
              <a:rPr lang="en-US" altLang="zh-TW" sz="2400" dirty="0"/>
              <a:t>under  </a:t>
            </a:r>
            <a:r>
              <a:rPr lang="en-US" altLang="zh-TW" sz="2400" b="1" dirty="0"/>
              <a:t>extreme weather conditions</a:t>
            </a:r>
            <a:r>
              <a:rPr lang="en-US" altLang="zh-TW" sz="2400" dirty="0"/>
              <a:t>? </a:t>
            </a:r>
            <a:endParaRPr lang="zh-TW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A8764B-CF0D-AA86-3C75-88D6F9D905C9}"/>
              </a:ext>
            </a:extLst>
          </p:cNvPr>
          <p:cNvSpPr/>
          <p:nvPr/>
        </p:nvSpPr>
        <p:spPr>
          <a:xfrm>
            <a:off x="11353800" y="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TW" sz="5400" b="1" cap="none" spc="0" dirty="0">
                <a:ln/>
                <a:solidFill>
                  <a:schemeClr val="accent3"/>
                </a:solidFill>
                <a:effectLst/>
              </a:rPr>
              <a:t>3</a:t>
            </a:r>
            <a:endParaRPr lang="zh-TW" alt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0174954-B1EC-1ADF-3F74-6995B7104186}"/>
              </a:ext>
            </a:extLst>
          </p:cNvPr>
          <p:cNvSpPr/>
          <p:nvPr/>
        </p:nvSpPr>
        <p:spPr>
          <a:xfrm>
            <a:off x="0" y="0"/>
            <a:ext cx="11178272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CC8466-5F67-DCC5-DB54-D3000886ED1F}"/>
              </a:ext>
            </a:extLst>
          </p:cNvPr>
          <p:cNvSpPr/>
          <p:nvPr/>
        </p:nvSpPr>
        <p:spPr>
          <a:xfrm>
            <a:off x="0" y="159226"/>
            <a:ext cx="149537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C39EF3-F42B-1D1F-DE9E-BFEE9465DC5A}"/>
              </a:ext>
            </a:extLst>
          </p:cNvPr>
          <p:cNvSpPr/>
          <p:nvPr/>
        </p:nvSpPr>
        <p:spPr>
          <a:xfrm>
            <a:off x="149537" y="6698774"/>
            <a:ext cx="12042463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870819-9A06-6649-6349-0C4370717BF3}"/>
              </a:ext>
            </a:extLst>
          </p:cNvPr>
          <p:cNvSpPr/>
          <p:nvPr/>
        </p:nvSpPr>
        <p:spPr>
          <a:xfrm>
            <a:off x="12042463" y="1"/>
            <a:ext cx="146674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剪去單一角落 7">
            <a:extLst>
              <a:ext uri="{FF2B5EF4-FFF2-40B4-BE49-F238E27FC236}">
                <a16:creationId xmlns:a16="http://schemas.microsoft.com/office/drawing/2014/main" id="{4D89D32B-F358-4F43-85CF-9300D0AF1AF8}"/>
              </a:ext>
            </a:extLst>
          </p:cNvPr>
          <p:cNvSpPr/>
          <p:nvPr/>
        </p:nvSpPr>
        <p:spPr>
          <a:xfrm rot="10800000">
            <a:off x="10993120" y="159225"/>
            <a:ext cx="179426" cy="80555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73AA90-9031-9F0B-959A-10CC21E8F1DD}"/>
              </a:ext>
            </a:extLst>
          </p:cNvPr>
          <p:cNvSpPr/>
          <p:nvPr/>
        </p:nvSpPr>
        <p:spPr>
          <a:xfrm>
            <a:off x="11175409" y="805557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9CCDC26-3DC3-5706-AE60-F8359614ADED}"/>
              </a:ext>
            </a:extLst>
          </p:cNvPr>
          <p:cNvSpPr/>
          <p:nvPr/>
        </p:nvSpPr>
        <p:spPr>
          <a:xfrm>
            <a:off x="11172546" y="-2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3860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CFEFCB17-16E9-29A3-E277-87D18EE7A383}"/>
              </a:ext>
            </a:extLst>
          </p:cNvPr>
          <p:cNvSpPr txBox="1"/>
          <p:nvPr/>
        </p:nvSpPr>
        <p:spPr>
          <a:xfrm>
            <a:off x="972199" y="705177"/>
            <a:ext cx="10247601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chemeClr val="accent2">
                    <a:lumMod val="75000"/>
                  </a:schemeClr>
                </a:solidFill>
              </a:rPr>
              <a:t>Work: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We </a:t>
            </a:r>
            <a:r>
              <a:rPr lang="zh-TW" altLang="en-US" sz="2400" dirty="0"/>
              <a:t>proposes a novel </a:t>
            </a:r>
            <a:r>
              <a:rPr lang="zh-TW" altLang="en-US" sz="2400" b="1" dirty="0"/>
              <a:t>Multi-Task Context Based Gated  Recurrent Unit Graph Convolutional Network (</a:t>
            </a:r>
            <a:r>
              <a:rPr lang="zh-TW" altLang="en-US" sz="2400" b="1" dirty="0">
                <a:solidFill>
                  <a:schemeClr val="accent5">
                    <a:lumMod val="75000"/>
                  </a:schemeClr>
                </a:solidFill>
              </a:rPr>
              <a:t>MT-C2G</a:t>
            </a:r>
            <a:r>
              <a:rPr lang="zh-TW" altLang="en-US" sz="2400" b="1" dirty="0"/>
              <a:t>)</a:t>
            </a:r>
            <a:r>
              <a:rPr lang="zh-TW" altLang="en-US" sz="2400" dirty="0"/>
              <a:t> for the  truck speed prediction under the extreme weather conditions. </a:t>
            </a: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this is the first study to apply the </a:t>
            </a:r>
            <a:r>
              <a:rPr lang="en-US" altLang="zh-TW" sz="2400" b="1" dirty="0"/>
              <a:t>Multi-Task Learning (MTL) </a:t>
            </a:r>
            <a:r>
              <a:rPr lang="en-US" altLang="zh-TW" sz="2400" dirty="0"/>
              <a:t>to describe the actual </a:t>
            </a:r>
            <a:r>
              <a:rPr lang="en-US" altLang="zh-TW" sz="2400" b="1" dirty="0"/>
              <a:t>correlation</a:t>
            </a:r>
            <a:r>
              <a:rPr lang="en-US" altLang="zh-TW" sz="2400" dirty="0"/>
              <a:t> between </a:t>
            </a:r>
            <a:r>
              <a:rPr lang="en-US" altLang="zh-TW" sz="2400" b="1" dirty="0"/>
              <a:t>the truck speed and flow</a:t>
            </a:r>
            <a:r>
              <a:rPr lang="en-US" altLang="zh-TW" sz="2400" dirty="0"/>
              <a:t> to predict the truck speed, along with using  the </a:t>
            </a:r>
            <a:r>
              <a:rPr lang="en-US" altLang="zh-TW" sz="2400" b="1" dirty="0"/>
              <a:t>oversampling technique </a:t>
            </a:r>
            <a:r>
              <a:rPr lang="en-US" altLang="zh-TW" sz="2400" dirty="0"/>
              <a:t>on truck </a:t>
            </a:r>
            <a:r>
              <a:rPr lang="en-US" altLang="zh-TW" sz="2400" b="1" dirty="0"/>
              <a:t>GPS </a:t>
            </a:r>
            <a:r>
              <a:rPr lang="en-US" altLang="zh-TW" sz="2400" dirty="0"/>
              <a:t>data under the </a:t>
            </a:r>
            <a:r>
              <a:rPr lang="en-US" altLang="zh-TW" sz="2400" b="1" dirty="0"/>
              <a:t>extreme weather conditions</a:t>
            </a:r>
            <a:r>
              <a:rPr lang="en-US" altLang="zh-TW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b="1" dirty="0"/>
              <a:t>(</a:t>
            </a:r>
            <a:r>
              <a:rPr lang="zh-TW" altLang="en-US" sz="2400" b="1" dirty="0">
                <a:solidFill>
                  <a:schemeClr val="accent5">
                    <a:lumMod val="75000"/>
                  </a:schemeClr>
                </a:solidFill>
              </a:rPr>
              <a:t>MT-C2G</a:t>
            </a:r>
            <a:r>
              <a:rPr lang="zh-TW" altLang="en-US" sz="2400" b="1" dirty="0"/>
              <a:t>)</a:t>
            </a:r>
            <a:r>
              <a:rPr lang="en-US" altLang="zh-TW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zh-TW" sz="2400" dirty="0"/>
              <a:t>includes four major components:</a:t>
            </a:r>
          </a:p>
          <a:p>
            <a:pPr marL="1257300" lvl="2" indent="-342900">
              <a:buFontTx/>
              <a:buChar char="-"/>
            </a:pPr>
            <a:r>
              <a:rPr lang="en-US" altLang="zh-TW" sz="2400" b="1" dirty="0"/>
              <a:t>Spatial dependence </a:t>
            </a:r>
            <a:r>
              <a:rPr lang="en-US" altLang="zh-TW" sz="2400" dirty="0"/>
              <a:t>learning component(GCN).</a:t>
            </a:r>
          </a:p>
          <a:p>
            <a:pPr marL="1257300" lvl="2" indent="-342900">
              <a:buFontTx/>
              <a:buChar char="-"/>
            </a:pPr>
            <a:r>
              <a:rPr lang="en-US" altLang="zh-TW" sz="2400" dirty="0"/>
              <a:t>Truck traffic feature </a:t>
            </a:r>
            <a:r>
              <a:rPr lang="en-US" altLang="zh-TW" sz="2400" b="1" dirty="0"/>
              <a:t>temporal dependence </a:t>
            </a:r>
            <a:r>
              <a:rPr lang="en-US" altLang="zh-TW" sz="2400" dirty="0"/>
              <a:t>modeling component(GRU).</a:t>
            </a:r>
          </a:p>
          <a:p>
            <a:pPr marL="1257300" lvl="2" indent="-342900">
              <a:buFontTx/>
              <a:buChar char="-"/>
            </a:pPr>
            <a:r>
              <a:rPr lang="en-US" altLang="zh-TW" sz="2400" dirty="0"/>
              <a:t>The </a:t>
            </a:r>
            <a:r>
              <a:rPr lang="en-US" altLang="zh-TW" sz="2400" b="1" dirty="0"/>
              <a:t>multi-task</a:t>
            </a:r>
            <a:r>
              <a:rPr lang="en-US" altLang="zh-TW" sz="2400" dirty="0"/>
              <a:t> learning component (Attention mechanism).</a:t>
            </a:r>
          </a:p>
          <a:p>
            <a:pPr marL="1257300" lvl="2" indent="-342900">
              <a:buFontTx/>
              <a:buChar char="-"/>
            </a:pPr>
            <a:r>
              <a:rPr lang="en-US" altLang="zh-TW" sz="2400" dirty="0"/>
              <a:t>Synthetic Minority Oversampling Technique (</a:t>
            </a:r>
            <a:r>
              <a:rPr lang="en-US" altLang="zh-TW" sz="2400" b="1" dirty="0">
                <a:solidFill>
                  <a:schemeClr val="accent2">
                    <a:lumMod val="75000"/>
                  </a:schemeClr>
                </a:solidFill>
              </a:rPr>
              <a:t>SMOTE</a:t>
            </a:r>
            <a:r>
              <a:rPr lang="en-US" altLang="zh-TW" sz="2400" dirty="0"/>
              <a:t>)</a:t>
            </a:r>
            <a:endParaRPr lang="zh-TW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84EEF6-A95C-3709-FABA-497BEAB9BFFE}"/>
              </a:ext>
            </a:extLst>
          </p:cNvPr>
          <p:cNvSpPr/>
          <p:nvPr/>
        </p:nvSpPr>
        <p:spPr>
          <a:xfrm>
            <a:off x="11353800" y="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TW" sz="5400" b="1" cap="none" spc="0" dirty="0">
                <a:ln/>
                <a:solidFill>
                  <a:schemeClr val="accent3"/>
                </a:solidFill>
                <a:effectLst/>
              </a:rPr>
              <a:t>4</a:t>
            </a:r>
            <a:endParaRPr lang="zh-TW" alt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4C90B4E-31C4-D2A1-58CA-38958D6F629B}"/>
              </a:ext>
            </a:extLst>
          </p:cNvPr>
          <p:cNvSpPr/>
          <p:nvPr/>
        </p:nvSpPr>
        <p:spPr>
          <a:xfrm>
            <a:off x="0" y="0"/>
            <a:ext cx="11178272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5ED7A7-88A5-C3BD-FA97-71328992C2F9}"/>
              </a:ext>
            </a:extLst>
          </p:cNvPr>
          <p:cNvSpPr/>
          <p:nvPr/>
        </p:nvSpPr>
        <p:spPr>
          <a:xfrm>
            <a:off x="0" y="159226"/>
            <a:ext cx="149537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14FC806-583D-980B-D305-8803700C19BA}"/>
              </a:ext>
            </a:extLst>
          </p:cNvPr>
          <p:cNvSpPr/>
          <p:nvPr/>
        </p:nvSpPr>
        <p:spPr>
          <a:xfrm>
            <a:off x="149537" y="6698774"/>
            <a:ext cx="12042463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4B642C-8A62-9BC0-04D6-DC7C9489AF21}"/>
              </a:ext>
            </a:extLst>
          </p:cNvPr>
          <p:cNvSpPr/>
          <p:nvPr/>
        </p:nvSpPr>
        <p:spPr>
          <a:xfrm>
            <a:off x="12042463" y="1"/>
            <a:ext cx="146674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: 剪去單一角落 14">
            <a:extLst>
              <a:ext uri="{FF2B5EF4-FFF2-40B4-BE49-F238E27FC236}">
                <a16:creationId xmlns:a16="http://schemas.microsoft.com/office/drawing/2014/main" id="{8368548D-8B7E-B7D9-22FF-8E098B3F3C3F}"/>
              </a:ext>
            </a:extLst>
          </p:cNvPr>
          <p:cNvSpPr/>
          <p:nvPr/>
        </p:nvSpPr>
        <p:spPr>
          <a:xfrm rot="10800000">
            <a:off x="10993120" y="159225"/>
            <a:ext cx="179426" cy="80555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3DEF3D5-4300-538C-F635-EBAB866AE351}"/>
              </a:ext>
            </a:extLst>
          </p:cNvPr>
          <p:cNvSpPr/>
          <p:nvPr/>
        </p:nvSpPr>
        <p:spPr>
          <a:xfrm>
            <a:off x="11175409" y="805557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5795C32-A114-0098-6020-97AC8EAB2931}"/>
              </a:ext>
            </a:extLst>
          </p:cNvPr>
          <p:cNvSpPr/>
          <p:nvPr/>
        </p:nvSpPr>
        <p:spPr>
          <a:xfrm>
            <a:off x="11172546" y="-2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4198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22E2D59-D000-D06D-5551-A405A562011C}"/>
              </a:ext>
            </a:extLst>
          </p:cNvPr>
          <p:cNvSpPr txBox="1"/>
          <p:nvPr/>
        </p:nvSpPr>
        <p:spPr>
          <a:xfrm>
            <a:off x="820201" y="738982"/>
            <a:ext cx="1124209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chemeClr val="accent6">
                    <a:lumMod val="75000"/>
                  </a:schemeClr>
                </a:solidFill>
              </a:rPr>
              <a:t>Definition 1 (Interchanged Road Network):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An interchanged road network is an unweighted graph denoted by </a:t>
            </a:r>
            <a:r>
              <a:rPr lang="en-US" altLang="zh-TW" sz="2800" b="1" dirty="0"/>
              <a:t>G = (V, E) </a:t>
            </a:r>
            <a:r>
              <a:rPr lang="en-US" altLang="zh-TW" sz="2400" dirty="0"/>
              <a:t>where </a:t>
            </a:r>
            <a:r>
              <a:rPr lang="zh-TW" altLang="en-US" sz="2800" b="1" dirty="0"/>
              <a:t>𝑉 </a:t>
            </a:r>
            <a:r>
              <a:rPr lang="en-US" altLang="zh-TW" sz="2800" b="1" dirty="0"/>
              <a:t>= {</a:t>
            </a:r>
            <a:r>
              <a:rPr lang="zh-TW" altLang="en-US" sz="2800" b="1" dirty="0"/>
              <a:t>𝑣</a:t>
            </a:r>
            <a:r>
              <a:rPr lang="en-US" altLang="zh-TW" sz="2800" b="1" baseline="-25000" dirty="0"/>
              <a:t>1</a:t>
            </a:r>
            <a:r>
              <a:rPr lang="en-US" altLang="zh-TW" sz="2800" b="1" dirty="0"/>
              <a:t>,</a:t>
            </a:r>
            <a:r>
              <a:rPr lang="zh-TW" altLang="en-US" sz="2800" b="1" dirty="0"/>
              <a:t>𝑣</a:t>
            </a:r>
            <a:r>
              <a:rPr lang="en-US" altLang="zh-TW" sz="2800" b="1" baseline="-25000" dirty="0"/>
              <a:t>2</a:t>
            </a:r>
            <a:r>
              <a:rPr lang="en-US" altLang="zh-TW" sz="2800" b="1" dirty="0"/>
              <a:t>, . . . ,</a:t>
            </a:r>
            <a:r>
              <a:rPr lang="zh-TW" altLang="en-US" sz="2800" b="1" dirty="0"/>
              <a:t>𝑣</a:t>
            </a:r>
            <a:r>
              <a:rPr lang="zh-TW" altLang="en-US" sz="2800" b="1" baseline="-25000" dirty="0"/>
              <a:t>𝑅</a:t>
            </a:r>
            <a:r>
              <a:rPr lang="en-US" altLang="zh-TW" sz="2800" b="1" dirty="0"/>
              <a:t>}</a:t>
            </a:r>
            <a:r>
              <a:rPr lang="zh-TW" altLang="en-US" sz="2800" b="1" dirty="0"/>
              <a:t> </a:t>
            </a:r>
            <a:r>
              <a:rPr lang="en-US" altLang="zh-TW" sz="2400" dirty="0"/>
              <a:t>corresponds to the set of vertices in </a:t>
            </a:r>
            <a:r>
              <a:rPr lang="zh-TW" altLang="en-US" sz="2800" b="1" dirty="0"/>
              <a:t>𝐺</a:t>
            </a:r>
            <a:r>
              <a:rPr lang="en-US" altLang="zh-TW" sz="2400" dirty="0"/>
              <a:t>,representing the road segments of the road network. </a:t>
            </a:r>
            <a:r>
              <a:rPr lang="zh-TW" altLang="en-US" sz="2800" b="1" dirty="0"/>
              <a:t>𝐸 </a:t>
            </a:r>
            <a:r>
              <a:rPr lang="en-US" altLang="zh-TW" sz="2800" b="1" dirty="0"/>
              <a:t>= {</a:t>
            </a:r>
            <a:r>
              <a:rPr lang="zh-TW" altLang="en-US" sz="2800" b="1" dirty="0"/>
              <a:t>𝑒</a:t>
            </a:r>
            <a:r>
              <a:rPr lang="en-US" altLang="zh-TW" sz="2800" b="1" baseline="-25000" dirty="0"/>
              <a:t>1</a:t>
            </a:r>
            <a:r>
              <a:rPr lang="en-US" altLang="zh-TW" sz="2800" b="1" dirty="0"/>
              <a:t>,</a:t>
            </a:r>
            <a:r>
              <a:rPr lang="zh-TW" altLang="en-US" sz="2800" b="1" dirty="0"/>
              <a:t>𝑒</a:t>
            </a:r>
            <a:r>
              <a:rPr lang="en-US" altLang="zh-TW" sz="2800" b="1" baseline="-25000" dirty="0"/>
              <a:t>2</a:t>
            </a:r>
            <a:r>
              <a:rPr lang="en-US" altLang="zh-TW" sz="2800" b="1" dirty="0"/>
              <a:t>, . . . ,</a:t>
            </a:r>
            <a:r>
              <a:rPr lang="zh-TW" altLang="en-US" sz="2800" b="1" dirty="0"/>
              <a:t>𝑒</a:t>
            </a:r>
            <a:r>
              <a:rPr lang="zh-TW" altLang="en-US" sz="2800" b="1" baseline="-25000" dirty="0"/>
              <a:t>𝐼</a:t>
            </a:r>
            <a:r>
              <a:rPr lang="en-US" altLang="zh-TW" sz="2800" b="1" dirty="0"/>
              <a:t>} </a:t>
            </a:r>
            <a:r>
              <a:rPr lang="en-US" altLang="zh-TW" sz="2400" dirty="0"/>
              <a:t>represents the set of edges contained in </a:t>
            </a:r>
            <a:r>
              <a:rPr lang="zh-TW" altLang="en-US" sz="2800" b="1" dirty="0"/>
              <a:t>𝐺</a:t>
            </a:r>
            <a:r>
              <a:rPr lang="en-US" altLang="zh-TW" sz="24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Two vertices in </a:t>
            </a:r>
            <a:r>
              <a:rPr lang="en-US" altLang="zh-TW" sz="2800" b="1" dirty="0"/>
              <a:t>graph </a:t>
            </a:r>
            <a:r>
              <a:rPr lang="zh-TW" altLang="en-US" sz="2800" b="1" dirty="0"/>
              <a:t>𝐺 </a:t>
            </a:r>
            <a:r>
              <a:rPr lang="en-US" altLang="zh-TW" sz="2400" dirty="0"/>
              <a:t>are adjacent if and only if the corresponding road segments are connected in the road network.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The adjacency matrix </a:t>
            </a:r>
            <a:r>
              <a:rPr lang="en-US" altLang="zh-TW" sz="2400" dirty="0"/>
              <a:t>of the interchange road network </a:t>
            </a:r>
            <a:r>
              <a:rPr lang="zh-TW" altLang="en-US" sz="2800" b="1" dirty="0"/>
              <a:t>𝐺 </a:t>
            </a:r>
            <a:r>
              <a:rPr lang="en-US" altLang="zh-TW" sz="2400" dirty="0"/>
              <a:t>is denoted by </a:t>
            </a:r>
            <a:r>
              <a:rPr lang="zh-TW" altLang="en-US" sz="2800" b="1" dirty="0"/>
              <a:t>𝐴</a:t>
            </a:r>
            <a:r>
              <a:rPr lang="zh-TW" altLang="en-US" sz="2800" b="1" baseline="-25000" dirty="0"/>
              <a:t>𝐺 </a:t>
            </a:r>
            <a:r>
              <a:rPr lang="zh-TW" altLang="en-US" sz="2800" b="1" dirty="0"/>
              <a:t>∈ 𝑍</a:t>
            </a:r>
            <a:r>
              <a:rPr lang="en-US" altLang="zh-TW" sz="2800" b="1" baseline="30000" dirty="0"/>
              <a:t>|</a:t>
            </a:r>
            <a:r>
              <a:rPr lang="zh-TW" altLang="en-US" sz="2800" b="1" baseline="30000" dirty="0"/>
              <a:t>𝑉</a:t>
            </a:r>
            <a:r>
              <a:rPr lang="en-US" altLang="zh-TW" sz="2800" b="1" baseline="30000" dirty="0"/>
              <a:t>|×|</a:t>
            </a:r>
            <a:r>
              <a:rPr lang="zh-TW" altLang="en-US" sz="2800" b="1" baseline="30000" dirty="0"/>
              <a:t>𝑉</a:t>
            </a:r>
            <a:r>
              <a:rPr lang="en-US" altLang="zh-TW" sz="2800" b="1" baseline="30000" dirty="0"/>
              <a:t>| </a:t>
            </a:r>
            <a:r>
              <a:rPr lang="en-US" altLang="zh-TW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The value of each element </a:t>
            </a:r>
            <a:r>
              <a:rPr lang="zh-TW" altLang="en-US" sz="2800" b="1" dirty="0"/>
              <a:t>𝑎</a:t>
            </a:r>
            <a:r>
              <a:rPr lang="zh-TW" altLang="en-US" sz="2800" b="1" baseline="-25000" dirty="0"/>
              <a:t>𝑖</a:t>
            </a:r>
            <a:r>
              <a:rPr lang="en-US" altLang="zh-TW" sz="2800" b="1" baseline="-25000" dirty="0"/>
              <a:t>,</a:t>
            </a:r>
            <a:r>
              <a:rPr lang="zh-TW" altLang="en-US" sz="2800" b="1" baseline="-25000" dirty="0"/>
              <a:t>𝑗 </a:t>
            </a:r>
            <a:r>
              <a:rPr lang="en-US" altLang="zh-TW" sz="2400" dirty="0"/>
              <a:t>, where </a:t>
            </a:r>
            <a:r>
              <a:rPr lang="zh-TW" altLang="en-US" sz="2800" b="1" dirty="0"/>
              <a:t>𝑖</a:t>
            </a:r>
            <a:r>
              <a:rPr lang="en-US" altLang="zh-TW" sz="2800" b="1" dirty="0"/>
              <a:t>, </a:t>
            </a:r>
            <a:r>
              <a:rPr lang="zh-TW" altLang="en-US" sz="2800" b="1" dirty="0"/>
              <a:t>𝑗 ∈ 𝑉 </a:t>
            </a:r>
            <a:r>
              <a:rPr lang="en-US" altLang="zh-TW" sz="2400" dirty="0"/>
              <a:t>, is </a:t>
            </a:r>
            <a:r>
              <a:rPr lang="en-US" altLang="zh-TW" sz="2400" b="1" dirty="0"/>
              <a:t>1</a:t>
            </a:r>
            <a:r>
              <a:rPr lang="en-US" altLang="zh-TW" sz="2400" dirty="0"/>
              <a:t> if and only if there exists an edge </a:t>
            </a:r>
            <a:r>
              <a:rPr lang="zh-TW" altLang="en-US" sz="2800" b="1" dirty="0"/>
              <a:t>𝑒</a:t>
            </a:r>
            <a:r>
              <a:rPr lang="zh-TW" altLang="en-US" sz="2800" b="1" baseline="-25000" dirty="0"/>
              <a:t>𝑘 </a:t>
            </a:r>
            <a:r>
              <a:rPr lang="zh-TW" altLang="en-US" sz="2800" b="1" dirty="0"/>
              <a:t>∈ 𝐸 </a:t>
            </a:r>
            <a:r>
              <a:rPr lang="en-US" altLang="zh-TW" sz="2400" dirty="0"/>
              <a:t>between those two vertices, and </a:t>
            </a:r>
            <a:r>
              <a:rPr lang="en-US" altLang="zh-TW" sz="2400" b="1" dirty="0"/>
              <a:t>0</a:t>
            </a:r>
            <a:r>
              <a:rPr lang="en-US" altLang="zh-TW" sz="2400" dirty="0"/>
              <a:t> if otherwise.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FB4D26-C971-6B64-19C8-1C95AB004FAE}"/>
              </a:ext>
            </a:extLst>
          </p:cNvPr>
          <p:cNvSpPr/>
          <p:nvPr/>
        </p:nvSpPr>
        <p:spPr>
          <a:xfrm>
            <a:off x="11353800" y="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TW" sz="5400" b="1" dirty="0">
                <a:ln/>
                <a:solidFill>
                  <a:schemeClr val="accent3"/>
                </a:solidFill>
              </a:rPr>
              <a:t>5</a:t>
            </a:r>
            <a:endParaRPr lang="zh-TW" alt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3934277-54EA-B062-F90F-7719EF8D5546}"/>
              </a:ext>
            </a:extLst>
          </p:cNvPr>
          <p:cNvSpPr/>
          <p:nvPr/>
        </p:nvSpPr>
        <p:spPr>
          <a:xfrm>
            <a:off x="0" y="0"/>
            <a:ext cx="11178272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351186C-5413-360D-CA79-A9B06310417A}"/>
              </a:ext>
            </a:extLst>
          </p:cNvPr>
          <p:cNvSpPr/>
          <p:nvPr/>
        </p:nvSpPr>
        <p:spPr>
          <a:xfrm>
            <a:off x="0" y="159226"/>
            <a:ext cx="149537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199C44D-CC15-3797-BBF0-3E286D42B515}"/>
              </a:ext>
            </a:extLst>
          </p:cNvPr>
          <p:cNvSpPr/>
          <p:nvPr/>
        </p:nvSpPr>
        <p:spPr>
          <a:xfrm>
            <a:off x="149537" y="6698774"/>
            <a:ext cx="12042463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DDB98F2-9B27-3773-1A40-58B2BC59E39B}"/>
              </a:ext>
            </a:extLst>
          </p:cNvPr>
          <p:cNvSpPr/>
          <p:nvPr/>
        </p:nvSpPr>
        <p:spPr>
          <a:xfrm>
            <a:off x="12042463" y="1"/>
            <a:ext cx="146674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: 剪去單一角落 21">
            <a:extLst>
              <a:ext uri="{FF2B5EF4-FFF2-40B4-BE49-F238E27FC236}">
                <a16:creationId xmlns:a16="http://schemas.microsoft.com/office/drawing/2014/main" id="{8CBD8AB8-1B95-4852-88DE-134256533F56}"/>
              </a:ext>
            </a:extLst>
          </p:cNvPr>
          <p:cNvSpPr/>
          <p:nvPr/>
        </p:nvSpPr>
        <p:spPr>
          <a:xfrm rot="10800000">
            <a:off x="10993120" y="159225"/>
            <a:ext cx="179426" cy="80555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8655932-E5C7-7683-ED19-C76F6E0D9230}"/>
              </a:ext>
            </a:extLst>
          </p:cNvPr>
          <p:cNvSpPr/>
          <p:nvPr/>
        </p:nvSpPr>
        <p:spPr>
          <a:xfrm>
            <a:off x="11175409" y="805557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B02112B-9936-1CF4-1BF3-BB2AC2393C70}"/>
              </a:ext>
            </a:extLst>
          </p:cNvPr>
          <p:cNvSpPr/>
          <p:nvPr/>
        </p:nvSpPr>
        <p:spPr>
          <a:xfrm>
            <a:off x="11172546" y="-2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3816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F73EBB1B-844A-F02D-513B-19B76C7AB8B5}"/>
                  </a:ext>
                </a:extLst>
              </p:cNvPr>
              <p:cNvSpPr txBox="1"/>
              <p:nvPr/>
            </p:nvSpPr>
            <p:spPr>
              <a:xfrm>
                <a:off x="805368" y="703793"/>
                <a:ext cx="10581263" cy="51196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3600" b="1" dirty="0">
                    <a:solidFill>
                      <a:schemeClr val="accent6">
                        <a:lumMod val="75000"/>
                      </a:schemeClr>
                    </a:solidFill>
                  </a:rPr>
                  <a:t>Definition 2 (Truck Traffic Feature Tensor):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/>
                  <a:t>Given the set of vertices </a:t>
                </a:r>
                <a:r>
                  <a:rPr lang="zh-TW" altLang="en-US" sz="2800" b="1" dirty="0"/>
                  <a:t>𝑉 </a:t>
                </a:r>
                <a:r>
                  <a:rPr lang="en-US" altLang="zh-TW" sz="2800" b="1" dirty="0"/>
                  <a:t>=  {</a:t>
                </a:r>
                <a:r>
                  <a:rPr lang="zh-TW" altLang="en-US" sz="2800" b="1" dirty="0"/>
                  <a:t>𝑣</a:t>
                </a:r>
                <a:r>
                  <a:rPr lang="en-US" altLang="zh-TW" sz="2800" b="1" baseline="-25000" dirty="0"/>
                  <a:t>1</a:t>
                </a:r>
                <a:r>
                  <a:rPr lang="en-US" altLang="zh-TW" sz="2800" b="1" dirty="0"/>
                  <a:t>, </a:t>
                </a:r>
                <a:r>
                  <a:rPr lang="zh-TW" altLang="en-US" sz="2800" b="1" dirty="0"/>
                  <a:t>𝑣</a:t>
                </a:r>
                <a:r>
                  <a:rPr lang="en-US" altLang="zh-TW" sz="2800" b="1" baseline="-25000" dirty="0"/>
                  <a:t>2</a:t>
                </a:r>
                <a:r>
                  <a:rPr lang="en-US" altLang="zh-TW" sz="2800" b="1" dirty="0"/>
                  <a:t>, . . . , </a:t>
                </a:r>
                <a:r>
                  <a:rPr lang="zh-TW" altLang="en-US" sz="2800" b="1" dirty="0"/>
                  <a:t>𝑣</a:t>
                </a:r>
                <a:r>
                  <a:rPr lang="zh-TW" altLang="en-US" sz="2800" b="1" baseline="-25000" dirty="0"/>
                  <a:t>𝑅</a:t>
                </a:r>
                <a:r>
                  <a:rPr lang="en-US" altLang="zh-TW" sz="2800" b="1" dirty="0"/>
                  <a:t>}</a:t>
                </a:r>
                <a:r>
                  <a:rPr lang="zh-TW" altLang="en-US" sz="2800" b="1" dirty="0"/>
                  <a:t> </a:t>
                </a:r>
                <a:r>
                  <a:rPr lang="en-US" altLang="zh-TW" sz="2400" dirty="0"/>
                  <a:t>of the interchanged road network </a:t>
                </a:r>
                <a:r>
                  <a:rPr lang="zh-TW" altLang="en-US" sz="2800" b="1" dirty="0"/>
                  <a:t>𝐺 </a:t>
                </a:r>
                <a:r>
                  <a:rPr lang="en-US" altLang="zh-TW" sz="2400" dirty="0"/>
                  <a:t>and a set of time slices </a:t>
                </a:r>
                <a:r>
                  <a:rPr lang="zh-TW" altLang="en-US" sz="2800" b="1" dirty="0"/>
                  <a:t>𝑇 </a:t>
                </a:r>
                <a:r>
                  <a:rPr lang="en-US" altLang="zh-TW" sz="2800" b="1" dirty="0"/>
                  <a:t>=  {</a:t>
                </a:r>
                <a:r>
                  <a:rPr lang="zh-TW" altLang="en-US" sz="2800" b="1" dirty="0"/>
                  <a:t>𝑡</a:t>
                </a:r>
                <a:r>
                  <a:rPr lang="en-US" altLang="zh-TW" sz="2800" b="1" baseline="-25000" dirty="0"/>
                  <a:t>1</a:t>
                </a:r>
                <a:r>
                  <a:rPr lang="en-US" altLang="zh-TW" sz="2800" b="1" dirty="0"/>
                  <a:t>, </a:t>
                </a:r>
                <a:r>
                  <a:rPr lang="zh-TW" altLang="en-US" sz="2800" b="1" dirty="0"/>
                  <a:t>𝑡</a:t>
                </a:r>
                <a:r>
                  <a:rPr lang="en-US" altLang="zh-TW" sz="2800" b="1" baseline="-25000" dirty="0"/>
                  <a:t>2</a:t>
                </a:r>
                <a:r>
                  <a:rPr lang="en-US" altLang="zh-TW" sz="2800" b="1" dirty="0"/>
                  <a:t>, . . . , </a:t>
                </a:r>
                <a:r>
                  <a:rPr lang="zh-TW" altLang="en-US" sz="2800" b="1" dirty="0"/>
                  <a:t>𝑡</a:t>
                </a:r>
                <a:r>
                  <a:rPr lang="zh-TW" altLang="en-US" sz="2800" b="1" baseline="-25000" dirty="0"/>
                  <a:t>𝑁</a:t>
                </a:r>
                <a:r>
                  <a:rPr lang="en-US" altLang="zh-TW" sz="2800" b="1" dirty="0"/>
                  <a:t>}</a:t>
                </a:r>
                <a:r>
                  <a:rPr lang="en-US" altLang="zh-TW" sz="2400" dirty="0"/>
                  <a:t>, a truck traffic tensor is expressed as </a:t>
                </a:r>
                <a:r>
                  <a:rPr lang="zh-TW" altLang="en-US" sz="2800" b="1" dirty="0"/>
                  <a:t>𝑋 ∈ </a:t>
                </a:r>
                <a:r>
                  <a:rPr lang="en-US" altLang="zh-TW" sz="2800" i="0" dirty="0">
                    <a:solidFill>
                      <a:srgbClr val="333333"/>
                    </a:solidFill>
                    <a:effectLst/>
                    <a:latin typeface="PingFang SC"/>
                  </a:rPr>
                  <a:t>ℝ</a:t>
                </a:r>
                <a:r>
                  <a:rPr lang="en-US" altLang="zh-TW" sz="2800" b="0" i="0" dirty="0">
                    <a:solidFill>
                      <a:srgbClr val="333333"/>
                    </a:solidFill>
                    <a:effectLst/>
                    <a:latin typeface="PingFang SC"/>
                  </a:rPr>
                  <a:t> </a:t>
                </a:r>
                <a:r>
                  <a:rPr lang="en-US" altLang="zh-TW" sz="2800" b="1" baseline="30000" dirty="0"/>
                  <a:t>|</a:t>
                </a:r>
                <a:r>
                  <a:rPr lang="zh-TW" altLang="en-US" sz="2800" b="1" baseline="30000" dirty="0"/>
                  <a:t>𝑉</a:t>
                </a:r>
                <a:r>
                  <a:rPr lang="en-US" altLang="zh-TW" sz="2800" b="1" baseline="30000" dirty="0"/>
                  <a:t>|×|</a:t>
                </a:r>
                <a:r>
                  <a:rPr lang="zh-TW" altLang="en-US" sz="2800" b="1" baseline="30000" dirty="0"/>
                  <a:t>𝑇</a:t>
                </a:r>
                <a:r>
                  <a:rPr lang="en-US" altLang="zh-TW" sz="2800" b="1" baseline="30000" dirty="0"/>
                  <a:t>|×2 </a:t>
                </a:r>
                <a:r>
                  <a:rPr lang="en-US" altLang="zh-TW" sz="2400" dirty="0"/>
                  <a:t>, where </a:t>
                </a:r>
                <a:r>
                  <a:rPr lang="en-US" altLang="zh-TW" sz="2800" b="1" dirty="0"/>
                  <a:t>|</a:t>
                </a:r>
                <a:r>
                  <a:rPr lang="zh-TW" altLang="en-US" sz="2800" b="1" dirty="0"/>
                  <a:t>𝑉</a:t>
                </a:r>
                <a:r>
                  <a:rPr lang="en-US" altLang="zh-TW" sz="2800" b="1" dirty="0"/>
                  <a:t>| </a:t>
                </a:r>
                <a:r>
                  <a:rPr lang="en-US" altLang="zh-TW" sz="2400" dirty="0"/>
                  <a:t>stands for the cardinality of the graph </a:t>
                </a:r>
                <a:r>
                  <a:rPr lang="zh-TW" altLang="en-US" sz="2800" b="1" dirty="0"/>
                  <a:t>𝐺</a:t>
                </a:r>
                <a:r>
                  <a:rPr lang="en-US" altLang="zh-TW" sz="2800" b="1" dirty="0"/>
                  <a:t>’s </a:t>
                </a:r>
                <a:r>
                  <a:rPr lang="en-US" altLang="zh-TW" sz="2400" dirty="0"/>
                  <a:t>set of vertices and </a:t>
                </a:r>
                <a:r>
                  <a:rPr lang="en-US" altLang="zh-TW" sz="2800" b="1" dirty="0"/>
                  <a:t>|</a:t>
                </a:r>
                <a:r>
                  <a:rPr lang="zh-TW" altLang="en-US" sz="2800" b="1" dirty="0"/>
                  <a:t>𝑇</a:t>
                </a:r>
                <a:r>
                  <a:rPr lang="en-US" altLang="zh-TW" sz="2800" b="1" dirty="0"/>
                  <a:t>| </a:t>
                </a:r>
                <a:r>
                  <a:rPr lang="en-US" altLang="zh-TW" sz="2400" dirty="0"/>
                  <a:t>is the length of time slices of the historical truck traffic information.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/>
                  <a:t>The elements of the tensor are denoted by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8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sz="28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zh-TW" altLang="en-US" sz="2800" b="1" i="1" dirty="0" smtClean="0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altLang="zh-TW" sz="2800" b="1" i="1" baseline="-25000" dirty="0" smtClean="0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  <m:sup>
                        <m:r>
                          <a:rPr lang="zh-TW" altLang="en-US" sz="2800" b="1" i="1" dirty="0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zh-TW" altLang="en-US" sz="2800" b="1" i="1" baseline="-25000" dirty="0" smtClean="0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zh-TW" altLang="en-US" sz="2800" b="1" i="1" baseline="-25000" dirty="0" smtClean="0">
                            <a:latin typeface="Cambria Math" panose="02040503050406030204" pitchFamily="18" charset="0"/>
                          </a:rPr>
                          <m:t> ,</m:t>
                        </m:r>
                        <m:r>
                          <a:rPr lang="el-GR" altLang="zh-TW" sz="2800" b="1" i="0" dirty="0" smtClean="0">
                            <a:latin typeface="Cambria Math" panose="02040503050406030204" pitchFamily="18" charset="0"/>
                          </a:rPr>
                          <m:t>𝚪</m:t>
                        </m:r>
                      </m:sup>
                    </m:sSubSup>
                  </m:oMath>
                </a14:m>
                <a:r>
                  <a:rPr lang="el-GR" altLang="zh-TW" sz="2400" dirty="0"/>
                  <a:t>, </a:t>
                </a:r>
                <a:r>
                  <a:rPr lang="en-US" altLang="zh-TW" sz="2400" dirty="0"/>
                  <a:t>where </a:t>
                </a:r>
                <a14:m>
                  <m:oMath xmlns:m="http://schemas.openxmlformats.org/officeDocument/2006/math">
                    <m:r>
                      <a:rPr lang="el-GR" altLang="zh-TW" sz="2800" b="1" i="0" dirty="0" smtClean="0">
                        <a:latin typeface="Cambria Math" panose="02040503050406030204" pitchFamily="18" charset="0"/>
                      </a:rPr>
                      <m:t>𝚪</m:t>
                    </m:r>
                  </m:oMath>
                </a14:m>
                <a:r>
                  <a:rPr lang="el-GR" altLang="zh-TW" sz="2800" b="1" dirty="0"/>
                  <a:t> ∈ {</a:t>
                </a:r>
                <a:r>
                  <a:rPr lang="zh-TW" altLang="el-GR" sz="2800" b="1" dirty="0"/>
                  <a:t>𝑆𝑝𝑒𝑒𝑑</a:t>
                </a:r>
                <a:r>
                  <a:rPr lang="el-GR" altLang="zh-TW" sz="2800" b="1" dirty="0"/>
                  <a:t>, </a:t>
                </a:r>
                <a:r>
                  <a:rPr lang="zh-TW" altLang="el-GR" sz="2800" b="1" dirty="0"/>
                  <a:t>𝐹𝑙𝑜𝑤</a:t>
                </a:r>
                <a:r>
                  <a:rPr lang="el-GR" altLang="zh-TW" sz="2800" b="1" dirty="0"/>
                  <a:t>}.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l-GR" sz="24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m:rPr>
                            <m:nor/>
                          </m:rPr>
                          <a:rPr lang="zh-TW" altLang="el-GR" sz="2400" b="1" dirty="0" smtClean="0"/>
                          <m:t>𝑣</m:t>
                        </m:r>
                        <m:r>
                          <m:rPr>
                            <m:nor/>
                          </m:rPr>
                          <a:rPr lang="zh-TW" altLang="el-GR" sz="2400" b="1" baseline="-25000" dirty="0" smtClean="0"/>
                          <m:t>𝑟</m:t>
                        </m:r>
                      </m:sub>
                      <m:sup>
                        <m:r>
                          <m:rPr>
                            <m:nor/>
                          </m:rPr>
                          <a:rPr lang="zh-TW" altLang="el-GR" sz="2400" b="1" dirty="0" smtClean="0"/>
                          <m:t>𝑡</m:t>
                        </m:r>
                        <m:r>
                          <m:rPr>
                            <m:nor/>
                          </m:rPr>
                          <a:rPr lang="zh-TW" altLang="el-GR" sz="2400" b="1" baseline="-25000" dirty="0" smtClean="0"/>
                          <m:t>𝑠</m:t>
                        </m:r>
                        <m:r>
                          <m:rPr>
                            <m:nor/>
                          </m:rPr>
                          <a:rPr lang="en-US" altLang="zh-TW" sz="2400" b="1" i="0" baseline="-25000" dirty="0" smtClean="0"/>
                          <m:t> </m:t>
                        </m:r>
                        <m:r>
                          <m:rPr>
                            <m:nor/>
                          </m:rPr>
                          <a:rPr lang="el-GR" altLang="zh-TW" sz="2400" b="1" dirty="0" smtClean="0"/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b="1" i="0" dirty="0" smtClean="0"/>
                          <m:t> </m:t>
                        </m:r>
                        <m:r>
                          <m:rPr>
                            <m:nor/>
                          </m:rPr>
                          <a:rPr lang="zh-TW" altLang="el-GR" sz="2400" b="1" dirty="0" smtClean="0"/>
                          <m:t>𝑆𝑝𝑒𝑒𝑑</m:t>
                        </m:r>
                      </m:sup>
                    </m:sSubSup>
                  </m:oMath>
                </a14:m>
                <a:r>
                  <a:rPr lang="en-US" altLang="zh-TW" sz="2400" dirty="0"/>
                  <a:t>corresponds to the average speed of the trucks on the vertex </a:t>
                </a:r>
                <a:r>
                  <a:rPr lang="zh-TW" altLang="en-US" sz="2800" b="1" dirty="0"/>
                  <a:t>𝑣</a:t>
                </a:r>
                <a:r>
                  <a:rPr lang="zh-TW" altLang="en-US" sz="2800" b="1" baseline="-25000" dirty="0"/>
                  <a:t>𝑟</a:t>
                </a:r>
                <a:r>
                  <a:rPr lang="zh-TW" altLang="en-US" sz="2400" baseline="-25000" dirty="0"/>
                  <a:t> </a:t>
                </a:r>
                <a:r>
                  <a:rPr lang="en-US" altLang="zh-TW" sz="2400" dirty="0"/>
                  <a:t>at time slice </a:t>
                </a:r>
                <a:r>
                  <a:rPr lang="zh-TW" altLang="en-US" sz="2800" b="1" dirty="0"/>
                  <a:t>𝑡</a:t>
                </a:r>
                <a:r>
                  <a:rPr lang="en-US" altLang="zh-TW" sz="2800" b="1" baseline="-25000" dirty="0"/>
                  <a:t>s</a:t>
                </a:r>
                <a:r>
                  <a:rPr lang="en-US" altLang="zh-TW" sz="2400" dirty="0"/>
                  <a:t>. Similarly,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sz="24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m:rPr>
                            <m:nor/>
                          </m:rPr>
                          <a:rPr lang="zh-TW" altLang="en-US" sz="2400" b="1" dirty="0" smtClean="0"/>
                          <m:t>𝑣</m:t>
                        </m:r>
                        <m:r>
                          <m:rPr>
                            <m:nor/>
                          </m:rPr>
                          <a:rPr lang="zh-TW" altLang="en-US" sz="2400" b="1" baseline="-25000" dirty="0" smtClean="0"/>
                          <m:t>𝑟</m:t>
                        </m:r>
                      </m:sub>
                      <m:sup>
                        <m:r>
                          <m:rPr>
                            <m:nor/>
                          </m:rPr>
                          <a:rPr lang="zh-TW" altLang="en-US" sz="2400" b="1" dirty="0" smtClean="0"/>
                          <m:t>𝑡</m:t>
                        </m:r>
                        <m:r>
                          <m:rPr>
                            <m:nor/>
                          </m:rPr>
                          <a:rPr lang="zh-TW" altLang="en-US" sz="2400" b="1" baseline="-25000" dirty="0" smtClean="0"/>
                          <m:t>𝑠</m:t>
                        </m:r>
                        <m:r>
                          <m:rPr>
                            <m:nor/>
                          </m:rPr>
                          <a:rPr lang="zh-TW" altLang="en-US" sz="2400" b="1" baseline="-2500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b="1" dirty="0" smtClean="0"/>
                          <m:t>,</m:t>
                        </m:r>
                        <m:r>
                          <m:rPr>
                            <m:nor/>
                          </m:rPr>
                          <a:rPr lang="zh-TW" altLang="en-US" sz="2400" b="1" dirty="0" smtClean="0"/>
                          <m:t>𝐹𝑙𝑜𝑤</m:t>
                        </m:r>
                      </m:sup>
                    </m:sSubSup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is the trucks’ traffic flow for the vertex </a:t>
                </a:r>
                <a:r>
                  <a:rPr lang="zh-TW" altLang="en-US" sz="2800" b="1" dirty="0"/>
                  <a:t>𝑣</a:t>
                </a:r>
                <a:r>
                  <a:rPr lang="zh-TW" altLang="en-US" sz="2800" b="1" baseline="-25000" dirty="0"/>
                  <a:t>𝑟 </a:t>
                </a:r>
                <a:r>
                  <a:rPr lang="en-US" altLang="zh-TW" sz="2400" dirty="0"/>
                  <a:t>at time slice </a:t>
                </a:r>
                <a:r>
                  <a:rPr lang="zh-TW" altLang="en-US" sz="2800" b="1" dirty="0"/>
                  <a:t>𝑡</a:t>
                </a:r>
                <a:r>
                  <a:rPr lang="zh-TW" altLang="en-US" sz="2800" b="1" baseline="-25000" dirty="0"/>
                  <a:t>𝑠 </a:t>
                </a:r>
                <a:r>
                  <a:rPr lang="en-US" altLang="zh-TW" sz="2400" dirty="0"/>
                  <a:t>.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F73EBB1B-844A-F02D-513B-19B76C7AB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68" y="703793"/>
                <a:ext cx="10581263" cy="5119671"/>
              </a:xfrm>
              <a:prstGeom prst="rect">
                <a:avLst/>
              </a:prstGeom>
              <a:blipFill>
                <a:blip r:embed="rId3"/>
                <a:stretch>
                  <a:fillRect l="-1728" t="-1786" r="-1267" b="-15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19B64799-5BA6-FDA4-CD30-08773CED32DB}"/>
              </a:ext>
            </a:extLst>
          </p:cNvPr>
          <p:cNvSpPr/>
          <p:nvPr/>
        </p:nvSpPr>
        <p:spPr>
          <a:xfrm>
            <a:off x="11353800" y="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TW" sz="5400" b="1" dirty="0">
                <a:ln/>
                <a:solidFill>
                  <a:schemeClr val="accent3"/>
                </a:solidFill>
              </a:rPr>
              <a:t>6</a:t>
            </a:r>
            <a:endParaRPr lang="zh-TW" alt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744844B-D69C-90D2-C178-82AD2FFF1C48}"/>
              </a:ext>
            </a:extLst>
          </p:cNvPr>
          <p:cNvSpPr/>
          <p:nvPr/>
        </p:nvSpPr>
        <p:spPr>
          <a:xfrm>
            <a:off x="0" y="0"/>
            <a:ext cx="11178272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C70A6C3-FED3-C78C-2438-CF3B7F174AD7}"/>
              </a:ext>
            </a:extLst>
          </p:cNvPr>
          <p:cNvSpPr/>
          <p:nvPr/>
        </p:nvSpPr>
        <p:spPr>
          <a:xfrm>
            <a:off x="0" y="159226"/>
            <a:ext cx="149537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0FB9C16-0ABE-AE35-CE80-4C98A819769A}"/>
              </a:ext>
            </a:extLst>
          </p:cNvPr>
          <p:cNvSpPr/>
          <p:nvPr/>
        </p:nvSpPr>
        <p:spPr>
          <a:xfrm>
            <a:off x="149537" y="6698774"/>
            <a:ext cx="12042463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E605D6-7447-13C0-F129-3B850440E8C0}"/>
              </a:ext>
            </a:extLst>
          </p:cNvPr>
          <p:cNvSpPr/>
          <p:nvPr/>
        </p:nvSpPr>
        <p:spPr>
          <a:xfrm>
            <a:off x="12042463" y="1"/>
            <a:ext cx="146674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: 剪去單一角落 14">
            <a:extLst>
              <a:ext uri="{FF2B5EF4-FFF2-40B4-BE49-F238E27FC236}">
                <a16:creationId xmlns:a16="http://schemas.microsoft.com/office/drawing/2014/main" id="{F13A7207-2AFE-CAD4-B46E-FF246D0E654C}"/>
              </a:ext>
            </a:extLst>
          </p:cNvPr>
          <p:cNvSpPr/>
          <p:nvPr/>
        </p:nvSpPr>
        <p:spPr>
          <a:xfrm rot="10800000">
            <a:off x="10993120" y="159225"/>
            <a:ext cx="179426" cy="80555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4BD1555-B4C7-9215-6630-872C57C7F484}"/>
              </a:ext>
            </a:extLst>
          </p:cNvPr>
          <p:cNvSpPr/>
          <p:nvPr/>
        </p:nvSpPr>
        <p:spPr>
          <a:xfrm>
            <a:off x="11175409" y="805557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260804-247B-6F22-1E19-E319B78BD840}"/>
              </a:ext>
            </a:extLst>
          </p:cNvPr>
          <p:cNvSpPr/>
          <p:nvPr/>
        </p:nvSpPr>
        <p:spPr>
          <a:xfrm>
            <a:off x="11172546" y="-2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296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B2EFEA02-E9FC-8FD9-2305-515724104D1C}"/>
              </a:ext>
            </a:extLst>
          </p:cNvPr>
          <p:cNvSpPr txBox="1"/>
          <p:nvPr/>
        </p:nvSpPr>
        <p:spPr>
          <a:xfrm>
            <a:off x="809826" y="671691"/>
            <a:ext cx="1102873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chemeClr val="accent6">
                    <a:lumMod val="75000"/>
                  </a:schemeClr>
                </a:solidFill>
              </a:rPr>
              <a:t>Definition 3 (Contextual Feature Tensor):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Given the set of vertices </a:t>
            </a:r>
            <a:r>
              <a:rPr lang="zh-TW" altLang="en-US" sz="2800" b="1" dirty="0"/>
              <a:t>𝑉 </a:t>
            </a:r>
            <a:r>
              <a:rPr lang="en-US" altLang="zh-TW" sz="2800" b="1" dirty="0"/>
              <a:t>= { </a:t>
            </a:r>
            <a:r>
              <a:rPr lang="zh-TW" altLang="en-US" sz="2800" b="1" dirty="0"/>
              <a:t>𝑣</a:t>
            </a:r>
            <a:r>
              <a:rPr lang="en-US" altLang="zh-TW" sz="2800" b="1" baseline="-25000" dirty="0"/>
              <a:t>1</a:t>
            </a:r>
            <a:r>
              <a:rPr lang="en-US" altLang="zh-TW" sz="2800" b="1" dirty="0"/>
              <a:t>, </a:t>
            </a:r>
            <a:r>
              <a:rPr lang="zh-TW" altLang="en-US" sz="2800" b="1" dirty="0"/>
              <a:t>𝑣</a:t>
            </a:r>
            <a:r>
              <a:rPr lang="en-US" altLang="zh-TW" sz="2800" b="1" baseline="-25000" dirty="0"/>
              <a:t>2</a:t>
            </a:r>
            <a:r>
              <a:rPr lang="en-US" altLang="zh-TW" sz="2800" b="1" dirty="0"/>
              <a:t>, . . . , </a:t>
            </a:r>
            <a:r>
              <a:rPr lang="zh-TW" altLang="en-US" sz="2800" b="1" dirty="0"/>
              <a:t>𝑣</a:t>
            </a:r>
            <a:r>
              <a:rPr lang="zh-TW" altLang="en-US" sz="2800" b="1" baseline="-25000" dirty="0"/>
              <a:t>𝑅 </a:t>
            </a:r>
            <a:r>
              <a:rPr lang="en-US" altLang="zh-TW" sz="2800" b="1" dirty="0"/>
              <a:t>} </a:t>
            </a:r>
            <a:r>
              <a:rPr lang="en-US" altLang="zh-TW" sz="2400" dirty="0"/>
              <a:t>of the interchanged road network </a:t>
            </a:r>
            <a:r>
              <a:rPr lang="zh-TW" altLang="en-US" sz="2800" b="1" dirty="0"/>
              <a:t>𝐺 </a:t>
            </a:r>
            <a:r>
              <a:rPr lang="en-US" altLang="zh-TW" sz="2400" dirty="0"/>
              <a:t>and a set of time slices </a:t>
            </a:r>
            <a:r>
              <a:rPr lang="zh-TW" altLang="en-US" sz="2800" b="1" dirty="0"/>
              <a:t>𝑇 </a:t>
            </a:r>
            <a:r>
              <a:rPr lang="en-US" altLang="zh-TW" sz="2800" b="1" dirty="0"/>
              <a:t>=  { </a:t>
            </a:r>
            <a:r>
              <a:rPr lang="zh-TW" altLang="en-US" sz="2800" b="1" dirty="0"/>
              <a:t>𝑡</a:t>
            </a:r>
            <a:r>
              <a:rPr lang="en-US" altLang="zh-TW" sz="2800" b="1" baseline="-25000" dirty="0"/>
              <a:t>1</a:t>
            </a:r>
            <a:r>
              <a:rPr lang="en-US" altLang="zh-TW" sz="2800" b="1" dirty="0"/>
              <a:t>, </a:t>
            </a:r>
            <a:r>
              <a:rPr lang="zh-TW" altLang="en-US" sz="2800" b="1" dirty="0"/>
              <a:t>𝑡</a:t>
            </a:r>
            <a:r>
              <a:rPr lang="en-US" altLang="zh-TW" sz="2800" b="1" baseline="-25000" dirty="0"/>
              <a:t>2</a:t>
            </a:r>
            <a:r>
              <a:rPr lang="en-US" altLang="zh-TW" sz="2800" b="1" dirty="0"/>
              <a:t>, . . . , </a:t>
            </a:r>
            <a:r>
              <a:rPr lang="zh-TW" altLang="en-US" sz="2800" b="1" dirty="0"/>
              <a:t>𝑡</a:t>
            </a:r>
            <a:r>
              <a:rPr lang="zh-TW" altLang="en-US" sz="2800" b="1" baseline="-25000" dirty="0"/>
              <a:t>𝑁 </a:t>
            </a:r>
            <a:r>
              <a:rPr lang="en-US" altLang="zh-TW" sz="2800" b="1" dirty="0"/>
              <a:t>} </a:t>
            </a:r>
            <a:r>
              <a:rPr lang="en-US" altLang="zh-TW" sz="2400" dirty="0"/>
              <a:t>a </a:t>
            </a:r>
            <a:r>
              <a:rPr lang="en-US" altLang="zh-TW" sz="2400" b="1" dirty="0"/>
              <a:t>contextual feature tensor</a:t>
            </a:r>
            <a:r>
              <a:rPr lang="en-US" altLang="zh-TW" sz="2400" dirty="0"/>
              <a:t>, denoted by </a:t>
            </a:r>
            <a:r>
              <a:rPr lang="zh-TW" altLang="en-US" sz="2800" b="1" dirty="0"/>
              <a:t>𝐶</a:t>
            </a:r>
            <a:r>
              <a:rPr lang="en-US" altLang="zh-TW" sz="2400" dirty="0"/>
              <a:t>, is a tensor with dimension </a:t>
            </a:r>
            <a:r>
              <a:rPr lang="en-US" altLang="zh-TW" sz="2800" b="1" dirty="0"/>
              <a:t>|</a:t>
            </a:r>
            <a:r>
              <a:rPr lang="zh-TW" altLang="en-US" sz="2800" b="1" dirty="0"/>
              <a:t>𝑉</a:t>
            </a:r>
            <a:r>
              <a:rPr lang="en-US" altLang="zh-TW" sz="2800" b="1" dirty="0"/>
              <a:t>| × |</a:t>
            </a:r>
            <a:r>
              <a:rPr lang="zh-TW" altLang="en-US" sz="2800" b="1" dirty="0"/>
              <a:t>𝑇</a:t>
            </a:r>
            <a:r>
              <a:rPr lang="en-US" altLang="zh-TW" sz="2800" b="1" dirty="0"/>
              <a:t>| × </a:t>
            </a:r>
            <a:r>
              <a:rPr lang="zh-TW" altLang="en-US" sz="2800" b="1" dirty="0"/>
              <a:t>𝑝</a:t>
            </a:r>
            <a:r>
              <a:rPr lang="en-US" altLang="zh-TW" sz="2400" dirty="0"/>
              <a:t>, where </a:t>
            </a:r>
            <a:r>
              <a:rPr lang="zh-TW" altLang="en-US" sz="2800" b="1" dirty="0"/>
              <a:t>𝑝 </a:t>
            </a:r>
            <a:r>
              <a:rPr lang="en-US" altLang="zh-TW" sz="2400" dirty="0"/>
              <a:t>stands for the number of contextual features.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Contextual features </a:t>
            </a:r>
            <a:r>
              <a:rPr lang="en-US" altLang="zh-TW" sz="2400" dirty="0"/>
              <a:t>describe the contributing factors other than the historical truck traffic information that affect the truck traffic. The contextual features considered in this paper includes: </a:t>
            </a:r>
          </a:p>
          <a:p>
            <a:pPr lvl="2"/>
            <a:r>
              <a:rPr lang="en-US" altLang="zh-TW" sz="2400" dirty="0"/>
              <a:t>- </a:t>
            </a:r>
            <a:r>
              <a:rPr lang="en-US" altLang="zh-TW" sz="2400" b="1" dirty="0"/>
              <a:t>Weather:</a:t>
            </a:r>
            <a:r>
              <a:rPr lang="en-US" altLang="zh-TW" sz="2400" dirty="0"/>
              <a:t> Different weather conditions are classified and assigned an integer value to each class. </a:t>
            </a:r>
          </a:p>
          <a:p>
            <a:pPr lvl="2"/>
            <a:r>
              <a:rPr lang="en-US" altLang="zh-TW" sz="2400" dirty="0"/>
              <a:t>- </a:t>
            </a:r>
            <a:r>
              <a:rPr lang="en-US" altLang="zh-TW" sz="2400" b="1" dirty="0"/>
              <a:t>Business day/Holiday:</a:t>
            </a:r>
            <a:r>
              <a:rPr lang="en-US" altLang="zh-TW" sz="2400" dirty="0"/>
              <a:t> The value corresponding to this feature takes value 1 if the day is a business day, and 0 if it is a holiday. </a:t>
            </a:r>
          </a:p>
          <a:p>
            <a:pPr lvl="2"/>
            <a:r>
              <a:rPr lang="en-US" altLang="zh-TW" sz="2400" dirty="0"/>
              <a:t>- </a:t>
            </a:r>
            <a:r>
              <a:rPr lang="en-US" altLang="zh-TW" sz="2400" b="1" dirty="0"/>
              <a:t>Day of the week: </a:t>
            </a:r>
            <a:r>
              <a:rPr lang="en-US" altLang="zh-TW" sz="2400" dirty="0"/>
              <a:t>A discrete value is used to represent each day of the week. </a:t>
            </a:r>
          </a:p>
          <a:p>
            <a:pPr lvl="2"/>
            <a:r>
              <a:rPr lang="en-US" altLang="zh-TW" sz="2400" dirty="0"/>
              <a:t>- </a:t>
            </a:r>
            <a:r>
              <a:rPr lang="en-US" altLang="zh-TW" sz="2400" b="1" dirty="0"/>
              <a:t>Time of the day: </a:t>
            </a:r>
            <a:r>
              <a:rPr lang="en-US" altLang="zh-TW" sz="2400" dirty="0"/>
              <a:t>This feature shows different time of the day, such as in hours.</a:t>
            </a:r>
            <a:endParaRPr lang="zh-TW" altLang="en-US" sz="2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361862-C185-DA28-512D-922BFF97ADDF}"/>
              </a:ext>
            </a:extLst>
          </p:cNvPr>
          <p:cNvSpPr/>
          <p:nvPr/>
        </p:nvSpPr>
        <p:spPr>
          <a:xfrm>
            <a:off x="11353800" y="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TW" sz="5400" b="1" dirty="0">
                <a:ln/>
                <a:solidFill>
                  <a:schemeClr val="accent3"/>
                </a:solidFill>
              </a:rPr>
              <a:t>7</a:t>
            </a:r>
            <a:endParaRPr lang="zh-TW" alt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C4D600-59A1-87C9-44B6-DAB0FB5A8F9B}"/>
              </a:ext>
            </a:extLst>
          </p:cNvPr>
          <p:cNvSpPr/>
          <p:nvPr/>
        </p:nvSpPr>
        <p:spPr>
          <a:xfrm>
            <a:off x="0" y="0"/>
            <a:ext cx="11178272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9B39E9E-A55D-2C94-B66D-6305105DDE48}"/>
              </a:ext>
            </a:extLst>
          </p:cNvPr>
          <p:cNvSpPr/>
          <p:nvPr/>
        </p:nvSpPr>
        <p:spPr>
          <a:xfrm>
            <a:off x="0" y="159226"/>
            <a:ext cx="149537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B17B85-044B-5319-EF5A-E5CCC8BC291A}"/>
              </a:ext>
            </a:extLst>
          </p:cNvPr>
          <p:cNvSpPr/>
          <p:nvPr/>
        </p:nvSpPr>
        <p:spPr>
          <a:xfrm>
            <a:off x="149537" y="6698774"/>
            <a:ext cx="12042463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877072-3AA1-C5BF-8783-62E26AC41D94}"/>
              </a:ext>
            </a:extLst>
          </p:cNvPr>
          <p:cNvSpPr/>
          <p:nvPr/>
        </p:nvSpPr>
        <p:spPr>
          <a:xfrm>
            <a:off x="12042463" y="1"/>
            <a:ext cx="146674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: 剪去單一角落 14">
            <a:extLst>
              <a:ext uri="{FF2B5EF4-FFF2-40B4-BE49-F238E27FC236}">
                <a16:creationId xmlns:a16="http://schemas.microsoft.com/office/drawing/2014/main" id="{F38E5AE6-D018-59AD-871F-08CB1DBEC7E2}"/>
              </a:ext>
            </a:extLst>
          </p:cNvPr>
          <p:cNvSpPr/>
          <p:nvPr/>
        </p:nvSpPr>
        <p:spPr>
          <a:xfrm rot="10800000">
            <a:off x="10993120" y="159225"/>
            <a:ext cx="179426" cy="80555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5A40938-AA95-B570-D600-514033F9B91E}"/>
              </a:ext>
            </a:extLst>
          </p:cNvPr>
          <p:cNvSpPr/>
          <p:nvPr/>
        </p:nvSpPr>
        <p:spPr>
          <a:xfrm>
            <a:off x="11175409" y="805557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4E7FABA-DF7D-ADAC-4B23-5E375F863058}"/>
              </a:ext>
            </a:extLst>
          </p:cNvPr>
          <p:cNvSpPr/>
          <p:nvPr/>
        </p:nvSpPr>
        <p:spPr>
          <a:xfrm>
            <a:off x="11172546" y="-2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4049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B2EFEA02-E9FC-8FD9-2305-515724104D1C}"/>
                  </a:ext>
                </a:extLst>
              </p:cNvPr>
              <p:cNvSpPr txBox="1"/>
              <p:nvPr/>
            </p:nvSpPr>
            <p:spPr>
              <a:xfrm>
                <a:off x="809826" y="632781"/>
                <a:ext cx="11028735" cy="4511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3600" b="1" dirty="0">
                    <a:solidFill>
                      <a:schemeClr val="accent6">
                        <a:lumMod val="75000"/>
                      </a:schemeClr>
                    </a:solidFill>
                  </a:rPr>
                  <a:t>Joint (Traffic Feature and Contextual Feature):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/>
                  <a:t>Thus, a joint truck speed and flow prediction problem can be defined as learning the </a:t>
                </a:r>
                <a:r>
                  <a:rPr lang="en-US" altLang="zh-TW" sz="2400" b="1" dirty="0"/>
                  <a:t>function </a:t>
                </a:r>
                <a:r>
                  <a:rPr lang="zh-TW" altLang="en-US" sz="2800" b="1" dirty="0"/>
                  <a:t>𝑓 </a:t>
                </a:r>
                <a:r>
                  <a:rPr lang="en-US" altLang="zh-TW" sz="2400" dirty="0"/>
                  <a:t>from an </a:t>
                </a:r>
                <a:r>
                  <a:rPr lang="en-US" altLang="zh-TW" sz="2400" b="1" dirty="0"/>
                  <a:t>interchanged road network </a:t>
                </a:r>
                <a:r>
                  <a:rPr lang="zh-TW" altLang="en-US" sz="2800" b="1" dirty="0"/>
                  <a:t>𝐺</a:t>
                </a:r>
                <a:r>
                  <a:rPr lang="en-US" altLang="zh-TW" sz="2400" dirty="0"/>
                  <a:t>, </a:t>
                </a:r>
                <a:r>
                  <a:rPr lang="en-US" altLang="zh-TW" sz="2400" b="1" dirty="0"/>
                  <a:t>truck traffic feature tensor </a:t>
                </a:r>
                <a:r>
                  <a:rPr lang="zh-TW" altLang="en-US" sz="2800" b="1" dirty="0"/>
                  <a:t>𝑋</a:t>
                </a:r>
                <a:r>
                  <a:rPr lang="en-US" altLang="zh-TW" sz="2400" dirty="0"/>
                  <a:t>, and corresponding </a:t>
                </a:r>
                <a:r>
                  <a:rPr lang="en-US" altLang="zh-TW" sz="2400" b="1" dirty="0"/>
                  <a:t>contextual feature tensor </a:t>
                </a:r>
                <a:r>
                  <a:rPr lang="zh-TW" altLang="en-US" sz="2800" b="1" dirty="0"/>
                  <a:t>𝐶 </a:t>
                </a:r>
                <a:r>
                  <a:rPr lang="en-US" altLang="zh-TW" sz="2400" dirty="0"/>
                  <a:t>to predict truck speed and flow for the future </a:t>
                </a:r>
                <a:r>
                  <a:rPr lang="zh-TW" altLang="en-US" sz="2800" b="1" dirty="0"/>
                  <a:t>𝜏 </a:t>
                </a:r>
                <a:r>
                  <a:rPr lang="en-US" altLang="zh-TW" sz="2400" dirty="0"/>
                  <a:t>consecutive time slices. </a:t>
                </a:r>
              </a:p>
              <a:p>
                <a:endParaRPr lang="en-US" altLang="zh-TW" sz="2400" dirty="0"/>
              </a:p>
              <a:p>
                <a:r>
                  <a:rPr lang="en-US" altLang="zh-TW" sz="2800" b="1" dirty="0"/>
                  <a:t>	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TW" altLang="en-US" sz="28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8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  <m:sup>
                        <m:r>
                          <m:rPr>
                            <m:nor/>
                          </m:rPr>
                          <a:rPr lang="zh-TW" altLang="en-US" sz="2800" b="1" dirty="0" smtClean="0"/>
                          <m:t>𝑡</m:t>
                        </m:r>
                        <m:r>
                          <m:rPr>
                            <m:nor/>
                          </m:rPr>
                          <a:rPr lang="zh-TW" altLang="en-US" sz="2800" b="1" baseline="-25000" dirty="0" smtClean="0"/>
                          <m:t>𝑠</m:t>
                        </m:r>
                        <m:r>
                          <m:rPr>
                            <m:nor/>
                          </m:rPr>
                          <a:rPr lang="en-US" altLang="zh-TW" sz="2800" b="1" dirty="0" smtClean="0"/>
                          <m:t>′,</m:t>
                        </m:r>
                        <m:r>
                          <m:rPr>
                            <m:nor/>
                          </m:rPr>
                          <a:rPr lang="zh-TW" altLang="en-US" sz="2800" b="1" dirty="0" smtClean="0"/>
                          <m:t>𝑆𝑝𝑒𝑒𝑑</m:t>
                        </m:r>
                      </m:sup>
                    </m:sSup>
                  </m:oMath>
                </a14:m>
                <a:r>
                  <a:rPr lang="en-US" altLang="zh-TW" sz="2800" b="1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TW" altLang="en-US" sz="28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8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  <m:sup>
                        <m:r>
                          <m:rPr>
                            <m:nor/>
                          </m:rPr>
                          <a:rPr lang="zh-TW" altLang="en-US" sz="2800" b="1" dirty="0" smtClean="0"/>
                          <m:t>𝑡</m:t>
                        </m:r>
                        <m:r>
                          <m:rPr>
                            <m:nor/>
                          </m:rPr>
                          <a:rPr lang="zh-TW" altLang="en-US" sz="2800" b="1" baseline="-25000" dirty="0" smtClean="0"/>
                          <m:t>𝑠</m:t>
                        </m:r>
                        <m:r>
                          <m:rPr>
                            <m:nor/>
                          </m:rPr>
                          <a:rPr lang="en-US" altLang="zh-TW" sz="2800" b="1" dirty="0" smtClean="0"/>
                          <m:t>′,</m:t>
                        </m:r>
                        <m:r>
                          <m:rPr>
                            <m:nor/>
                          </m:rPr>
                          <a:rPr lang="zh-TW" altLang="en-US" sz="2800" b="1" dirty="0" smtClean="0"/>
                          <m:t>𝐹𝑙𝑜𝑤</m:t>
                        </m:r>
                      </m:sup>
                    </m:sSup>
                  </m:oMath>
                </a14:m>
                <a:r>
                  <a:rPr lang="en-US" altLang="zh-TW" sz="2800" b="1" dirty="0"/>
                  <a:t>] = </a:t>
                </a:r>
                <a:r>
                  <a:rPr lang="zh-TW" altLang="en-US" sz="2800" b="1" dirty="0"/>
                  <a:t>𝑓 </a:t>
                </a:r>
                <a:r>
                  <a:rPr lang="en-US" altLang="zh-TW" sz="2800" b="1" dirty="0"/>
                  <a:t>( [ </a:t>
                </a:r>
                <a:r>
                  <a:rPr lang="zh-TW" altLang="en-US" sz="2800" b="1" dirty="0"/>
                  <a:t>𝑋</a:t>
                </a:r>
                <a:r>
                  <a:rPr lang="en-US" altLang="zh-TW" sz="2800" b="1" dirty="0"/>
                  <a:t>|</a:t>
                </a:r>
                <a:r>
                  <a:rPr lang="zh-TW" altLang="en-US" sz="2800" b="1" dirty="0"/>
                  <a:t>𝐶 </a:t>
                </a:r>
                <a:r>
                  <a:rPr lang="en-US" altLang="zh-TW" sz="2800" b="1" dirty="0"/>
                  <a:t>] ; </a:t>
                </a:r>
                <a:r>
                  <a:rPr lang="zh-TW" altLang="en-US" sz="2800" b="1" dirty="0"/>
                  <a:t>𝐺</a:t>
                </a:r>
                <a:r>
                  <a:rPr lang="en-US" altLang="zh-TW" sz="2800" b="1" dirty="0"/>
                  <a:t>) </a:t>
                </a:r>
                <a:r>
                  <a:rPr lang="en-US" altLang="zh-TW" sz="2400" dirty="0"/>
                  <a:t>			(1) </a:t>
                </a:r>
              </a:p>
              <a:p>
                <a:endParaRPr lang="en-US" altLang="zh-TW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/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TW" altLang="en-US" sz="28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8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  <m:sup>
                        <m:r>
                          <m:rPr>
                            <m:nor/>
                          </m:rPr>
                          <a:rPr lang="zh-TW" altLang="en-US" sz="2800" b="1" dirty="0" smtClean="0"/>
                          <m:t>𝑡</m:t>
                        </m:r>
                        <m:r>
                          <m:rPr>
                            <m:nor/>
                          </m:rPr>
                          <a:rPr lang="zh-TW" altLang="en-US" sz="2800" b="1" baseline="-25000" dirty="0" smtClean="0"/>
                          <m:t>𝑠</m:t>
                        </m:r>
                        <m:r>
                          <m:rPr>
                            <m:nor/>
                          </m:rPr>
                          <a:rPr lang="en-US" altLang="zh-TW" sz="2800" b="1" dirty="0" smtClean="0"/>
                          <m:t>′,</m:t>
                        </m:r>
                        <m:r>
                          <m:rPr>
                            <m:nor/>
                          </m:rPr>
                          <a:rPr lang="zh-TW" altLang="en-US" sz="2800" b="1" dirty="0" smtClean="0"/>
                          <m:t>𝑆𝑝𝑒𝑒𝑑</m:t>
                        </m:r>
                      </m:sup>
                    </m:sSup>
                    <m:r>
                      <a:rPr lang="zh-TW" alt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/>
                  <a:t>and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TW" altLang="en-US" sz="28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8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  <m:sup>
                        <m:r>
                          <m:rPr>
                            <m:nor/>
                          </m:rPr>
                          <a:rPr lang="zh-TW" altLang="en-US" sz="2800" b="1" dirty="0" smtClean="0"/>
                          <m:t>𝑡</m:t>
                        </m:r>
                        <m:r>
                          <m:rPr>
                            <m:nor/>
                          </m:rPr>
                          <a:rPr lang="zh-TW" altLang="en-US" sz="2800" b="1" baseline="-25000" dirty="0" smtClean="0"/>
                          <m:t>𝑠</m:t>
                        </m:r>
                        <m:r>
                          <m:rPr>
                            <m:nor/>
                          </m:rPr>
                          <a:rPr lang="en-US" altLang="zh-TW" sz="2800" b="1" dirty="0" smtClean="0"/>
                          <m:t>′,</m:t>
                        </m:r>
                        <m:r>
                          <m:rPr>
                            <m:nor/>
                          </m:rPr>
                          <a:rPr lang="zh-TW" altLang="en-US" sz="2800" b="1" dirty="0" smtClean="0"/>
                          <m:t>𝐹𝑙𝑜𝑤</m:t>
                        </m:r>
                      </m:sup>
                    </m:sSup>
                    <m:r>
                      <a:rPr lang="zh-TW" alt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/>
                  <a:t>are standing for predicted truck speed and flow at time slice </a:t>
                </a:r>
                <a:r>
                  <a:rPr lang="zh-TW" altLang="en-US" sz="2800" b="1" dirty="0"/>
                  <a:t>𝑡</a:t>
                </a:r>
                <a:r>
                  <a:rPr lang="zh-TW" altLang="en-US" sz="2800" b="1" baseline="-25000" dirty="0"/>
                  <a:t>𝑠</a:t>
                </a:r>
                <a:r>
                  <a:rPr lang="en-US" altLang="zh-TW" sz="2800" b="1" dirty="0"/>
                  <a:t>′ ∈ {</a:t>
                </a:r>
                <a:r>
                  <a:rPr lang="zh-TW" altLang="en-US" sz="2800" b="1" dirty="0"/>
                  <a:t>𝑡</a:t>
                </a:r>
                <a:r>
                  <a:rPr lang="zh-TW" altLang="en-US" sz="2800" b="1" baseline="-25000" dirty="0"/>
                  <a:t>𝑁</a:t>
                </a:r>
                <a:r>
                  <a:rPr lang="en-US" altLang="zh-TW" sz="2800" b="1" baseline="-25000" dirty="0"/>
                  <a:t>+1</a:t>
                </a:r>
                <a:r>
                  <a:rPr lang="en-US" altLang="zh-TW" sz="2800" b="1" dirty="0"/>
                  <a:t>, . . . , </a:t>
                </a:r>
                <a:r>
                  <a:rPr lang="zh-TW" altLang="en-US" sz="2800" b="1" dirty="0"/>
                  <a:t>𝑡</a:t>
                </a:r>
                <a:r>
                  <a:rPr lang="zh-TW" altLang="en-US" sz="2800" b="1" baseline="-25000" dirty="0"/>
                  <a:t>𝑁</a:t>
                </a:r>
                <a:r>
                  <a:rPr lang="en-US" altLang="zh-TW" sz="2800" b="1" baseline="-25000" dirty="0"/>
                  <a:t>+</a:t>
                </a:r>
                <a:r>
                  <a:rPr lang="zh-TW" altLang="en-US" sz="2800" b="1" baseline="-25000" dirty="0"/>
                  <a:t>𝜏 </a:t>
                </a:r>
                <a:r>
                  <a:rPr lang="en-US" altLang="zh-TW" sz="2800" b="1" dirty="0"/>
                  <a:t>} </a:t>
                </a:r>
                <a:r>
                  <a:rPr lang="en-US" altLang="zh-TW" sz="2400" dirty="0"/>
                  <a:t>.</a:t>
                </a: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B2EFEA02-E9FC-8FD9-2305-515724104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826" y="632781"/>
                <a:ext cx="11028735" cy="4511235"/>
              </a:xfrm>
              <a:prstGeom prst="rect">
                <a:avLst/>
              </a:prstGeom>
              <a:blipFill>
                <a:blip r:embed="rId2"/>
                <a:stretch>
                  <a:fillRect l="-1714" t="-2162" r="-940" b="-29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C0A31E7D-98CD-FD67-B8DE-0FD212C112E3}"/>
              </a:ext>
            </a:extLst>
          </p:cNvPr>
          <p:cNvSpPr/>
          <p:nvPr/>
        </p:nvSpPr>
        <p:spPr>
          <a:xfrm>
            <a:off x="11353800" y="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TW" sz="5400" b="1" dirty="0">
                <a:ln/>
                <a:solidFill>
                  <a:schemeClr val="accent3"/>
                </a:solidFill>
              </a:rPr>
              <a:t>8</a:t>
            </a:r>
            <a:endParaRPr lang="zh-TW" alt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008D70A-0236-909D-6451-648BFA732BF9}"/>
              </a:ext>
            </a:extLst>
          </p:cNvPr>
          <p:cNvSpPr/>
          <p:nvPr/>
        </p:nvSpPr>
        <p:spPr>
          <a:xfrm>
            <a:off x="0" y="0"/>
            <a:ext cx="11178272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E6DC5AF-F28F-B312-E0BC-F2220B387269}"/>
              </a:ext>
            </a:extLst>
          </p:cNvPr>
          <p:cNvSpPr/>
          <p:nvPr/>
        </p:nvSpPr>
        <p:spPr>
          <a:xfrm>
            <a:off x="0" y="159226"/>
            <a:ext cx="149537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9B462B7-E338-7729-9173-7B8B04178DAD}"/>
              </a:ext>
            </a:extLst>
          </p:cNvPr>
          <p:cNvSpPr/>
          <p:nvPr/>
        </p:nvSpPr>
        <p:spPr>
          <a:xfrm>
            <a:off x="149537" y="6698774"/>
            <a:ext cx="12042463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6CA521D-1973-F69F-F40D-078AD0AF3960}"/>
              </a:ext>
            </a:extLst>
          </p:cNvPr>
          <p:cNvSpPr/>
          <p:nvPr/>
        </p:nvSpPr>
        <p:spPr>
          <a:xfrm>
            <a:off x="12042463" y="1"/>
            <a:ext cx="146674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: 剪去單一角落 14">
            <a:extLst>
              <a:ext uri="{FF2B5EF4-FFF2-40B4-BE49-F238E27FC236}">
                <a16:creationId xmlns:a16="http://schemas.microsoft.com/office/drawing/2014/main" id="{D62D5DF3-A7DE-F18E-6024-F0E0CD410A8C}"/>
              </a:ext>
            </a:extLst>
          </p:cNvPr>
          <p:cNvSpPr/>
          <p:nvPr/>
        </p:nvSpPr>
        <p:spPr>
          <a:xfrm rot="10800000">
            <a:off x="10993120" y="159225"/>
            <a:ext cx="179426" cy="80555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53EF1B4-D44C-5810-295E-CCB54D4FA776}"/>
              </a:ext>
            </a:extLst>
          </p:cNvPr>
          <p:cNvSpPr/>
          <p:nvPr/>
        </p:nvSpPr>
        <p:spPr>
          <a:xfrm>
            <a:off x="11175409" y="805557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ED5615-6702-EC0A-480A-BF22195B8179}"/>
              </a:ext>
            </a:extLst>
          </p:cNvPr>
          <p:cNvSpPr/>
          <p:nvPr/>
        </p:nvSpPr>
        <p:spPr>
          <a:xfrm>
            <a:off x="11172546" y="-2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7124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B2EFEA02-E9FC-8FD9-2305-515724104D1C}"/>
                  </a:ext>
                </a:extLst>
              </p:cNvPr>
              <p:cNvSpPr txBox="1"/>
              <p:nvPr/>
            </p:nvSpPr>
            <p:spPr>
              <a:xfrm>
                <a:off x="581632" y="47289"/>
                <a:ext cx="11286113" cy="67722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3600" b="1" dirty="0">
                    <a:solidFill>
                      <a:schemeClr val="accent6">
                        <a:lumMod val="75000"/>
                      </a:schemeClr>
                    </a:solidFill>
                  </a:rPr>
                  <a:t>Loss Function: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/>
                  <a:t>For each task </a:t>
                </a:r>
                <a14:m>
                  <m:oMath xmlns:m="http://schemas.openxmlformats.org/officeDocument/2006/math">
                    <m:r>
                      <a:rPr lang="el-GR" altLang="zh-TW" sz="2800" b="1" i="0" dirty="0" smtClean="0">
                        <a:latin typeface="Cambria Math" panose="02040503050406030204" pitchFamily="18" charset="0"/>
                      </a:rPr>
                      <m:t>𝚪</m:t>
                    </m:r>
                  </m:oMath>
                </a14:m>
                <a:r>
                  <a:rPr lang="el-GR" altLang="zh-TW" sz="2800" dirty="0"/>
                  <a:t> </a:t>
                </a:r>
                <a:r>
                  <a:rPr lang="el-GR" altLang="zh-TW" sz="2800" b="1" dirty="0"/>
                  <a:t>∈ {</a:t>
                </a:r>
                <a:r>
                  <a:rPr lang="zh-TW" altLang="el-GR" sz="2800" b="1" dirty="0"/>
                  <a:t>𝑆𝑝𝑒𝑒𝑑</a:t>
                </a:r>
                <a:r>
                  <a:rPr lang="el-GR" altLang="zh-TW" sz="2800" b="1" dirty="0"/>
                  <a:t>, </a:t>
                </a:r>
                <a:r>
                  <a:rPr lang="zh-TW" altLang="el-GR" sz="2800" b="1" dirty="0"/>
                  <a:t>𝐹𝑙𝑜𝑤</a:t>
                </a:r>
                <a:r>
                  <a:rPr lang="el-GR" altLang="zh-TW" sz="2800" b="1" dirty="0"/>
                  <a:t>} </a:t>
                </a:r>
                <a:r>
                  <a:rPr lang="en-US" altLang="zh-TW" sz="2400" dirty="0"/>
                  <a:t>the loss function is defined as follows: </a:t>
                </a:r>
              </a:p>
              <a:p>
                <a:endParaRPr lang="en-US" altLang="zh-TW" sz="2400" dirty="0"/>
              </a:p>
              <a:p>
                <a:r>
                  <a:rPr lang="en-US" altLang="zh-TW" sz="2800" b="1" i="0" dirty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</a:rPr>
                  <a:t>	</a:t>
                </a:r>
                <a:r>
                  <a:rPr lang="zh-TW" altLang="en-US" sz="2800" b="1" i="0" dirty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</a:rPr>
                  <a:t>𝓛</a:t>
                </a:r>
                <a14:m>
                  <m:oMath xmlns:m="http://schemas.openxmlformats.org/officeDocument/2006/math">
                    <m:r>
                      <a:rPr lang="el-GR" altLang="zh-TW" sz="3200" b="1" i="0" baseline="30000" dirty="0" smtClean="0">
                        <a:latin typeface="Cambria Math" panose="02040503050406030204" pitchFamily="18" charset="0"/>
                      </a:rPr>
                      <m:t>𝚪</m:t>
                    </m:r>
                  </m:oMath>
                </a14:m>
                <a:r>
                  <a:rPr lang="el-GR" altLang="zh-TW" sz="2800" b="1" dirty="0"/>
                  <a:t>(</a:t>
                </a:r>
                <a:r>
                  <a:rPr lang="zh-TW" altLang="el-GR" sz="2800" b="1" dirty="0"/>
                  <a:t>𝜃</a:t>
                </a:r>
                <a:r>
                  <a:rPr lang="el-GR" altLang="zh-TW" sz="2800" b="1" dirty="0"/>
                  <a:t>) = </a:t>
                </a:r>
                <a:r>
                  <a:rPr lang="en-US" altLang="zh-TW" sz="2800" b="1" dirty="0"/>
                  <a:t>ǁ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l-GR" altLang="zh-TW" sz="28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zh-TW" altLang="el-GR" sz="2800" b="1" dirty="0" smtClean="0"/>
                          <m:t>𝑥</m:t>
                        </m:r>
                      </m:e>
                      <m:sub>
                        <m:r>
                          <m:rPr>
                            <m:nor/>
                          </m:rPr>
                          <a:rPr lang="zh-TW" altLang="el-GR" sz="2800" b="1" dirty="0" smtClean="0"/>
                          <m:t>𝑣</m:t>
                        </m:r>
                        <m:r>
                          <m:rPr>
                            <m:nor/>
                          </m:rPr>
                          <a:rPr lang="zh-TW" altLang="el-GR" sz="2800" b="1" baseline="-25000" dirty="0" smtClean="0"/>
                          <m:t>𝑟</m:t>
                        </m:r>
                      </m:sub>
                      <m:sup>
                        <m:r>
                          <m:rPr>
                            <m:nor/>
                          </m:rPr>
                          <a:rPr lang="zh-TW" altLang="el-GR" sz="2800" b="1" dirty="0" smtClean="0"/>
                          <m:t>𝑡</m:t>
                        </m:r>
                        <m:r>
                          <m:rPr>
                            <m:nor/>
                          </m:rPr>
                          <a:rPr lang="zh-TW" altLang="el-GR" sz="2800" b="1" baseline="-25000" dirty="0" smtClean="0"/>
                          <m:t>𝑠</m:t>
                        </m:r>
                        <m:r>
                          <m:rPr>
                            <m:nor/>
                          </m:rPr>
                          <a:rPr lang="el-GR" altLang="zh-TW" sz="2800" b="1" dirty="0" smtClean="0"/>
                          <m:t>′,</m:t>
                        </m:r>
                        <m:r>
                          <a:rPr lang="el-GR" altLang="zh-TW" sz="2800" b="1" i="0" dirty="0" smtClean="0">
                            <a:latin typeface="Cambria Math" panose="02040503050406030204" pitchFamily="18" charset="0"/>
                          </a:rPr>
                          <m:t>𝚪</m:t>
                        </m:r>
                      </m:sup>
                    </m:sSubSup>
                  </m:oMath>
                </a14:m>
                <a:r>
                  <a:rPr lang="zh-TW" altLang="el-GR" sz="2800" b="1" dirty="0"/>
                  <a:t>−</a:t>
                </a:r>
                <a:r>
                  <a:rPr lang="en-US" altLang="zh-TW" sz="2800" b="1" dirty="0"/>
                  <a:t> </a:t>
                </a:r>
                <a:r>
                  <a:rPr lang="zh-TW" altLang="el-GR" sz="2800" b="1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8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zh-TW" alt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lang="en-US" altLang="zh-TW" sz="2800" b="1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zh-TW" altLang="el-GR" sz="2800" b="1" dirty="0" smtClean="0"/>
                              <m:t>𝑥</m:t>
                            </m:r>
                          </m:e>
                        </m:acc>
                      </m:e>
                      <m:sub>
                        <m:r>
                          <m:rPr>
                            <m:nor/>
                          </m:rPr>
                          <a:rPr lang="zh-TW" altLang="el-GR" sz="2800" b="1" dirty="0" smtClean="0"/>
                          <m:t>𝑣</m:t>
                        </m:r>
                        <m:r>
                          <m:rPr>
                            <m:nor/>
                          </m:rPr>
                          <a:rPr lang="zh-TW" altLang="el-GR" sz="2800" b="1" baseline="-25000" dirty="0" smtClean="0"/>
                          <m:t>𝑟</m:t>
                        </m:r>
                      </m:sub>
                      <m:sup>
                        <m:r>
                          <m:rPr>
                            <m:nor/>
                          </m:rPr>
                          <a:rPr lang="zh-TW" altLang="el-GR" sz="2800" b="1" dirty="0" smtClean="0"/>
                          <m:t>𝑡</m:t>
                        </m:r>
                        <m:r>
                          <m:rPr>
                            <m:nor/>
                          </m:rPr>
                          <a:rPr lang="zh-TW" altLang="el-GR" sz="2800" b="1" baseline="-25000" dirty="0" smtClean="0"/>
                          <m:t>𝑠</m:t>
                        </m:r>
                        <m:r>
                          <m:rPr>
                            <m:nor/>
                          </m:rPr>
                          <a:rPr lang="el-GR" altLang="zh-TW" sz="2800" b="1" dirty="0" smtClean="0"/>
                          <m:t>′,</m:t>
                        </m:r>
                        <m:r>
                          <a:rPr lang="el-GR" altLang="zh-TW" sz="2800" b="1" i="0" dirty="0" smtClean="0">
                            <a:latin typeface="Cambria Math" panose="02040503050406030204" pitchFamily="18" charset="0"/>
                          </a:rPr>
                          <m:t>𝚪</m:t>
                        </m:r>
                      </m:sup>
                    </m:sSubSup>
                  </m:oMath>
                </a14:m>
                <a:r>
                  <a:rPr lang="en-US" altLang="zh-TW" sz="2800" b="1" dirty="0"/>
                  <a:t> ǁ </a:t>
                </a:r>
                <a:r>
                  <a:rPr lang="el-GR" altLang="zh-TW" sz="2800" b="1" dirty="0"/>
                  <a:t>+ </a:t>
                </a:r>
                <a:r>
                  <a:rPr lang="en-US" altLang="zh-TW" sz="2800" b="1" dirty="0"/>
                  <a:t> </a:t>
                </a:r>
                <a:r>
                  <a:rPr lang="zh-TW" altLang="el-GR" sz="2800" b="1" dirty="0"/>
                  <a:t>𝜆</a:t>
                </a:r>
                <a14:m>
                  <m:oMath xmlns:m="http://schemas.openxmlformats.org/officeDocument/2006/math">
                    <m:r>
                      <a:rPr lang="el-GR" altLang="zh-TW" sz="2800" b="1" i="0" baseline="30000" dirty="0" smtClean="0">
                        <a:latin typeface="Cambria Math" panose="02040503050406030204" pitchFamily="18" charset="0"/>
                      </a:rPr>
                      <m:t>𝚪</m:t>
                    </m:r>
                    <m:sSubSup>
                      <m:sSubSupPr>
                        <m:ctrlPr>
                          <a:rPr lang="en-US" altLang="zh-TW" sz="28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zh-TW" altLang="en-US" sz="2800" b="1" i="0" dirty="0" smtClean="0">
                            <a:solidFill>
                              <a:srgbClr val="202122"/>
                            </a:solidFill>
                            <a:effectLst/>
                            <a:latin typeface="Arial" panose="020B0604020202020204" pitchFamily="34" charset="0"/>
                          </a:rPr>
                          <m:t>𝓛</m:t>
                        </m:r>
                      </m:e>
                      <m:sub>
                        <m:r>
                          <m:rPr>
                            <m:nor/>
                          </m:rPr>
                          <a:rPr lang="zh-TW" altLang="el-GR" sz="2800" b="1" dirty="0" smtClean="0"/>
                          <m:t>𝑅𝑒𝑔</m:t>
                        </m:r>
                      </m:sub>
                      <m:sup>
                        <m:r>
                          <a:rPr lang="el-GR" altLang="zh-TW" sz="2800" b="1" i="0" dirty="0" smtClean="0">
                            <a:latin typeface="Cambria Math" panose="02040503050406030204" pitchFamily="18" charset="0"/>
                          </a:rPr>
                          <m:t>𝚪</m:t>
                        </m:r>
                      </m:sup>
                    </m:sSubSup>
                  </m:oMath>
                </a14:m>
                <a:r>
                  <a:rPr lang="en-US" altLang="zh-TW" sz="2400" dirty="0"/>
                  <a:t> 			</a:t>
                </a:r>
                <a:r>
                  <a:rPr lang="el-GR" altLang="zh-TW" sz="2400" dirty="0"/>
                  <a:t>(2) </a:t>
                </a:r>
                <a:endParaRPr lang="en-US" altLang="zh-TW" sz="2400" dirty="0"/>
              </a:p>
              <a:p>
                <a:endParaRPr lang="en-US" altLang="zh-TW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/>
                  <a:t>for all </a:t>
                </a:r>
                <a:r>
                  <a:rPr lang="zh-TW" altLang="en-US" sz="2800" b="1" dirty="0"/>
                  <a:t>𝑣</a:t>
                </a:r>
                <a:r>
                  <a:rPr lang="zh-TW" altLang="en-US" sz="2800" b="1" baseline="-25000" dirty="0"/>
                  <a:t>𝑟 </a:t>
                </a:r>
                <a:r>
                  <a:rPr lang="zh-TW" altLang="en-US" sz="2800" b="1" dirty="0"/>
                  <a:t>∈ 𝑉 </a:t>
                </a:r>
                <a:r>
                  <a:rPr lang="en-US" altLang="zh-TW" sz="2400" dirty="0"/>
                  <a:t>, where</a:t>
                </a:r>
                <a:r>
                  <a:rPr lang="el-GR" altLang="zh-TW" sz="24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l-GR" altLang="zh-TW" sz="28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zh-TW" altLang="el-GR" sz="2800" b="1" dirty="0" smtClean="0"/>
                          <m:t>𝑥</m:t>
                        </m:r>
                      </m:e>
                      <m:sub>
                        <m:r>
                          <m:rPr>
                            <m:nor/>
                          </m:rPr>
                          <a:rPr lang="zh-TW" altLang="el-GR" sz="2800" b="1" dirty="0" smtClean="0"/>
                          <m:t>𝑣</m:t>
                        </m:r>
                        <m:r>
                          <m:rPr>
                            <m:nor/>
                          </m:rPr>
                          <a:rPr lang="zh-TW" altLang="el-GR" sz="2800" b="1" baseline="-25000" dirty="0" smtClean="0"/>
                          <m:t>𝑟</m:t>
                        </m:r>
                      </m:sub>
                      <m:sup>
                        <m:r>
                          <m:rPr>
                            <m:nor/>
                          </m:rPr>
                          <a:rPr lang="zh-TW" altLang="el-GR" sz="2800" b="1" dirty="0" smtClean="0"/>
                          <m:t>𝑡</m:t>
                        </m:r>
                        <m:r>
                          <m:rPr>
                            <m:nor/>
                          </m:rPr>
                          <a:rPr lang="zh-TW" altLang="el-GR" sz="2800" b="1" baseline="-25000" dirty="0" smtClean="0"/>
                          <m:t>𝑠</m:t>
                        </m:r>
                        <m:r>
                          <m:rPr>
                            <m:nor/>
                          </m:rPr>
                          <a:rPr lang="el-GR" altLang="zh-TW" sz="2800" b="1" dirty="0" smtClean="0"/>
                          <m:t>′,</m:t>
                        </m:r>
                        <m:r>
                          <a:rPr lang="el-GR" altLang="zh-TW" sz="2800" b="1" i="0" dirty="0" smtClean="0">
                            <a:latin typeface="Cambria Math" panose="02040503050406030204" pitchFamily="18" charset="0"/>
                          </a:rPr>
                          <m:t>𝚪</m:t>
                        </m:r>
                      </m:sup>
                    </m:sSubSup>
                  </m:oMath>
                </a14:m>
                <a:r>
                  <a:rPr lang="zh-TW" altLang="el-GR" sz="2800" b="1" dirty="0"/>
                  <a:t> </a:t>
                </a:r>
                <a:r>
                  <a:rPr lang="en-US" altLang="zh-TW" sz="2400" dirty="0"/>
                  <a:t>and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8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zh-TW" alt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lang="zh-TW" altLang="el-GR" sz="2800" b="1" dirty="0" smtClean="0"/>
                              <m:t>𝑥</m:t>
                            </m:r>
                          </m:e>
                        </m:acc>
                      </m:e>
                      <m:sub>
                        <m:r>
                          <m:rPr>
                            <m:nor/>
                          </m:rPr>
                          <a:rPr lang="zh-TW" altLang="el-GR" sz="2800" b="1" dirty="0" smtClean="0"/>
                          <m:t>𝑣</m:t>
                        </m:r>
                        <m:r>
                          <m:rPr>
                            <m:nor/>
                          </m:rPr>
                          <a:rPr lang="zh-TW" altLang="el-GR" sz="2800" b="1" baseline="-25000" dirty="0" smtClean="0"/>
                          <m:t>𝑟</m:t>
                        </m:r>
                      </m:sub>
                      <m:sup>
                        <m:r>
                          <m:rPr>
                            <m:nor/>
                          </m:rPr>
                          <a:rPr lang="zh-TW" altLang="el-GR" sz="2800" b="1" dirty="0" smtClean="0"/>
                          <m:t>𝑡</m:t>
                        </m:r>
                        <m:r>
                          <m:rPr>
                            <m:nor/>
                          </m:rPr>
                          <a:rPr lang="zh-TW" altLang="el-GR" sz="2800" b="1" baseline="-25000" dirty="0" smtClean="0"/>
                          <m:t>𝑠</m:t>
                        </m:r>
                        <m:r>
                          <m:rPr>
                            <m:nor/>
                          </m:rPr>
                          <a:rPr lang="el-GR" altLang="zh-TW" sz="2800" b="1" dirty="0" smtClean="0"/>
                          <m:t>′,</m:t>
                        </m:r>
                        <m:r>
                          <a:rPr lang="el-GR" altLang="zh-TW" sz="2800" b="1" i="0" dirty="0" smtClean="0">
                            <a:latin typeface="Cambria Math" panose="02040503050406030204" pitchFamily="18" charset="0"/>
                          </a:rPr>
                          <m:t>𝚪</m:t>
                        </m:r>
                      </m:sup>
                    </m:sSubSup>
                    <m:r>
                      <a:rPr lang="el-GR" altLang="zh-TW" sz="28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/>
                  <a:t>correspond to the real value of the target </a:t>
                </a:r>
                <a14:m>
                  <m:oMath xmlns:m="http://schemas.openxmlformats.org/officeDocument/2006/math">
                    <m:r>
                      <a:rPr lang="el-GR" altLang="zh-TW" sz="2800" b="1" i="0" dirty="0" smtClean="0">
                        <a:latin typeface="Cambria Math" panose="02040503050406030204" pitchFamily="18" charset="0"/>
                      </a:rPr>
                      <m:t>𝚪</m:t>
                    </m:r>
                  </m:oMath>
                </a14:m>
                <a:r>
                  <a:rPr lang="el-GR" altLang="zh-TW" sz="2400" dirty="0"/>
                  <a:t> </a:t>
                </a:r>
                <a:r>
                  <a:rPr lang="en-US" altLang="zh-TW" sz="2400" dirty="0"/>
                  <a:t>and the predicted value of that target at time </a:t>
                </a:r>
                <a:r>
                  <a:rPr lang="zh-TW" altLang="en-US" sz="2800" b="1" dirty="0"/>
                  <a:t>𝑡</a:t>
                </a:r>
                <a:r>
                  <a:rPr lang="zh-TW" altLang="en-US" sz="2800" b="1" baseline="-25000" dirty="0"/>
                  <a:t>𝑠</a:t>
                </a:r>
                <a:r>
                  <a:rPr lang="en-US" altLang="zh-TW" sz="2800" b="1" dirty="0"/>
                  <a:t>′</a:t>
                </a:r>
                <a:r>
                  <a:rPr lang="en-US" altLang="zh-TW" sz="2400" dirty="0"/>
                  <a:t>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12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8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zh-TW" altLang="en-US" sz="2800" b="1" i="0" dirty="0" smtClean="0">
                            <a:solidFill>
                              <a:srgbClr val="202122"/>
                            </a:solidFill>
                            <a:effectLst/>
                            <a:latin typeface="Arial" panose="020B0604020202020204" pitchFamily="34" charset="0"/>
                          </a:rPr>
                          <m:t>𝓛</m:t>
                        </m:r>
                      </m:e>
                      <m:sub>
                        <m:r>
                          <m:rPr>
                            <m:nor/>
                          </m:rPr>
                          <a:rPr lang="zh-TW" altLang="el-GR" sz="2800" b="1" dirty="0" smtClean="0"/>
                          <m:t>𝑅𝑒𝑔</m:t>
                        </m:r>
                      </m:sub>
                      <m:sup>
                        <m:r>
                          <a:rPr lang="el-GR" altLang="zh-TW" sz="2800" b="1" i="0" dirty="0" smtClean="0">
                            <a:latin typeface="Cambria Math" panose="02040503050406030204" pitchFamily="18" charset="0"/>
                          </a:rPr>
                          <m:t>𝚪</m:t>
                        </m:r>
                      </m:sup>
                    </m:sSubSup>
                    <m:r>
                      <a:rPr lang="el-GR" altLang="zh-TW" sz="28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/>
                  <a:t>denotes the </a:t>
                </a:r>
                <a:r>
                  <a:rPr lang="zh-TW" altLang="en-US" sz="2800" b="1" dirty="0"/>
                  <a:t>𝐿</a:t>
                </a:r>
                <a:r>
                  <a:rPr lang="en-US" altLang="zh-TW" sz="2800" b="1" dirty="0"/>
                  <a:t>2 </a:t>
                </a:r>
                <a:r>
                  <a:rPr lang="en-US" altLang="zh-TW" sz="2400" b="1" dirty="0"/>
                  <a:t>regularization term </a:t>
                </a:r>
                <a:r>
                  <a:rPr lang="en-US" altLang="zh-TW" sz="2400" dirty="0"/>
                  <a:t>used </a:t>
                </a:r>
                <a:r>
                  <a:rPr lang="en-US" altLang="zh-TW" sz="2400" b="1" dirty="0"/>
                  <a:t>to avoid over-fitting </a:t>
                </a:r>
                <a:r>
                  <a:rPr lang="en-US" altLang="zh-TW" sz="2400" dirty="0"/>
                  <a:t>for task </a:t>
                </a:r>
                <a14:m>
                  <m:oMath xmlns:m="http://schemas.openxmlformats.org/officeDocument/2006/math">
                    <m:r>
                      <a:rPr lang="el-GR" altLang="zh-TW" sz="2800" b="1" i="0" dirty="0" smtClean="0">
                        <a:latin typeface="Cambria Math" panose="02040503050406030204" pitchFamily="18" charset="0"/>
                      </a:rPr>
                      <m:t>𝚪</m:t>
                    </m:r>
                  </m:oMath>
                </a14:m>
                <a:r>
                  <a:rPr lang="el-GR" altLang="zh-TW" sz="2400" dirty="0"/>
                  <a:t>, </a:t>
                </a:r>
                <a:r>
                  <a:rPr lang="en-US" altLang="zh-TW" sz="2400" dirty="0"/>
                  <a:t>and </a:t>
                </a:r>
                <a:r>
                  <a:rPr lang="zh-TW" altLang="en-US" sz="2800" b="1" dirty="0"/>
                  <a:t>𝜆</a:t>
                </a:r>
                <a14:m>
                  <m:oMath xmlns:m="http://schemas.openxmlformats.org/officeDocument/2006/math">
                    <m:r>
                      <a:rPr lang="el-GR" altLang="zh-TW" sz="2800" b="1" i="0" baseline="30000" dirty="0" smtClean="0">
                        <a:latin typeface="Cambria Math" panose="02040503050406030204" pitchFamily="18" charset="0"/>
                      </a:rPr>
                      <m:t>𝚪</m:t>
                    </m:r>
                  </m:oMath>
                </a14:m>
                <a:r>
                  <a:rPr lang="el-GR" altLang="zh-TW" sz="2800" b="1" dirty="0"/>
                  <a:t> </a:t>
                </a:r>
                <a:r>
                  <a:rPr lang="en-US" altLang="zh-TW" sz="2400" dirty="0"/>
                  <a:t>is the corresponding hyperparameter.</a:t>
                </a:r>
              </a:p>
              <a:p>
                <a:endParaRPr lang="en-US" altLang="zh-TW" sz="11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TW" altLang="en-US" sz="2800" b="1" dirty="0"/>
                  <a:t>𝜃 </a:t>
                </a:r>
                <a:r>
                  <a:rPr lang="en-US" altLang="zh-TW" sz="2800" b="1" dirty="0"/>
                  <a:t>= {</a:t>
                </a:r>
                <a:r>
                  <a:rPr lang="zh-TW" altLang="en-US" sz="2800" b="1" dirty="0"/>
                  <a:t>𝜃</a:t>
                </a:r>
                <a:r>
                  <a:rPr lang="zh-TW" altLang="en-US" sz="2800" b="1" baseline="30000" dirty="0"/>
                  <a:t>𝑆</a:t>
                </a:r>
                <a:r>
                  <a:rPr lang="en-US" altLang="zh-TW" sz="2800" b="1" baseline="30000" dirty="0"/>
                  <a:t>ℎ</a:t>
                </a:r>
                <a:r>
                  <a:rPr lang="zh-TW" altLang="en-US" sz="2800" b="1" baseline="30000" dirty="0"/>
                  <a:t>𝑎𝑟𝑒𝑑 </a:t>
                </a:r>
                <a:r>
                  <a:rPr lang="zh-TW" altLang="en-US" sz="2800" b="1" dirty="0"/>
                  <a:t>∪ 𝜃</a:t>
                </a:r>
                <a:r>
                  <a:rPr lang="zh-TW" altLang="en-US" sz="2800" b="1" baseline="30000" dirty="0"/>
                  <a:t>𝑆𝑝𝑒𝑒𝑑 </a:t>
                </a:r>
                <a:r>
                  <a:rPr lang="zh-TW" altLang="en-US" sz="2800" b="1" dirty="0"/>
                  <a:t>∪ 𝜃</a:t>
                </a:r>
                <a:r>
                  <a:rPr lang="zh-TW" altLang="en-US" sz="2800" b="1" baseline="30000" dirty="0"/>
                  <a:t>𝐹𝑙𝑜𝑤</a:t>
                </a:r>
                <a:r>
                  <a:rPr lang="zh-TW" altLang="en-US" sz="2800" b="1" dirty="0"/>
                  <a:t> </a:t>
                </a:r>
                <a:r>
                  <a:rPr lang="en-US" altLang="zh-TW" sz="2400" dirty="0"/>
                  <a:t>} represents the set of the all trainable parameters. While </a:t>
                </a:r>
                <a:r>
                  <a:rPr lang="zh-TW" altLang="en-US" sz="3200" b="1" dirty="0"/>
                  <a:t>𝜃</a:t>
                </a:r>
                <a:r>
                  <a:rPr lang="zh-TW" altLang="en-US" sz="2800" b="1" baseline="30000" dirty="0"/>
                  <a:t>𝑆</a:t>
                </a:r>
                <a:r>
                  <a:rPr lang="en-US" altLang="zh-TW" sz="2800" b="1" baseline="30000" dirty="0"/>
                  <a:t>ℎ</a:t>
                </a:r>
                <a:r>
                  <a:rPr lang="zh-TW" altLang="en-US" sz="2800" b="1" baseline="30000" dirty="0"/>
                  <a:t>𝑎𝑟𝑒𝑑 </a:t>
                </a:r>
                <a:r>
                  <a:rPr lang="en-US" altLang="zh-TW" sz="2400" dirty="0"/>
                  <a:t>denotes the learnable parameters of the shared representation, </a:t>
                </a:r>
                <a:r>
                  <a:rPr lang="zh-TW" altLang="en-US" sz="3200" b="1" dirty="0"/>
                  <a:t>𝜃</a:t>
                </a:r>
                <a:r>
                  <a:rPr lang="zh-TW" altLang="en-US" sz="2800" b="1" baseline="30000" dirty="0"/>
                  <a:t>𝑆𝑝𝑒𝑒𝑑</a:t>
                </a:r>
                <a:r>
                  <a:rPr lang="zh-TW" altLang="en-US" sz="2800" baseline="30000" dirty="0"/>
                  <a:t> </a:t>
                </a:r>
                <a:r>
                  <a:rPr lang="en-US" altLang="zh-TW" sz="2400" dirty="0"/>
                  <a:t>and </a:t>
                </a:r>
                <a:r>
                  <a:rPr lang="zh-TW" altLang="en-US" sz="3200" b="1" dirty="0"/>
                  <a:t>𝜃</a:t>
                </a:r>
                <a:r>
                  <a:rPr lang="zh-TW" altLang="en-US" sz="2800" b="1" baseline="30000" dirty="0"/>
                  <a:t>𝐹𝑙𝑜𝑤 </a:t>
                </a:r>
                <a:r>
                  <a:rPr lang="en-US" altLang="zh-TW" sz="2400" dirty="0"/>
                  <a:t>are the parameters exclusive to each task, namely, truck speed prediction and truck flow prediction.</a:t>
                </a: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B2EFEA02-E9FC-8FD9-2305-515724104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32" y="47289"/>
                <a:ext cx="11286113" cy="6772239"/>
              </a:xfrm>
              <a:prstGeom prst="rect">
                <a:avLst/>
              </a:prstGeom>
              <a:blipFill>
                <a:blip r:embed="rId3"/>
                <a:stretch>
                  <a:fillRect l="-1620" t="-1440" r="-3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A9315FBB-14D5-7ADB-B100-ED740CB98E9F}"/>
              </a:ext>
            </a:extLst>
          </p:cNvPr>
          <p:cNvSpPr/>
          <p:nvPr/>
        </p:nvSpPr>
        <p:spPr>
          <a:xfrm>
            <a:off x="11353800" y="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TW" sz="5400" b="1" dirty="0">
                <a:ln/>
                <a:solidFill>
                  <a:schemeClr val="accent3"/>
                </a:solidFill>
              </a:rPr>
              <a:t>9</a:t>
            </a:r>
            <a:endParaRPr lang="zh-TW" alt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3A43933-4736-69C1-3C0F-4FFD005AE760}"/>
              </a:ext>
            </a:extLst>
          </p:cNvPr>
          <p:cNvSpPr/>
          <p:nvPr/>
        </p:nvSpPr>
        <p:spPr>
          <a:xfrm>
            <a:off x="0" y="0"/>
            <a:ext cx="11178272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668AE0-72B4-ACDA-1F5A-4EC49C4A288D}"/>
              </a:ext>
            </a:extLst>
          </p:cNvPr>
          <p:cNvSpPr/>
          <p:nvPr/>
        </p:nvSpPr>
        <p:spPr>
          <a:xfrm>
            <a:off x="0" y="159226"/>
            <a:ext cx="149537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434CBD-0258-C6C9-F913-FB6086606FF5}"/>
              </a:ext>
            </a:extLst>
          </p:cNvPr>
          <p:cNvSpPr/>
          <p:nvPr/>
        </p:nvSpPr>
        <p:spPr>
          <a:xfrm>
            <a:off x="149537" y="6698774"/>
            <a:ext cx="12042463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EAB2CFC-7E36-E362-18DA-6AA903094AB9}"/>
              </a:ext>
            </a:extLst>
          </p:cNvPr>
          <p:cNvSpPr/>
          <p:nvPr/>
        </p:nvSpPr>
        <p:spPr>
          <a:xfrm>
            <a:off x="12042463" y="1"/>
            <a:ext cx="146674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: 剪去單一角落 14">
            <a:extLst>
              <a:ext uri="{FF2B5EF4-FFF2-40B4-BE49-F238E27FC236}">
                <a16:creationId xmlns:a16="http://schemas.microsoft.com/office/drawing/2014/main" id="{F55172FF-7C79-F40C-1514-FE282D17301D}"/>
              </a:ext>
            </a:extLst>
          </p:cNvPr>
          <p:cNvSpPr/>
          <p:nvPr/>
        </p:nvSpPr>
        <p:spPr>
          <a:xfrm rot="10800000">
            <a:off x="10993120" y="159225"/>
            <a:ext cx="179426" cy="80555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4A8534B-2C51-CB73-3548-6EE437978E17}"/>
              </a:ext>
            </a:extLst>
          </p:cNvPr>
          <p:cNvSpPr/>
          <p:nvPr/>
        </p:nvSpPr>
        <p:spPr>
          <a:xfrm>
            <a:off x="11175409" y="805557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0ABD4E-0B8A-CE5D-A3AB-CC16C63EF240}"/>
              </a:ext>
            </a:extLst>
          </p:cNvPr>
          <p:cNvSpPr/>
          <p:nvPr/>
        </p:nvSpPr>
        <p:spPr>
          <a:xfrm>
            <a:off x="11172546" y="-2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11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B2EFEA02-E9FC-8FD9-2305-515724104D1C}"/>
                  </a:ext>
                </a:extLst>
              </p:cNvPr>
              <p:cNvSpPr txBox="1"/>
              <p:nvPr/>
            </p:nvSpPr>
            <p:spPr>
              <a:xfrm>
                <a:off x="809826" y="671691"/>
                <a:ext cx="11028735" cy="3882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3600" b="1" dirty="0">
                    <a:solidFill>
                      <a:schemeClr val="accent6">
                        <a:lumMod val="75000"/>
                      </a:schemeClr>
                    </a:solidFill>
                  </a:rPr>
                  <a:t>Objective function: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/>
                  <a:t>The objective function for the joint truck speed and flow prediction problem is formulated as: </a:t>
                </a:r>
              </a:p>
              <a:p>
                <a:r>
                  <a:rPr lang="en-US" altLang="zh-TW" sz="2400" dirty="0"/>
                  <a:t> </a:t>
                </a:r>
              </a:p>
              <a:p>
                <a:r>
                  <a:rPr lang="en-US" altLang="zh-TW" sz="2400" dirty="0"/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400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400" b="1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altLang="zh-TW" sz="2400" b="1" i="0" smtClean="0">
                                <a:latin typeface="Cambria Math" panose="02040503050406030204" pitchFamily="18" charset="0"/>
                              </a:rPr>
                              <m:t>𝐦𝐢𝐧</m:t>
                            </m:r>
                          </m:e>
                          <m:lim>
                            <m:r>
                              <m:rPr>
                                <m:nor/>
                              </m:rPr>
                              <a:rPr lang="zh-TW" altLang="en-US" sz="2400" b="1" dirty="0" smtClean="0"/>
                              <m:t>𝜃</m:t>
                            </m:r>
                          </m:lim>
                        </m:limLow>
                      </m:fName>
                      <m:e>
                        <m:r>
                          <m:rPr>
                            <m:nor/>
                          </m:rPr>
                          <a:rPr lang="zh-TW" altLang="en-US" sz="2400" b="1" dirty="0" smtClean="0"/>
                          <m:t>𝑤</m:t>
                        </m:r>
                        <m:r>
                          <m:rPr>
                            <m:nor/>
                          </m:rPr>
                          <a:rPr lang="zh-TW" altLang="en-US" sz="2400" b="1" baseline="30000" dirty="0" smtClean="0"/>
                          <m:t>𝑆𝑝𝑒𝑒𝑑</m:t>
                        </m:r>
                        <m:r>
                          <m:rPr>
                            <m:nor/>
                          </m:rPr>
                          <a:rPr lang="zh-TW" altLang="en-US" sz="2400" b="1" baseline="3000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b="1" dirty="0" smtClean="0"/>
                          <m:t>.</m:t>
                        </m:r>
                        <m:r>
                          <m:rPr>
                            <m:nor/>
                          </m:rPr>
                          <a:rPr lang="en-US" altLang="zh-TW" sz="2400" b="1" i="0" dirty="0" smtClean="0"/>
                          <m:t> </m:t>
                        </m:r>
                        <m:r>
                          <m:rPr>
                            <m:nor/>
                          </m:rPr>
                          <a:rPr lang="zh-TW" altLang="en-US" sz="2400" b="1" i="0" dirty="0" smtClean="0">
                            <a:solidFill>
                              <a:srgbClr val="202122"/>
                            </a:solidFill>
                            <a:effectLst/>
                            <a:latin typeface="Arial" panose="020B0604020202020204" pitchFamily="34" charset="0"/>
                          </a:rPr>
                          <m:t>𝓛</m:t>
                        </m:r>
                        <m:r>
                          <m:rPr>
                            <m:nor/>
                          </m:rPr>
                          <a:rPr lang="zh-TW" altLang="en-US" sz="2400" b="1" baseline="30000" dirty="0" smtClean="0"/>
                          <m:t>𝑆𝑝𝑒𝑒𝑑</m:t>
                        </m:r>
                        <m:r>
                          <m:rPr>
                            <m:nor/>
                          </m:rPr>
                          <a:rPr lang="en-US" altLang="zh-TW" sz="2400" b="1" dirty="0" smtClean="0"/>
                          <m:t>(</m:t>
                        </m:r>
                        <m:r>
                          <m:rPr>
                            <m:nor/>
                          </m:rPr>
                          <a:rPr lang="zh-TW" altLang="en-US" sz="2400" b="1" dirty="0" smtClean="0"/>
                          <m:t>𝜃</m:t>
                        </m:r>
                        <m:r>
                          <m:rPr>
                            <m:nor/>
                          </m:rPr>
                          <a:rPr lang="en-US" altLang="zh-TW" sz="2400" b="1" dirty="0" smtClean="0"/>
                          <m:t>) + </m:t>
                        </m:r>
                        <m:r>
                          <m:rPr>
                            <m:nor/>
                          </m:rPr>
                          <a:rPr lang="zh-TW" altLang="en-US" sz="2400" b="1" dirty="0" smtClean="0"/>
                          <m:t>𝑤</m:t>
                        </m:r>
                        <m:r>
                          <m:rPr>
                            <m:nor/>
                          </m:rPr>
                          <a:rPr lang="zh-TW" altLang="en-US" sz="2400" b="1" baseline="30000" dirty="0" smtClean="0"/>
                          <m:t>𝐹𝑙𝑜𝑤</m:t>
                        </m:r>
                        <m:r>
                          <m:rPr>
                            <m:nor/>
                          </m:rPr>
                          <a:rPr lang="zh-TW" altLang="en-US" sz="2400" b="1" baseline="3000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b="1" dirty="0" smtClean="0"/>
                          <m:t>. </m:t>
                        </m:r>
                        <m:r>
                          <m:rPr>
                            <m:nor/>
                          </m:rPr>
                          <a:rPr lang="zh-TW" altLang="en-US" sz="2400" b="1" i="0" dirty="0" smtClean="0">
                            <a:solidFill>
                              <a:srgbClr val="202122"/>
                            </a:solidFill>
                            <a:effectLst/>
                            <a:latin typeface="Arial" panose="020B0604020202020204" pitchFamily="34" charset="0"/>
                          </a:rPr>
                          <m:t>𝓛</m:t>
                        </m:r>
                        <m:r>
                          <m:rPr>
                            <m:nor/>
                          </m:rPr>
                          <a:rPr lang="zh-TW" altLang="en-US" sz="2400" b="1" baseline="30000" dirty="0" smtClean="0"/>
                          <m:t>𝐹𝑙𝑜𝑤</m:t>
                        </m:r>
                        <m:r>
                          <m:rPr>
                            <m:nor/>
                          </m:rPr>
                          <a:rPr lang="en-US" altLang="zh-TW" sz="2400" b="1" dirty="0" smtClean="0"/>
                          <m:t>(</m:t>
                        </m:r>
                        <m:r>
                          <m:rPr>
                            <m:nor/>
                          </m:rPr>
                          <a:rPr lang="zh-TW" altLang="en-US" sz="2400" b="1" dirty="0" smtClean="0"/>
                          <m:t>𝜃</m:t>
                        </m:r>
                        <m:r>
                          <m:rPr>
                            <m:nor/>
                          </m:rPr>
                          <a:rPr lang="en-US" altLang="zh-TW" sz="2400" b="1" dirty="0" smtClean="0"/>
                          <m:t>)</m:t>
                        </m:r>
                      </m:e>
                    </m:func>
                  </m:oMath>
                </a14:m>
                <a:r>
                  <a:rPr lang="en-US" altLang="zh-TW" sz="2400" b="1" dirty="0"/>
                  <a:t> </a:t>
                </a:r>
                <a:r>
                  <a:rPr lang="en-US" altLang="zh-TW" sz="2000" dirty="0"/>
                  <a:t>			(3) </a:t>
                </a:r>
              </a:p>
              <a:p>
                <a:r>
                  <a:rPr lang="en-US" altLang="zh-TW" sz="2400" dirty="0"/>
                  <a:t>	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TW" altLang="en-US" sz="2800" b="1" dirty="0"/>
                  <a:t>𝑤</a:t>
                </a:r>
                <a:r>
                  <a:rPr lang="zh-TW" altLang="en-US" sz="2800" b="1" baseline="30000" dirty="0"/>
                  <a:t>𝑆𝑝𝑒𝑒𝑑 </a:t>
                </a:r>
                <a:r>
                  <a:rPr lang="en-US" altLang="zh-TW" sz="2400" dirty="0"/>
                  <a:t>and </a:t>
                </a:r>
                <a:r>
                  <a:rPr lang="zh-TW" altLang="en-US" sz="2800" b="1" dirty="0"/>
                  <a:t>𝑤</a:t>
                </a:r>
                <a:r>
                  <a:rPr lang="zh-TW" altLang="en-US" sz="2800" b="1" baseline="30000" dirty="0"/>
                  <a:t>𝐹𝑙𝑜𝑤 </a:t>
                </a:r>
                <a:r>
                  <a:rPr lang="en-US" altLang="zh-TW" sz="2400" dirty="0"/>
                  <a:t>are the task specific weights for speed prediction and flow prediction tasks, respectively. In this paper, we attribute the same weight of value 1 to each task; hence, </a:t>
                </a:r>
                <a:r>
                  <a:rPr lang="zh-TW" altLang="en-US" sz="2800" b="1" dirty="0"/>
                  <a:t>𝑤</a:t>
                </a:r>
                <a14:m>
                  <m:oMath xmlns:m="http://schemas.openxmlformats.org/officeDocument/2006/math">
                    <m:r>
                      <a:rPr lang="el-GR" altLang="zh-TW" sz="2800" b="1" i="0" baseline="30000" dirty="0" smtClean="0">
                        <a:latin typeface="Cambria Math" panose="02040503050406030204" pitchFamily="18" charset="0"/>
                      </a:rPr>
                      <m:t>𝚪</m:t>
                    </m:r>
                    <m:r>
                      <a:rPr lang="el-GR" altLang="zh-TW" sz="2800" b="1" i="1" baseline="3000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altLang="zh-TW" sz="2800" b="1" baseline="30000" dirty="0"/>
                  <a:t>∈ {</a:t>
                </a:r>
                <a:r>
                  <a:rPr lang="zh-TW" altLang="el-GR" sz="2800" b="1" baseline="30000" dirty="0"/>
                  <a:t>𝐹𝑙𝑜𝑤</a:t>
                </a:r>
                <a:r>
                  <a:rPr lang="el-GR" altLang="zh-TW" sz="2800" b="1" baseline="30000" dirty="0"/>
                  <a:t>,</a:t>
                </a:r>
                <a:r>
                  <a:rPr lang="zh-TW" altLang="el-GR" sz="2800" b="1" baseline="30000" dirty="0"/>
                  <a:t>𝑆𝑝𝑒𝑒𝑑 </a:t>
                </a:r>
                <a:r>
                  <a:rPr lang="el-GR" altLang="zh-TW" sz="2800" b="1" baseline="30000" dirty="0"/>
                  <a:t>} </a:t>
                </a:r>
                <a:r>
                  <a:rPr lang="el-GR" altLang="zh-TW" sz="2400" b="1" dirty="0"/>
                  <a:t>= 1</a:t>
                </a:r>
                <a:r>
                  <a:rPr lang="el-GR" altLang="zh-TW" sz="2400" dirty="0"/>
                  <a:t>. </a:t>
                </a:r>
                <a:endParaRPr lang="en-US" altLang="zh-TW" sz="2400" b="1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B2EFEA02-E9FC-8FD9-2305-515724104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826" y="671691"/>
                <a:ext cx="11028735" cy="3882281"/>
              </a:xfrm>
              <a:prstGeom prst="rect">
                <a:avLst/>
              </a:prstGeom>
              <a:blipFill>
                <a:blip r:embed="rId2"/>
                <a:stretch>
                  <a:fillRect l="-1714" t="-2355" r="-553" b="-32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0A3690CF-19AE-D02C-BC7C-F02A7736530C}"/>
              </a:ext>
            </a:extLst>
          </p:cNvPr>
          <p:cNvSpPr/>
          <p:nvPr/>
        </p:nvSpPr>
        <p:spPr>
          <a:xfrm>
            <a:off x="11178272" y="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TW" sz="5400" b="1" cap="none" spc="0" dirty="0">
                <a:ln/>
                <a:solidFill>
                  <a:schemeClr val="accent3"/>
                </a:solidFill>
                <a:effectLst/>
              </a:rPr>
              <a:t>10</a:t>
            </a:r>
            <a:endParaRPr lang="zh-TW" alt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140A811-8956-191D-E8F4-965EE09362A9}"/>
              </a:ext>
            </a:extLst>
          </p:cNvPr>
          <p:cNvSpPr/>
          <p:nvPr/>
        </p:nvSpPr>
        <p:spPr>
          <a:xfrm>
            <a:off x="0" y="0"/>
            <a:ext cx="11178272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A999AF5-94A0-72F9-94AA-E8A661502DBC}"/>
              </a:ext>
            </a:extLst>
          </p:cNvPr>
          <p:cNvSpPr/>
          <p:nvPr/>
        </p:nvSpPr>
        <p:spPr>
          <a:xfrm>
            <a:off x="0" y="159226"/>
            <a:ext cx="149537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D4C0D5-C7E0-EE84-821D-1046AE55677D}"/>
              </a:ext>
            </a:extLst>
          </p:cNvPr>
          <p:cNvSpPr/>
          <p:nvPr/>
        </p:nvSpPr>
        <p:spPr>
          <a:xfrm>
            <a:off x="149537" y="6698774"/>
            <a:ext cx="12042463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3CB491A-3E09-5B5B-AA67-6FAA492C4622}"/>
              </a:ext>
            </a:extLst>
          </p:cNvPr>
          <p:cNvSpPr/>
          <p:nvPr/>
        </p:nvSpPr>
        <p:spPr>
          <a:xfrm>
            <a:off x="12042463" y="1"/>
            <a:ext cx="146674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: 剪去單一角落 14">
            <a:extLst>
              <a:ext uri="{FF2B5EF4-FFF2-40B4-BE49-F238E27FC236}">
                <a16:creationId xmlns:a16="http://schemas.microsoft.com/office/drawing/2014/main" id="{BEE32B4D-E58D-226C-2C6A-032D56A6F397}"/>
              </a:ext>
            </a:extLst>
          </p:cNvPr>
          <p:cNvSpPr/>
          <p:nvPr/>
        </p:nvSpPr>
        <p:spPr>
          <a:xfrm rot="10800000">
            <a:off x="10993120" y="159225"/>
            <a:ext cx="179426" cy="80555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2CE84D-2B9C-2C93-241C-16EB0886576A}"/>
              </a:ext>
            </a:extLst>
          </p:cNvPr>
          <p:cNvSpPr/>
          <p:nvPr/>
        </p:nvSpPr>
        <p:spPr>
          <a:xfrm>
            <a:off x="11175409" y="805557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974C59E-E082-F83D-CA5A-C8F5D34DC45D}"/>
              </a:ext>
            </a:extLst>
          </p:cNvPr>
          <p:cNvSpPr/>
          <p:nvPr/>
        </p:nvSpPr>
        <p:spPr>
          <a:xfrm>
            <a:off x="11172546" y="-2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7145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A3690CF-19AE-D02C-BC7C-F02A7736530C}"/>
              </a:ext>
            </a:extLst>
          </p:cNvPr>
          <p:cNvSpPr/>
          <p:nvPr/>
        </p:nvSpPr>
        <p:spPr>
          <a:xfrm>
            <a:off x="11178272" y="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TW" sz="5400" b="1" cap="none" spc="0" dirty="0">
                <a:ln/>
                <a:solidFill>
                  <a:schemeClr val="accent3"/>
                </a:solidFill>
                <a:effectLst/>
              </a:rPr>
              <a:t>11</a:t>
            </a:r>
            <a:endParaRPr lang="zh-TW" alt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BE72F11-E579-7A43-EC08-7B5460CC5D82}"/>
              </a:ext>
            </a:extLst>
          </p:cNvPr>
          <p:cNvSpPr/>
          <p:nvPr/>
        </p:nvSpPr>
        <p:spPr>
          <a:xfrm>
            <a:off x="0" y="0"/>
            <a:ext cx="11178272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4A1AF7-D57D-9AFE-F73C-BB0B5D09B3B5}"/>
              </a:ext>
            </a:extLst>
          </p:cNvPr>
          <p:cNvSpPr/>
          <p:nvPr/>
        </p:nvSpPr>
        <p:spPr>
          <a:xfrm>
            <a:off x="0" y="159226"/>
            <a:ext cx="149537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45E6D1-7C5F-D9A0-66E2-D65F1905D4DA}"/>
              </a:ext>
            </a:extLst>
          </p:cNvPr>
          <p:cNvSpPr/>
          <p:nvPr/>
        </p:nvSpPr>
        <p:spPr>
          <a:xfrm>
            <a:off x="149537" y="6698774"/>
            <a:ext cx="12042463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DB73E3F-A68A-6713-BBC1-A5C720FE10AF}"/>
              </a:ext>
            </a:extLst>
          </p:cNvPr>
          <p:cNvSpPr/>
          <p:nvPr/>
        </p:nvSpPr>
        <p:spPr>
          <a:xfrm>
            <a:off x="12042463" y="1"/>
            <a:ext cx="146674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: 剪去單一角落 20">
            <a:extLst>
              <a:ext uri="{FF2B5EF4-FFF2-40B4-BE49-F238E27FC236}">
                <a16:creationId xmlns:a16="http://schemas.microsoft.com/office/drawing/2014/main" id="{5A4CA725-13C0-AFFF-A43E-C89A5889DA39}"/>
              </a:ext>
            </a:extLst>
          </p:cNvPr>
          <p:cNvSpPr/>
          <p:nvPr/>
        </p:nvSpPr>
        <p:spPr>
          <a:xfrm rot="10800000">
            <a:off x="10993120" y="159225"/>
            <a:ext cx="179426" cy="80555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CD7515F-CCBD-6635-BE72-1F9ED681F198}"/>
              </a:ext>
            </a:extLst>
          </p:cNvPr>
          <p:cNvSpPr/>
          <p:nvPr/>
        </p:nvSpPr>
        <p:spPr>
          <a:xfrm>
            <a:off x="11175409" y="805557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D5E6747-3291-734A-5C38-DD1FF274E5E9}"/>
              </a:ext>
            </a:extLst>
          </p:cNvPr>
          <p:cNvSpPr/>
          <p:nvPr/>
        </p:nvSpPr>
        <p:spPr>
          <a:xfrm>
            <a:off x="11172546" y="-2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4FA8A38-40C2-AED9-964A-848B8A31E591}"/>
              </a:ext>
            </a:extLst>
          </p:cNvPr>
          <p:cNvSpPr txBox="1"/>
          <p:nvPr/>
        </p:nvSpPr>
        <p:spPr>
          <a:xfrm>
            <a:off x="149537" y="159226"/>
            <a:ext cx="110287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chemeClr val="accent1">
                    <a:lumMod val="75000"/>
                  </a:schemeClr>
                </a:solidFill>
              </a:rPr>
              <a:t>Architecture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03F89FC-8DE2-2D21-753B-DC76DFD0E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43" y="923330"/>
            <a:ext cx="4996193" cy="301788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9A25522-49E4-17EF-4CC3-1B6ABDB551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6796" y="304067"/>
            <a:ext cx="4451366" cy="6235481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4E4ADA31-B9AC-28B8-821A-7F98D2F27F89}"/>
              </a:ext>
            </a:extLst>
          </p:cNvPr>
          <p:cNvSpPr txBox="1"/>
          <p:nvPr/>
        </p:nvSpPr>
        <p:spPr>
          <a:xfrm>
            <a:off x="307339" y="4191714"/>
            <a:ext cx="57965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To improve accuracy of the predictions, instead of using a </a:t>
            </a:r>
            <a:r>
              <a:rPr lang="zh-TW" altLang="en-US" sz="2400" b="1" dirty="0"/>
              <a:t>STL approach</a:t>
            </a:r>
            <a:r>
              <a:rPr lang="zh-TW" altLang="en-US" sz="2400" dirty="0"/>
              <a:t>, </a:t>
            </a:r>
            <a:r>
              <a:rPr lang="zh-TW" altLang="en-US" sz="2400" b="1" dirty="0">
                <a:solidFill>
                  <a:schemeClr val="accent1">
                    <a:lumMod val="75000"/>
                  </a:schemeClr>
                </a:solidFill>
              </a:rPr>
              <a:t>MT-C2G</a:t>
            </a:r>
            <a:r>
              <a:rPr lang="zh-TW" altLang="en-US" sz="2400" dirty="0"/>
              <a:t> takes advantage of the </a:t>
            </a:r>
            <a:r>
              <a:rPr lang="zh-TW" altLang="en-US" sz="2400" b="1" dirty="0"/>
              <a:t>commonalities between</a:t>
            </a:r>
            <a:r>
              <a:rPr lang="zh-TW" altLang="en-US" sz="2400" dirty="0"/>
              <a:t> the  </a:t>
            </a:r>
            <a:r>
              <a:rPr lang="zh-TW" altLang="en-US" sz="2400" b="1" dirty="0"/>
              <a:t>truck speed </a:t>
            </a:r>
            <a:r>
              <a:rPr lang="zh-TW" altLang="en-US" sz="2400" dirty="0"/>
              <a:t>and </a:t>
            </a:r>
            <a:r>
              <a:rPr lang="zh-TW" altLang="en-US" sz="2400" b="1" dirty="0"/>
              <a:t>flow prediction</a:t>
            </a:r>
            <a:r>
              <a:rPr lang="zh-TW" altLang="en-US" sz="2400" dirty="0"/>
              <a:t> tasks, through jointly optimizing a </a:t>
            </a:r>
            <a:r>
              <a:rPr lang="zh-TW" altLang="en-US" sz="2400" b="1" dirty="0"/>
              <a:t>shared model</a:t>
            </a:r>
            <a:r>
              <a:rPr lang="zh-TW" alt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2051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CA01B88-C998-1D32-0365-CAA1AE11BBB5}"/>
              </a:ext>
            </a:extLst>
          </p:cNvPr>
          <p:cNvSpPr/>
          <p:nvPr/>
        </p:nvSpPr>
        <p:spPr>
          <a:xfrm>
            <a:off x="0" y="0"/>
            <a:ext cx="11178272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40E330-34F3-B1FB-BA40-0B7DE1049422}"/>
              </a:ext>
            </a:extLst>
          </p:cNvPr>
          <p:cNvSpPr/>
          <p:nvPr/>
        </p:nvSpPr>
        <p:spPr>
          <a:xfrm>
            <a:off x="0" y="159226"/>
            <a:ext cx="149537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8D23DF-843D-DE7D-CEDA-6D5021BE744C}"/>
              </a:ext>
            </a:extLst>
          </p:cNvPr>
          <p:cNvSpPr/>
          <p:nvPr/>
        </p:nvSpPr>
        <p:spPr>
          <a:xfrm>
            <a:off x="149537" y="6698774"/>
            <a:ext cx="12042463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ABFC7C1-4B8F-B81D-C3B7-BCBDED0BAEF3}"/>
              </a:ext>
            </a:extLst>
          </p:cNvPr>
          <p:cNvSpPr/>
          <p:nvPr/>
        </p:nvSpPr>
        <p:spPr>
          <a:xfrm>
            <a:off x="12042463" y="1"/>
            <a:ext cx="146674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剪去單一角落 7">
            <a:extLst>
              <a:ext uri="{FF2B5EF4-FFF2-40B4-BE49-F238E27FC236}">
                <a16:creationId xmlns:a16="http://schemas.microsoft.com/office/drawing/2014/main" id="{F921A176-869C-DC01-4EB3-7D3655DBBB47}"/>
              </a:ext>
            </a:extLst>
          </p:cNvPr>
          <p:cNvSpPr/>
          <p:nvPr/>
        </p:nvSpPr>
        <p:spPr>
          <a:xfrm rot="10800000">
            <a:off x="10993120" y="159225"/>
            <a:ext cx="179426" cy="80555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15D08BA-9847-42DC-93CB-594A0D5B8CE9}"/>
              </a:ext>
            </a:extLst>
          </p:cNvPr>
          <p:cNvSpPr/>
          <p:nvPr/>
        </p:nvSpPr>
        <p:spPr>
          <a:xfrm>
            <a:off x="11175409" y="805557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5933A7B-0877-D9F4-AB0F-96700FD54766}"/>
              </a:ext>
            </a:extLst>
          </p:cNvPr>
          <p:cNvSpPr/>
          <p:nvPr/>
        </p:nvSpPr>
        <p:spPr>
          <a:xfrm>
            <a:off x="11172546" y="-2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B7CC4C8-4818-27E9-8B82-7067BDC75D1F}"/>
              </a:ext>
            </a:extLst>
          </p:cNvPr>
          <p:cNvSpPr/>
          <p:nvPr/>
        </p:nvSpPr>
        <p:spPr>
          <a:xfrm>
            <a:off x="11178272" y="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TW" sz="5400" b="1" dirty="0">
                <a:ln/>
                <a:solidFill>
                  <a:schemeClr val="accent3"/>
                </a:solidFill>
              </a:rPr>
              <a:t>12</a:t>
            </a:r>
            <a:endParaRPr lang="zh-TW" alt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B3B5BB9-D4C2-3727-EDA5-4E31FA3A270F}"/>
              </a:ext>
            </a:extLst>
          </p:cNvPr>
          <p:cNvSpPr txBox="1"/>
          <p:nvPr/>
        </p:nvSpPr>
        <p:spPr>
          <a:xfrm>
            <a:off x="149537" y="159226"/>
            <a:ext cx="110287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chemeClr val="accent1">
                    <a:lumMod val="75000"/>
                  </a:schemeClr>
                </a:solidFill>
              </a:rPr>
              <a:t>Data Preprocessing: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F69E0EFE-513E-8417-69AA-883223303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50" y="1322684"/>
            <a:ext cx="6923317" cy="4212631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25856A56-A3CB-529F-5664-C5D0CD7D461F}"/>
              </a:ext>
            </a:extLst>
          </p:cNvPr>
          <p:cNvSpPr txBox="1"/>
          <p:nvPr/>
        </p:nvSpPr>
        <p:spPr>
          <a:xfrm>
            <a:off x="7227651" y="1052817"/>
            <a:ext cx="483740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The road networks of </a:t>
            </a:r>
            <a:r>
              <a:rPr lang="zh-TW" altLang="en-US" sz="2400" b="1" dirty="0"/>
              <a:t>Calgary</a:t>
            </a:r>
            <a:r>
              <a:rPr lang="zh-TW" altLang="en-US" sz="2400" dirty="0"/>
              <a:t> and </a:t>
            </a:r>
            <a:r>
              <a:rPr lang="zh-TW" altLang="en-US" sz="2400" b="1" dirty="0"/>
              <a:t>Brussels</a:t>
            </a:r>
            <a:r>
              <a:rPr lang="zh-TW" altLang="en-US" sz="2400" dirty="0"/>
              <a:t> are retrieved from </a:t>
            </a:r>
            <a:r>
              <a:rPr lang="zh-TW" altLang="en-US" sz="2400" b="1" dirty="0"/>
              <a:t>Open Street Map</a:t>
            </a:r>
            <a:r>
              <a:rPr lang="zh-TW" altLang="en-US" sz="2400" dirty="0"/>
              <a:t>, as shown in </a:t>
            </a:r>
            <a:r>
              <a:rPr lang="zh-TW" altLang="en-US" sz="2400" b="1" dirty="0"/>
              <a:t>Figure 3</a:t>
            </a:r>
            <a:r>
              <a:rPr lang="zh-TW" altLang="en-US" sz="2400" dirty="0"/>
              <a:t>, and </a:t>
            </a:r>
            <a:r>
              <a:rPr lang="zh-TW" altLang="en-US" sz="2400" b="1" dirty="0"/>
              <a:t>the weather data </a:t>
            </a:r>
            <a:r>
              <a:rPr lang="zh-TW" altLang="en-US" sz="2400" dirty="0"/>
              <a:t>is collected from </a:t>
            </a:r>
            <a:r>
              <a:rPr lang="zh-TW" altLang="en-US" sz="2400" b="1" dirty="0"/>
              <a:t>public weather APIs </a:t>
            </a:r>
            <a:r>
              <a:rPr lang="zh-TW" altLang="en-US" sz="2400" dirty="0"/>
              <a:t>available for both cities.</a:t>
            </a: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The </a:t>
            </a:r>
            <a:r>
              <a:rPr lang="en-US" altLang="zh-TW" sz="2400" b="1" dirty="0"/>
              <a:t>Calgary truck data </a:t>
            </a:r>
            <a:r>
              <a:rPr lang="en-US" altLang="zh-TW" sz="2400" dirty="0"/>
              <a:t>is provided by </a:t>
            </a:r>
            <a:r>
              <a:rPr lang="en-US" altLang="zh-TW" sz="2400" b="1" dirty="0"/>
              <a:t>American Transportation  Research Institute (ATRI)</a:t>
            </a:r>
            <a:r>
              <a:rPr lang="en-US" altLang="zh-TW" sz="2400" dirty="0"/>
              <a:t> for the year 2019. More than </a:t>
            </a:r>
            <a:r>
              <a:rPr lang="en-US" altLang="zh-TW" sz="2400" b="1" dirty="0"/>
              <a:t>11,000 trucks</a:t>
            </a:r>
            <a:r>
              <a:rPr lang="en-US" altLang="zh-TW" sz="2400" dirty="0"/>
              <a:t>  are included during the period and </a:t>
            </a:r>
            <a:r>
              <a:rPr lang="en-US" altLang="zh-TW" sz="2400" b="1" dirty="0"/>
              <a:t>the total number of GPS records  </a:t>
            </a:r>
            <a:r>
              <a:rPr lang="en-US" altLang="zh-TW" sz="2400" dirty="0"/>
              <a:t>is nearly </a:t>
            </a:r>
            <a:r>
              <a:rPr lang="en-US" altLang="zh-TW" sz="2400" b="1" dirty="0"/>
              <a:t>22,000,000</a:t>
            </a:r>
            <a:r>
              <a:rPr lang="en-US" altLang="zh-TW" sz="2400" dirty="0"/>
              <a:t>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34616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B2EFEA02-E9FC-8FD9-2305-515724104D1C}"/>
              </a:ext>
            </a:extLst>
          </p:cNvPr>
          <p:cNvSpPr txBox="1"/>
          <p:nvPr/>
        </p:nvSpPr>
        <p:spPr>
          <a:xfrm>
            <a:off x="149537" y="159226"/>
            <a:ext cx="110287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chemeClr val="accent1">
                    <a:lumMod val="75000"/>
                  </a:schemeClr>
                </a:solidFill>
              </a:rPr>
              <a:t>Data Preprocessing: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3690CF-19AE-D02C-BC7C-F02A7736530C}"/>
              </a:ext>
            </a:extLst>
          </p:cNvPr>
          <p:cNvSpPr/>
          <p:nvPr/>
        </p:nvSpPr>
        <p:spPr>
          <a:xfrm>
            <a:off x="11178272" y="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TW" sz="5400" b="1" cap="none" spc="0" dirty="0">
                <a:ln/>
                <a:solidFill>
                  <a:schemeClr val="accent3"/>
                </a:solidFill>
                <a:effectLst/>
              </a:rPr>
              <a:t>13</a:t>
            </a:r>
            <a:endParaRPr lang="zh-TW" alt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63F564C-DA39-2B1C-25D8-0C334B5966B6}"/>
              </a:ext>
            </a:extLst>
          </p:cNvPr>
          <p:cNvSpPr txBox="1"/>
          <p:nvPr/>
        </p:nvSpPr>
        <p:spPr>
          <a:xfrm>
            <a:off x="334247" y="787025"/>
            <a:ext cx="11523506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For each truck, the </a:t>
            </a:r>
            <a:r>
              <a:rPr lang="en-US" altLang="zh-TW" sz="2400" b="1" dirty="0"/>
              <a:t>raw GPS dataset </a:t>
            </a:r>
            <a:r>
              <a:rPr lang="en-US" altLang="zh-TW" sz="2400" dirty="0"/>
              <a:t>includes </a:t>
            </a:r>
            <a:r>
              <a:rPr lang="en-US" altLang="zh-TW" sz="2400" b="1" dirty="0"/>
              <a:t>the truck ID</a:t>
            </a:r>
            <a:r>
              <a:rPr lang="en-US" altLang="zh-TW" sz="2400" dirty="0"/>
              <a:t>, </a:t>
            </a:r>
            <a:r>
              <a:rPr lang="en-US" altLang="zh-TW" sz="2400" b="1" dirty="0"/>
              <a:t>longitude</a:t>
            </a:r>
            <a:r>
              <a:rPr lang="en-US" altLang="zh-TW" sz="2400" dirty="0"/>
              <a:t>, </a:t>
            </a:r>
            <a:r>
              <a:rPr lang="en-US" altLang="zh-TW" sz="2400" b="1" dirty="0"/>
              <a:t>latitude</a:t>
            </a:r>
            <a:r>
              <a:rPr lang="en-US" altLang="zh-TW" sz="2400" dirty="0"/>
              <a:t>, </a:t>
            </a:r>
            <a:r>
              <a:rPr lang="en-US" altLang="zh-TW" sz="2400" b="1" dirty="0"/>
              <a:t>timestamp,</a:t>
            </a:r>
            <a:r>
              <a:rPr lang="en-US" altLang="zh-TW" sz="2400" dirty="0"/>
              <a:t> </a:t>
            </a:r>
            <a:r>
              <a:rPr lang="en-US" altLang="zh-TW" sz="2400" b="1" dirty="0"/>
              <a:t>current driving speed</a:t>
            </a:r>
            <a:r>
              <a:rPr lang="en-US" altLang="zh-TW" sz="2400" dirty="0"/>
              <a:t>, and </a:t>
            </a:r>
            <a:r>
              <a:rPr lang="en-US" altLang="zh-TW" sz="2400" b="1" dirty="0"/>
              <a:t>direction</a:t>
            </a:r>
            <a:r>
              <a:rPr lang="en-US" altLang="zh-TW" sz="24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To convert the </a:t>
            </a:r>
            <a:r>
              <a:rPr lang="en-US" altLang="zh-TW" sz="2400" b="1" dirty="0"/>
              <a:t>raw GPS signals </a:t>
            </a:r>
            <a:r>
              <a:rPr lang="en-US" altLang="zh-TW" sz="2400" dirty="0"/>
              <a:t>into the </a:t>
            </a:r>
            <a:r>
              <a:rPr lang="en-US" altLang="zh-TW" sz="2400" b="1" dirty="0"/>
              <a:t>truck traffic speed and flow </a:t>
            </a:r>
            <a:r>
              <a:rPr lang="en-US" altLang="zh-TW" sz="2400" dirty="0"/>
              <a:t>on the </a:t>
            </a:r>
            <a:r>
              <a:rPr lang="en-US" altLang="zh-TW" sz="2400" b="1" dirty="0"/>
              <a:t>road segments</a:t>
            </a:r>
            <a:r>
              <a:rPr lang="en-US" altLang="zh-TW" sz="2400" dirty="0"/>
              <a:t>, a </a:t>
            </a:r>
            <a:r>
              <a:rPr lang="en-US" altLang="zh-TW" sz="2400" b="1" dirty="0"/>
              <a:t>Hidden Markov Model (HMM) </a:t>
            </a:r>
            <a:r>
              <a:rPr lang="en-US" altLang="zh-TW" sz="2400" dirty="0"/>
              <a:t>based algorithm for map matching is first used to match the GPS points to corresponding road segments.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For the data preprocessing, the </a:t>
            </a:r>
            <a:r>
              <a:rPr lang="en-US" altLang="zh-TW" sz="2400" b="1" dirty="0"/>
              <a:t>Hidden Markov Model (HMM) </a:t>
            </a:r>
            <a:r>
              <a:rPr lang="en-US" altLang="zh-TW" sz="2400" dirty="0"/>
              <a:t>map matching method is </a:t>
            </a:r>
            <a:r>
              <a:rPr lang="zh-TW" altLang="en-US" sz="2400" dirty="0"/>
              <a:t>                    </a:t>
            </a:r>
            <a:r>
              <a:rPr lang="en-US" altLang="zh-TW" sz="2400" b="1" dirty="0"/>
              <a:t>first</a:t>
            </a:r>
            <a:r>
              <a:rPr lang="en-US" altLang="zh-TW" sz="2400" dirty="0"/>
              <a:t> applied on the </a:t>
            </a:r>
            <a:r>
              <a:rPr lang="en-US" altLang="zh-TW" sz="2400" b="1" dirty="0"/>
              <a:t>truck GPS datasets</a:t>
            </a:r>
            <a:r>
              <a:rPr lang="en-US" altLang="zh-TW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 After </a:t>
            </a:r>
            <a:r>
              <a:rPr lang="en-US" altLang="zh-TW" sz="2400" b="1" dirty="0"/>
              <a:t>map matching</a:t>
            </a:r>
            <a:r>
              <a:rPr lang="en-US" altLang="zh-TW" sz="2400" dirty="0"/>
              <a:t>, we are able to obtain </a:t>
            </a:r>
            <a:r>
              <a:rPr lang="en-US" altLang="zh-TW" sz="2400" b="1" dirty="0"/>
              <a:t>GPS points information </a:t>
            </a:r>
            <a:r>
              <a:rPr lang="en-US" altLang="zh-TW" sz="2400" dirty="0"/>
              <a:t>on each </a:t>
            </a:r>
            <a:r>
              <a:rPr lang="en-US" altLang="zh-TW" sz="2400" b="1" dirty="0"/>
              <a:t>road segment </a:t>
            </a:r>
            <a:r>
              <a:rPr lang="en-US" altLang="zh-TW" sz="2400" dirty="0"/>
              <a:t>for trucks over each time step for both datasets.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Then we </a:t>
            </a:r>
            <a:r>
              <a:rPr lang="en-US" altLang="zh-TW" sz="2400" b="1" dirty="0"/>
              <a:t>re-sample</a:t>
            </a:r>
            <a:r>
              <a:rPr lang="en-US" altLang="zh-TW" sz="2400" dirty="0"/>
              <a:t> and calculate the number of </a:t>
            </a:r>
            <a:r>
              <a:rPr lang="en-US" altLang="zh-TW" sz="2400" b="1" dirty="0"/>
              <a:t>passing trucks </a:t>
            </a:r>
            <a:r>
              <a:rPr lang="en-US" altLang="zh-TW" sz="2400" dirty="0"/>
              <a:t>on each </a:t>
            </a:r>
            <a:r>
              <a:rPr lang="en-US" altLang="zh-TW" sz="2400" b="1" dirty="0"/>
              <a:t>road segment</a:t>
            </a:r>
            <a:r>
              <a:rPr lang="en-US" altLang="zh-TW" sz="2400" dirty="0"/>
              <a:t>, as well as their </a:t>
            </a:r>
            <a:r>
              <a:rPr lang="en-US" altLang="zh-TW" sz="2400" b="1" dirty="0"/>
              <a:t>average speed</a:t>
            </a:r>
            <a:r>
              <a:rPr lang="en-US" altLang="zh-TW" sz="2400" dirty="0"/>
              <a:t>. The </a:t>
            </a:r>
            <a:r>
              <a:rPr lang="en-US" altLang="zh-TW" sz="2400" b="1" dirty="0"/>
              <a:t>road segments</a:t>
            </a:r>
            <a:r>
              <a:rPr lang="en-US" altLang="zh-TW" sz="2400" dirty="0"/>
              <a:t> without speed and flow data are removed.</a:t>
            </a:r>
            <a:endParaRPr lang="zh-TW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00BDF8-5877-A608-239E-F547A1DC0F21}"/>
              </a:ext>
            </a:extLst>
          </p:cNvPr>
          <p:cNvSpPr/>
          <p:nvPr/>
        </p:nvSpPr>
        <p:spPr>
          <a:xfrm>
            <a:off x="0" y="0"/>
            <a:ext cx="11178272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265558-BB4A-5F10-5EE7-0874B12B61B7}"/>
              </a:ext>
            </a:extLst>
          </p:cNvPr>
          <p:cNvSpPr/>
          <p:nvPr/>
        </p:nvSpPr>
        <p:spPr>
          <a:xfrm>
            <a:off x="0" y="159226"/>
            <a:ext cx="149537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D395FB-03DD-77C2-3F99-1BF4D161420E}"/>
              </a:ext>
            </a:extLst>
          </p:cNvPr>
          <p:cNvSpPr/>
          <p:nvPr/>
        </p:nvSpPr>
        <p:spPr>
          <a:xfrm>
            <a:off x="149537" y="6698774"/>
            <a:ext cx="12042463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524249-CBA4-7405-786D-97B71AD355F9}"/>
              </a:ext>
            </a:extLst>
          </p:cNvPr>
          <p:cNvSpPr/>
          <p:nvPr/>
        </p:nvSpPr>
        <p:spPr>
          <a:xfrm>
            <a:off x="12042463" y="1"/>
            <a:ext cx="146674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剪去單一角落 11">
            <a:extLst>
              <a:ext uri="{FF2B5EF4-FFF2-40B4-BE49-F238E27FC236}">
                <a16:creationId xmlns:a16="http://schemas.microsoft.com/office/drawing/2014/main" id="{07BE4AE9-B835-033E-C70E-28D13B92FD3B}"/>
              </a:ext>
            </a:extLst>
          </p:cNvPr>
          <p:cNvSpPr/>
          <p:nvPr/>
        </p:nvSpPr>
        <p:spPr>
          <a:xfrm rot="10800000">
            <a:off x="10993120" y="159225"/>
            <a:ext cx="179426" cy="80555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576B75-89E4-1F4F-8087-474F343F9774}"/>
              </a:ext>
            </a:extLst>
          </p:cNvPr>
          <p:cNvSpPr/>
          <p:nvPr/>
        </p:nvSpPr>
        <p:spPr>
          <a:xfrm>
            <a:off x="11175409" y="805557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1FE1EC9-779C-372D-63C6-F05ABDF4D43F}"/>
              </a:ext>
            </a:extLst>
          </p:cNvPr>
          <p:cNvSpPr/>
          <p:nvPr/>
        </p:nvSpPr>
        <p:spPr>
          <a:xfrm>
            <a:off x="11172546" y="-2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1603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B2EFEA02-E9FC-8FD9-2305-515724104D1C}"/>
              </a:ext>
            </a:extLst>
          </p:cNvPr>
          <p:cNvSpPr txBox="1"/>
          <p:nvPr/>
        </p:nvSpPr>
        <p:spPr>
          <a:xfrm>
            <a:off x="149537" y="159226"/>
            <a:ext cx="110287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chemeClr val="accent1">
                    <a:lumMod val="75000"/>
                  </a:schemeClr>
                </a:solidFill>
              </a:rPr>
              <a:t>Data Preprocessing: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3690CF-19AE-D02C-BC7C-F02A7736530C}"/>
              </a:ext>
            </a:extLst>
          </p:cNvPr>
          <p:cNvSpPr/>
          <p:nvPr/>
        </p:nvSpPr>
        <p:spPr>
          <a:xfrm>
            <a:off x="11178272" y="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TW" sz="5400" b="1" cap="none" spc="0" dirty="0">
                <a:ln/>
                <a:solidFill>
                  <a:schemeClr val="accent3"/>
                </a:solidFill>
                <a:effectLst/>
              </a:rPr>
              <a:t>14</a:t>
            </a:r>
            <a:endParaRPr lang="zh-TW" alt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63F564C-DA39-2B1C-25D8-0C334B5966B6}"/>
              </a:ext>
            </a:extLst>
          </p:cNvPr>
          <p:cNvSpPr txBox="1"/>
          <p:nvPr/>
        </p:nvSpPr>
        <p:spPr>
          <a:xfrm>
            <a:off x="334247" y="805557"/>
            <a:ext cx="11523506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2400" b="1" dirty="0"/>
              <a:t>The average speed of trucks</a:t>
            </a:r>
            <a:r>
              <a:rPr lang="en-US" altLang="zh-TW" sz="2400" dirty="0"/>
              <a:t> on the road segment </a:t>
            </a:r>
            <a:r>
              <a:rPr lang="zh-TW" altLang="en-US" sz="2800" b="1" dirty="0"/>
              <a:t>𝑣</a:t>
            </a:r>
            <a:r>
              <a:rPr lang="zh-TW" altLang="en-US" sz="3600" b="1" baseline="-25000" dirty="0"/>
              <a:t>𝑟</a:t>
            </a:r>
            <a:r>
              <a:rPr lang="en-US" altLang="zh-TW" sz="2800" dirty="0"/>
              <a:t>,</a:t>
            </a:r>
            <a:r>
              <a:rPr lang="zh-TW" altLang="en-US" sz="2800" dirty="0"/>
              <a:t>  </a:t>
            </a:r>
            <a:r>
              <a:rPr lang="zh-TW" altLang="en-US" sz="2800" b="1" dirty="0"/>
              <a:t>𝑆</a:t>
            </a:r>
            <a:r>
              <a:rPr lang="zh-TW" altLang="en-US" sz="3600" b="1" baseline="-25000" dirty="0"/>
              <a:t>𝑣𝑟</a:t>
            </a:r>
            <a:r>
              <a:rPr lang="en-US" altLang="zh-TW" sz="2800" baseline="-25000" dirty="0"/>
              <a:t>,</a:t>
            </a:r>
            <a:r>
              <a:rPr lang="zh-TW" altLang="en-US" sz="4000" b="1" baseline="-25000" dirty="0"/>
              <a:t>𝑡</a:t>
            </a:r>
            <a:r>
              <a:rPr lang="zh-TW" altLang="en-US" sz="3600" b="1" baseline="-25000" dirty="0"/>
              <a:t>𝑠 </a:t>
            </a:r>
            <a:r>
              <a:rPr lang="en-US" altLang="zh-TW" sz="2400" dirty="0"/>
              <a:t>, is calculated as follows: </a:t>
            </a:r>
          </a:p>
          <a:p>
            <a:endParaRPr lang="en-US" altLang="zh-TW" sz="2400" dirty="0"/>
          </a:p>
          <a:p>
            <a:r>
              <a:rPr lang="en-US" altLang="zh-TW" sz="2400" dirty="0"/>
              <a:t>									(4) </a:t>
            </a:r>
          </a:p>
          <a:p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where </a:t>
            </a:r>
            <a:r>
              <a:rPr lang="zh-TW" altLang="en-US" sz="2400" b="1" dirty="0"/>
              <a:t>𝑀</a:t>
            </a:r>
            <a:r>
              <a:rPr lang="zh-TW" altLang="en-US" sz="3200" b="1" baseline="-25000" dirty="0"/>
              <a:t>𝑘 </a:t>
            </a:r>
            <a:r>
              <a:rPr lang="en-US" altLang="zh-TW" sz="2400" dirty="0"/>
              <a:t>denotes the number of trajectories passing road </a:t>
            </a:r>
            <a:r>
              <a:rPr lang="en-US" altLang="zh-TW" sz="2400" b="1" dirty="0"/>
              <a:t>segment</a:t>
            </a:r>
            <a:r>
              <a:rPr lang="en-US" altLang="zh-TW" sz="2400" dirty="0"/>
              <a:t> </a:t>
            </a:r>
            <a:r>
              <a:rPr lang="zh-TW" altLang="en-US" sz="2800" b="1" dirty="0"/>
              <a:t>𝑣</a:t>
            </a:r>
            <a:r>
              <a:rPr lang="zh-TW" altLang="en-US" sz="3600" b="1" baseline="-25000" dirty="0"/>
              <a:t>𝑟</a:t>
            </a:r>
            <a:r>
              <a:rPr lang="en-US" altLang="zh-TW" sz="2800" dirty="0"/>
              <a:t>, </a:t>
            </a:r>
            <a:r>
              <a:rPr lang="zh-TW" altLang="en-US" sz="2800" b="1" dirty="0"/>
              <a:t>𝑇𝑟𝑎𝑗</a:t>
            </a:r>
            <a:r>
              <a:rPr lang="zh-TW" altLang="en-US" sz="4000" b="1" baseline="-25000" dirty="0"/>
              <a:t>𝑖 </a:t>
            </a:r>
            <a:r>
              <a:rPr lang="en-US" altLang="zh-TW" sz="2400" dirty="0"/>
              <a:t>denotes the number of </a:t>
            </a:r>
            <a:r>
              <a:rPr lang="en-US" altLang="zh-TW" sz="2400" b="1" dirty="0"/>
              <a:t>GPS points </a:t>
            </a:r>
            <a:r>
              <a:rPr lang="en-US" altLang="zh-TW" sz="2400" dirty="0"/>
              <a:t>in the part of the </a:t>
            </a:r>
            <a:r>
              <a:rPr lang="en-US" altLang="zh-TW" sz="2400" b="1" dirty="0"/>
              <a:t>trajectory </a:t>
            </a:r>
            <a:r>
              <a:rPr lang="zh-TW" altLang="en-US" sz="2800" b="1" dirty="0"/>
              <a:t>𝑖 </a:t>
            </a:r>
            <a:r>
              <a:rPr lang="en-US" altLang="zh-TW" sz="2400" dirty="0"/>
              <a:t>passing through the </a:t>
            </a:r>
            <a:r>
              <a:rPr lang="en-US" altLang="zh-TW" sz="2400" b="1" dirty="0"/>
              <a:t>road segment </a:t>
            </a:r>
            <a:r>
              <a:rPr lang="zh-TW" altLang="en-US" sz="2800" b="1" dirty="0"/>
              <a:t>𝑣</a:t>
            </a:r>
            <a:r>
              <a:rPr lang="zh-TW" altLang="en-US" sz="3600" b="1" baseline="-25000" dirty="0"/>
              <a:t>𝑟</a:t>
            </a:r>
            <a:r>
              <a:rPr lang="en-US" altLang="zh-TW" sz="24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800" b="1" dirty="0"/>
              <a:t>𝑜</a:t>
            </a:r>
            <a:r>
              <a:rPr lang="zh-TW" altLang="en-US" sz="3600" b="1" baseline="-25000" dirty="0"/>
              <a:t>𝑖</a:t>
            </a:r>
            <a:r>
              <a:rPr lang="en-US" altLang="zh-TW" sz="3600" b="1" baseline="-25000" dirty="0"/>
              <a:t>,</a:t>
            </a:r>
            <a:r>
              <a:rPr lang="zh-TW" altLang="en-US" sz="3600" b="1" baseline="-25000" dirty="0"/>
              <a:t>𝑗 </a:t>
            </a:r>
            <a:r>
              <a:rPr lang="en-US" altLang="zh-TW" sz="2400" dirty="0"/>
              <a:t>denotes the </a:t>
            </a:r>
            <a:r>
              <a:rPr lang="zh-TW" altLang="en-US" sz="2400" b="1" dirty="0"/>
              <a:t>𝑗</a:t>
            </a:r>
            <a:r>
              <a:rPr lang="en-US" altLang="zh-TW" sz="2400" b="1" dirty="0"/>
              <a:t>-</a:t>
            </a:r>
            <a:r>
              <a:rPr lang="en-US" altLang="zh-TW" sz="2400" b="1" dirty="0" err="1"/>
              <a:t>th</a:t>
            </a:r>
            <a:r>
              <a:rPr lang="en-US" altLang="zh-TW" sz="2400" b="1" dirty="0"/>
              <a:t> </a:t>
            </a:r>
            <a:r>
              <a:rPr lang="en-US" altLang="zh-TW" sz="2400" dirty="0"/>
              <a:t>original </a:t>
            </a:r>
            <a:r>
              <a:rPr lang="en-US" altLang="zh-TW" sz="2400" b="1" dirty="0"/>
              <a:t>GPS point </a:t>
            </a:r>
            <a:r>
              <a:rPr lang="en-US" altLang="zh-TW" sz="2400" dirty="0"/>
              <a:t>of the </a:t>
            </a:r>
            <a:r>
              <a:rPr lang="en-US" altLang="zh-TW" sz="2400" b="1" dirty="0"/>
              <a:t>trajectory</a:t>
            </a:r>
            <a:r>
              <a:rPr lang="en-US" altLang="zh-TW" sz="2400" dirty="0"/>
              <a:t> </a:t>
            </a:r>
            <a:r>
              <a:rPr lang="zh-TW" altLang="en-US" sz="2800" b="1" dirty="0"/>
              <a:t>𝑖</a:t>
            </a:r>
            <a:r>
              <a:rPr lang="en-US" altLang="zh-TW" sz="2400" dirty="0"/>
              <a:t>, passing through the </a:t>
            </a:r>
            <a:r>
              <a:rPr lang="en-US" altLang="zh-TW" sz="2400" b="1" dirty="0"/>
              <a:t>road segment</a:t>
            </a:r>
            <a:r>
              <a:rPr lang="en-US" altLang="zh-TW" sz="2400" dirty="0"/>
              <a:t> </a:t>
            </a:r>
            <a:r>
              <a:rPr lang="zh-TW" altLang="en-US" sz="2800" b="1" dirty="0"/>
              <a:t>𝑣</a:t>
            </a:r>
            <a:r>
              <a:rPr lang="zh-TW" altLang="en-US" sz="3600" b="1" baseline="-25000" dirty="0"/>
              <a:t>𝑟</a:t>
            </a:r>
            <a:r>
              <a:rPr lang="en-US" altLang="zh-TW" sz="24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800" b="1" dirty="0"/>
              <a:t>𝑠𝑝𝑒𝑒𝑑 </a:t>
            </a:r>
            <a:r>
              <a:rPr lang="en-US" altLang="zh-TW" sz="2800" b="1" dirty="0"/>
              <a:t>(</a:t>
            </a:r>
            <a:r>
              <a:rPr lang="zh-TW" altLang="en-US" sz="2800" b="1" dirty="0"/>
              <a:t>𝑜</a:t>
            </a:r>
            <a:r>
              <a:rPr lang="zh-TW" altLang="en-US" sz="3600" b="1" baseline="-25000" dirty="0"/>
              <a:t>𝑖</a:t>
            </a:r>
            <a:r>
              <a:rPr lang="en-US" altLang="zh-TW" sz="3600" b="1" baseline="-25000" dirty="0"/>
              <a:t>,</a:t>
            </a:r>
            <a:r>
              <a:rPr lang="zh-TW" altLang="en-US" sz="3600" b="1" baseline="-25000" dirty="0"/>
              <a:t>𝑗</a:t>
            </a:r>
            <a:r>
              <a:rPr lang="en-US" altLang="zh-TW" sz="2800" b="1" dirty="0"/>
              <a:t>) </a:t>
            </a:r>
            <a:r>
              <a:rPr lang="en-US" altLang="zh-TW" sz="2400" dirty="0"/>
              <a:t>represents the speed information of the matching point </a:t>
            </a:r>
            <a:r>
              <a:rPr lang="zh-TW" altLang="en-US" sz="2800" b="1" dirty="0"/>
              <a:t>𝑜</a:t>
            </a:r>
            <a:r>
              <a:rPr lang="zh-TW" altLang="en-US" sz="3600" b="1" baseline="-25000" dirty="0"/>
              <a:t>𝑖</a:t>
            </a:r>
            <a:r>
              <a:rPr lang="en-US" altLang="zh-TW" sz="3600" b="1" baseline="-25000" dirty="0"/>
              <a:t>,</a:t>
            </a:r>
            <a:r>
              <a:rPr lang="zh-TW" altLang="en-US" sz="3600" b="1" baseline="-25000" dirty="0"/>
              <a:t>𝑗 </a:t>
            </a:r>
            <a:r>
              <a:rPr lang="en-US" altLang="zh-TW" sz="2400" b="1" baseline="-25000" dirty="0"/>
              <a:t>.</a:t>
            </a:r>
            <a:r>
              <a:rPr lang="en-US" altLang="zh-TW" sz="2400" dirty="0"/>
              <a:t>The calculation results are then used to generate the truck traffic tensor.</a:t>
            </a:r>
            <a:endParaRPr lang="zh-TW" altLang="en-US" sz="24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B6BADB3-4258-1C20-8596-3CCF43F470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325" b="12242"/>
          <a:stretch/>
        </p:blipFill>
        <p:spPr>
          <a:xfrm>
            <a:off x="1013728" y="1352253"/>
            <a:ext cx="5532161" cy="102616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D00BDF8-5877-A608-239E-F547A1DC0F21}"/>
              </a:ext>
            </a:extLst>
          </p:cNvPr>
          <p:cNvSpPr/>
          <p:nvPr/>
        </p:nvSpPr>
        <p:spPr>
          <a:xfrm>
            <a:off x="0" y="0"/>
            <a:ext cx="11178272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265558-BB4A-5F10-5EE7-0874B12B61B7}"/>
              </a:ext>
            </a:extLst>
          </p:cNvPr>
          <p:cNvSpPr/>
          <p:nvPr/>
        </p:nvSpPr>
        <p:spPr>
          <a:xfrm>
            <a:off x="0" y="159226"/>
            <a:ext cx="149537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D395FB-03DD-77C2-3F99-1BF4D161420E}"/>
              </a:ext>
            </a:extLst>
          </p:cNvPr>
          <p:cNvSpPr/>
          <p:nvPr/>
        </p:nvSpPr>
        <p:spPr>
          <a:xfrm>
            <a:off x="149537" y="6698774"/>
            <a:ext cx="12042463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524249-CBA4-7405-786D-97B71AD355F9}"/>
              </a:ext>
            </a:extLst>
          </p:cNvPr>
          <p:cNvSpPr/>
          <p:nvPr/>
        </p:nvSpPr>
        <p:spPr>
          <a:xfrm>
            <a:off x="12042463" y="1"/>
            <a:ext cx="146674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剪去單一角落 11">
            <a:extLst>
              <a:ext uri="{FF2B5EF4-FFF2-40B4-BE49-F238E27FC236}">
                <a16:creationId xmlns:a16="http://schemas.microsoft.com/office/drawing/2014/main" id="{07BE4AE9-B835-033E-C70E-28D13B92FD3B}"/>
              </a:ext>
            </a:extLst>
          </p:cNvPr>
          <p:cNvSpPr/>
          <p:nvPr/>
        </p:nvSpPr>
        <p:spPr>
          <a:xfrm rot="10800000">
            <a:off x="10993120" y="159225"/>
            <a:ext cx="179426" cy="80555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576B75-89E4-1F4F-8087-474F343F9774}"/>
              </a:ext>
            </a:extLst>
          </p:cNvPr>
          <p:cNvSpPr/>
          <p:nvPr/>
        </p:nvSpPr>
        <p:spPr>
          <a:xfrm>
            <a:off x="11175409" y="805557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1FE1EC9-779C-372D-63C6-F05ABDF4D43F}"/>
              </a:ext>
            </a:extLst>
          </p:cNvPr>
          <p:cNvSpPr/>
          <p:nvPr/>
        </p:nvSpPr>
        <p:spPr>
          <a:xfrm>
            <a:off x="11172546" y="-2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7091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B2EFEA02-E9FC-8FD9-2305-515724104D1C}"/>
              </a:ext>
            </a:extLst>
          </p:cNvPr>
          <p:cNvSpPr txBox="1"/>
          <p:nvPr/>
        </p:nvSpPr>
        <p:spPr>
          <a:xfrm>
            <a:off x="149537" y="159226"/>
            <a:ext cx="110287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chemeClr val="accent1">
                    <a:lumMod val="75000"/>
                  </a:schemeClr>
                </a:solidFill>
              </a:rPr>
              <a:t>Spatial Dependence Model: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3690CF-19AE-D02C-BC7C-F02A7736530C}"/>
              </a:ext>
            </a:extLst>
          </p:cNvPr>
          <p:cNvSpPr/>
          <p:nvPr/>
        </p:nvSpPr>
        <p:spPr>
          <a:xfrm>
            <a:off x="11178272" y="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TW" sz="5400" b="1" cap="none" spc="0" dirty="0">
                <a:ln/>
                <a:solidFill>
                  <a:schemeClr val="accent3"/>
                </a:solidFill>
                <a:effectLst/>
              </a:rPr>
              <a:t>15</a:t>
            </a:r>
            <a:endParaRPr lang="zh-TW" alt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EA5CBAF-0018-EC31-4385-0CDB667C3D2E}"/>
                  </a:ext>
                </a:extLst>
              </p:cNvPr>
              <p:cNvSpPr txBox="1"/>
              <p:nvPr/>
            </p:nvSpPr>
            <p:spPr>
              <a:xfrm>
                <a:off x="612464" y="805557"/>
                <a:ext cx="11429999" cy="58267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altLang="zh-TW" sz="2400" dirty="0"/>
                  <a:t>In </a:t>
                </a:r>
                <a:r>
                  <a:rPr lang="en-US" altLang="zh-TW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MT-C2G</a:t>
                </a:r>
                <a:r>
                  <a:rPr lang="en-US" altLang="zh-TW" sz="2400" dirty="0"/>
                  <a:t>, two layers of the first-order approximation of </a:t>
                </a:r>
                <a:r>
                  <a:rPr lang="en-US" altLang="zh-TW" sz="2400" b="1" dirty="0"/>
                  <a:t>GCN</a:t>
                </a:r>
                <a:r>
                  <a:rPr lang="en-US" altLang="zh-TW" sz="2400" dirty="0"/>
                  <a:t> are used to </a:t>
                </a:r>
                <a:r>
                  <a:rPr lang="en-US" altLang="zh-TW" sz="2400" b="1" dirty="0"/>
                  <a:t>capture spatial dependencies</a:t>
                </a:r>
                <a:r>
                  <a:rPr lang="en-US" altLang="zh-TW" sz="2400" dirty="0"/>
                  <a:t>. The modeling process can be expressed through the following rule for each layer </a:t>
                </a:r>
                <a:r>
                  <a:rPr lang="zh-TW" altLang="en-US" sz="2800" b="1" dirty="0"/>
                  <a:t>𝑙</a:t>
                </a:r>
                <a:r>
                  <a:rPr lang="en-US" altLang="zh-TW" sz="2400" dirty="0"/>
                  <a:t>: </a:t>
                </a:r>
              </a:p>
              <a:p>
                <a:r>
                  <a:rPr lang="en-US" altLang="zh-TW" sz="2400" dirty="0"/>
                  <a:t>		 							(5) </a:t>
                </a:r>
              </a:p>
              <a:p>
                <a:endParaRPr lang="en-US" altLang="zh-TW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/>
                  <a:t>Here, </a:t>
                </a:r>
                <a:r>
                  <a:rPr lang="en-US" altLang="zh-TW" sz="2400" b="1" dirty="0" err="1"/>
                  <a:t>ReLU</a:t>
                </a:r>
                <a:r>
                  <a:rPr lang="en-US" altLang="zh-TW" sz="2400" dirty="0"/>
                  <a:t> represents the </a:t>
                </a:r>
                <a:r>
                  <a:rPr lang="en-US" altLang="zh-TW" sz="2400" b="1" dirty="0" err="1"/>
                  <a:t>ReLU</a:t>
                </a:r>
                <a:r>
                  <a:rPr lang="en-US" altLang="zh-TW" sz="2400" b="1" dirty="0"/>
                  <a:t> activation function</a:t>
                </a:r>
                <a:r>
                  <a:rPr lang="en-US" altLang="zh-TW" sz="2400" dirty="0"/>
                  <a:t>.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8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TW" altLang="en-US" sz="2800" b="1" dirty="0"/>
                          <m:t>𝐴</m:t>
                        </m:r>
                      </m:e>
                    </m:acc>
                  </m:oMath>
                </a14:m>
                <a:r>
                  <a:rPr lang="zh-TW" altLang="en-US" sz="3200" b="1" baseline="-25000" dirty="0"/>
                  <a:t>𝐺 </a:t>
                </a:r>
                <a:r>
                  <a:rPr lang="en-US" altLang="zh-TW" sz="2400" dirty="0"/>
                  <a:t>corresponds to the </a:t>
                </a:r>
                <a:r>
                  <a:rPr lang="en-US" altLang="zh-TW" sz="2400" b="1" dirty="0"/>
                  <a:t>adjacency matrix of graph </a:t>
                </a:r>
                <a:r>
                  <a:rPr lang="zh-TW" altLang="en-US" sz="2400" b="1" dirty="0"/>
                  <a:t>𝐺 </a:t>
                </a:r>
                <a:r>
                  <a:rPr lang="en-US" altLang="zh-TW" sz="2400" dirty="0"/>
                  <a:t>plus the </a:t>
                </a:r>
                <a:r>
                  <a:rPr lang="en-US" altLang="zh-TW" sz="2400" b="1" dirty="0"/>
                  <a:t>self-connections</a:t>
                </a:r>
                <a:r>
                  <a:rPr lang="en-US" altLang="zh-TW" sz="2400" dirty="0"/>
                  <a:t>. Hence</a:t>
                </a:r>
                <a:r>
                  <a:rPr lang="en-US" altLang="zh-TW" sz="2800" b="1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TW" altLang="en-US" sz="2800" b="1" dirty="0"/>
                          <m:t>𝐴</m:t>
                        </m:r>
                      </m:e>
                    </m:acc>
                  </m:oMath>
                </a14:m>
                <a:r>
                  <a:rPr lang="zh-TW" altLang="en-US" sz="3200" b="1" baseline="-25000" dirty="0"/>
                  <a:t>𝐺</a:t>
                </a:r>
                <a:r>
                  <a:rPr lang="zh-TW" altLang="en-US" sz="2800" b="1" dirty="0"/>
                  <a:t> </a:t>
                </a:r>
                <a:r>
                  <a:rPr lang="en-US" altLang="zh-TW" sz="2400" dirty="0"/>
                  <a:t>= </a:t>
                </a:r>
                <a:r>
                  <a:rPr lang="zh-TW" altLang="en-US" sz="2800" b="1" dirty="0"/>
                  <a:t>𝐴</a:t>
                </a:r>
                <a:r>
                  <a:rPr lang="zh-TW" altLang="en-US" sz="3200" b="1" baseline="-25000" dirty="0"/>
                  <a:t>𝐺 </a:t>
                </a:r>
                <a:r>
                  <a:rPr lang="en-US" altLang="zh-TW" sz="2400" dirty="0"/>
                  <a:t>+</a:t>
                </a:r>
                <a:r>
                  <a:rPr lang="en-US" altLang="zh-TW" sz="2800" b="1" dirty="0"/>
                  <a:t> </a:t>
                </a:r>
                <a:r>
                  <a:rPr lang="zh-TW" altLang="en-US" sz="2800" b="1" dirty="0"/>
                  <a:t>𝐼</a:t>
                </a:r>
                <a:r>
                  <a:rPr lang="en-US" altLang="zh-TW" sz="2400" dirty="0"/>
                  <a:t>, where </a:t>
                </a:r>
                <a:r>
                  <a:rPr lang="zh-TW" altLang="en-US" sz="2800" b="1" dirty="0"/>
                  <a:t>𝐼 </a:t>
                </a:r>
                <a:r>
                  <a:rPr lang="en-US" altLang="zh-TW" sz="2400" dirty="0"/>
                  <a:t>is the identity matrix.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TW" altLang="en-US" sz="2800" b="1" dirty="0"/>
                          <m:t>𝐷</m:t>
                        </m:r>
                      </m:e>
                    </m:acc>
                  </m:oMath>
                </a14:m>
                <a:r>
                  <a:rPr lang="zh-TW" altLang="en-US" sz="2800" b="1" baseline="-25000" dirty="0"/>
                  <a:t>𝐺 </a:t>
                </a:r>
                <a:r>
                  <a:rPr lang="en-US" altLang="zh-TW" sz="2400" dirty="0"/>
                  <a:t>denotes the </a:t>
                </a:r>
                <a:r>
                  <a:rPr lang="en-US" altLang="zh-TW" sz="2400" b="1" dirty="0"/>
                  <a:t>diagonal degree matrix</a:t>
                </a:r>
                <a:r>
                  <a:rPr lang="en-US" altLang="zh-TW" sz="2400" dirty="0"/>
                  <a:t>, calculated using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TW" altLang="en-US" sz="2800" b="1" dirty="0"/>
                          <m:t>𝐷</m:t>
                        </m:r>
                      </m:e>
                    </m:acc>
                  </m:oMath>
                </a14:m>
                <a:r>
                  <a:rPr lang="zh-TW" altLang="en-US" sz="3200" b="1" baseline="-25000" dirty="0"/>
                  <a:t>𝑖</a:t>
                </a:r>
                <a:r>
                  <a:rPr lang="en-US" altLang="zh-TW" sz="3200" b="1" baseline="-25000" dirty="0"/>
                  <a:t>,</a:t>
                </a:r>
                <a:r>
                  <a:rPr lang="zh-TW" altLang="en-US" sz="3200" b="1" baseline="-25000" dirty="0"/>
                  <a:t>𝑖</a:t>
                </a:r>
                <a:r>
                  <a:rPr lang="zh-TW" altLang="en-US" sz="2800" b="1" baseline="-25000" dirty="0"/>
                  <a:t> </a:t>
                </a:r>
                <a:r>
                  <a:rPr lang="en-US" altLang="zh-TW" sz="24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zh-TW" altLang="en-US" sz="2400" dirty="0"/>
                          <m:t>𝑗</m:t>
                        </m:r>
                      </m:sub>
                      <m:sup/>
                      <m:e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lang="zh-TW" altLang="en-US" sz="2400" b="1" dirty="0"/>
                              <m:t>𝐴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zh-TW" altLang="en-US" sz="2400" b="1" baseline="-25000" dirty="0"/>
                          <m:t>𝑖</m:t>
                        </m:r>
                        <m:r>
                          <m:rPr>
                            <m:nor/>
                          </m:rPr>
                          <a:rPr lang="en-US" altLang="zh-TW" sz="2400" b="1" baseline="-25000" dirty="0"/>
                          <m:t>,</m:t>
                        </m:r>
                        <m:r>
                          <m:rPr>
                            <m:nor/>
                          </m:rPr>
                          <a:rPr lang="zh-TW" altLang="en-US" sz="2400" b="1" baseline="-25000" dirty="0"/>
                          <m:t>𝑗</m:t>
                        </m:r>
                      </m:e>
                    </m:nary>
                  </m:oMath>
                </a14:m>
                <a:r>
                  <a:rPr lang="en-US" altLang="zh-TW" sz="2400" dirty="0"/>
                  <a:t>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zh-TW" altLang="en-US" sz="2400" b="1" dirty="0"/>
                          <m:t>𝑊</m:t>
                        </m:r>
                      </m:e>
                      <m:sub>
                        <m:r>
                          <m:rPr>
                            <m:nor/>
                          </m:rPr>
                          <a:rPr lang="zh-TW" altLang="en-US" sz="2400" b="1" dirty="0"/>
                          <m:t>𝑙</m:t>
                        </m:r>
                      </m:sub>
                      <m:sup>
                        <m:r>
                          <a:rPr lang="el-GR" altLang="zh-TW" sz="2400" b="1" dirty="0">
                            <a:latin typeface="Cambria Math" panose="02040503050406030204" pitchFamily="18" charset="0"/>
                          </a:rPr>
                          <m:t>𝚪</m:t>
                        </m:r>
                      </m:sup>
                    </m:sSubSup>
                  </m:oMath>
                </a14:m>
                <a:r>
                  <a:rPr lang="zh-TW" altLang="en-US" sz="2400" b="1" dirty="0"/>
                  <a:t> </a:t>
                </a:r>
                <a:r>
                  <a:rPr lang="en-US" altLang="zh-TW" sz="2400" dirty="0"/>
                  <a:t>is the</a:t>
                </a:r>
                <a:r>
                  <a:rPr lang="en-US" altLang="zh-TW" sz="2400" b="1" dirty="0"/>
                  <a:t> learnable weight matrix </a:t>
                </a:r>
                <a:r>
                  <a:rPr lang="en-US" altLang="zh-TW" sz="2400" dirty="0"/>
                  <a:t>for the prediction task </a:t>
                </a:r>
                <a14:m>
                  <m:oMath xmlns:m="http://schemas.openxmlformats.org/officeDocument/2006/math">
                    <m:r>
                      <a:rPr lang="el-GR" altLang="zh-TW" sz="2400" b="1" i="0" dirty="0" smtClean="0">
                        <a:latin typeface="Cambria Math" panose="02040503050406030204" pitchFamily="18" charset="0"/>
                      </a:rPr>
                      <m:t>𝚪</m:t>
                    </m:r>
                  </m:oMath>
                </a14:m>
                <a:r>
                  <a:rPr lang="en-US" altLang="zh-TW" sz="2400" dirty="0"/>
                  <a:t>. we construct the </a:t>
                </a:r>
                <a:r>
                  <a:rPr lang="en-US" altLang="zh-TW" sz="2400" b="1" dirty="0"/>
                  <a:t>spatial dependence</a:t>
                </a:r>
                <a:r>
                  <a:rPr lang="en-US" altLang="zh-TW" sz="2400" dirty="0"/>
                  <a:t> learning model’s </a:t>
                </a:r>
                <a:r>
                  <a:rPr lang="en-US" altLang="zh-TW" sz="2400" b="1" dirty="0"/>
                  <a:t>initial input feature </a:t>
                </a:r>
                <a:r>
                  <a:rPr lang="en-US" altLang="zh-TW" sz="2400" dirty="0"/>
                  <a:t>matrix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8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zh-TW" altLang="en-US" sz="2800" b="1" dirty="0"/>
                          <m:t>𝑍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800" b="1" dirty="0"/>
                          <m:t>0</m:t>
                        </m:r>
                      </m:sub>
                      <m:sup>
                        <m:r>
                          <a:rPr lang="el-GR" altLang="zh-TW" sz="2800" b="1" dirty="0">
                            <a:latin typeface="Cambria Math" panose="02040503050406030204" pitchFamily="18" charset="0"/>
                          </a:rPr>
                          <m:t>𝚪</m:t>
                        </m:r>
                      </m:sup>
                    </m:sSubSup>
                  </m:oMath>
                </a14:m>
                <a:r>
                  <a:rPr lang="en-US" altLang="zh-TW" sz="2400" dirty="0"/>
                  <a:t> </a:t>
                </a:r>
                <a:r>
                  <a:rPr lang="en-US" altLang="zh-TW" sz="2800" dirty="0"/>
                  <a:t>∈ </a:t>
                </a:r>
                <a:r>
                  <a:rPr lang="en-US" altLang="zh-TW" sz="2800" dirty="0">
                    <a:solidFill>
                      <a:srgbClr val="333333"/>
                    </a:solidFill>
                    <a:latin typeface="PingFang SC"/>
                  </a:rPr>
                  <a:t>ℝ</a:t>
                </a:r>
                <a:r>
                  <a:rPr lang="en-US" altLang="zh-TW" sz="2800" b="1" baseline="30000" dirty="0"/>
                  <a:t>|</a:t>
                </a:r>
                <a:r>
                  <a:rPr lang="zh-TW" altLang="en-US" sz="2800" b="1" baseline="30000" dirty="0"/>
                  <a:t>𝑉</a:t>
                </a:r>
                <a:r>
                  <a:rPr lang="en-US" altLang="zh-TW" sz="2800" b="1" baseline="30000" dirty="0"/>
                  <a:t>|×|</a:t>
                </a:r>
                <a:r>
                  <a:rPr lang="zh-TW" altLang="en-US" sz="2800" b="1" baseline="30000" dirty="0"/>
                  <a:t>𝑇</a:t>
                </a:r>
                <a:r>
                  <a:rPr lang="en-US" altLang="zh-TW" sz="2800" b="1" baseline="30000" dirty="0"/>
                  <a:t>|</a:t>
                </a:r>
                <a:r>
                  <a:rPr lang="en-US" altLang="zh-TW" sz="2800" b="1" dirty="0"/>
                  <a:t>  .</a:t>
                </a:r>
                <a:endParaRPr lang="en-US" altLang="zh-TW" sz="28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/>
                  <a:t>While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zh-TW" altLang="en-US" sz="2400" b="1" dirty="0"/>
                          <m:t>𝑍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400" b="1" dirty="0"/>
                          <m:t>0</m:t>
                        </m:r>
                      </m:sub>
                      <m:sup>
                        <m:r>
                          <m:rPr>
                            <m:nor/>
                          </m:rPr>
                          <a:rPr lang="zh-TW" altLang="en-US" sz="2400" b="1" dirty="0"/>
                          <m:t>𝑆𝑝𝑒𝑒𝑑</m:t>
                        </m:r>
                      </m:sup>
                    </m:sSubSup>
                  </m:oMath>
                </a14:m>
                <a:r>
                  <a:rPr lang="en-US" altLang="zh-TW" sz="2400" dirty="0"/>
                  <a:t> is the frontal slice of truck traffic feature tensor </a:t>
                </a:r>
                <a:r>
                  <a:rPr lang="zh-TW" altLang="en-US" sz="2800" b="1" dirty="0"/>
                  <a:t>𝑋 </a:t>
                </a:r>
                <a:r>
                  <a:rPr lang="en-US" altLang="zh-TW" sz="2400" dirty="0"/>
                  <a:t>corresponding to trucks’ speed,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zh-TW" altLang="en-US" sz="2400" b="1" dirty="0"/>
                          <m:t>𝑍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400" b="1" dirty="0"/>
                          <m:t>0</m:t>
                        </m:r>
                      </m:sub>
                      <m:sup>
                        <m:r>
                          <m:rPr>
                            <m:nor/>
                          </m:rPr>
                          <a:rPr lang="zh-TW" altLang="en-US" sz="2400" b="1" dirty="0"/>
                          <m:t>𝐹𝑙𝑜𝑤</m:t>
                        </m:r>
                      </m:sup>
                    </m:sSubSup>
                  </m:oMath>
                </a14:m>
                <a:r>
                  <a:rPr lang="en-US" altLang="zh-TW" sz="2400" dirty="0"/>
                  <a:t>is that of truck traffic feature tensor, belonging to trucks’ traffic flow features.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EA5CBAF-0018-EC31-4385-0CDB667C3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64" y="805557"/>
                <a:ext cx="11429999" cy="5826723"/>
              </a:xfrm>
              <a:prstGeom prst="rect">
                <a:avLst/>
              </a:prstGeom>
              <a:blipFill>
                <a:blip r:embed="rId3"/>
                <a:stretch>
                  <a:fillRect l="-693" t="-837" b="-13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圖片 8">
            <a:extLst>
              <a:ext uri="{FF2B5EF4-FFF2-40B4-BE49-F238E27FC236}">
                <a16:creationId xmlns:a16="http://schemas.microsoft.com/office/drawing/2014/main" id="{BD033A79-2550-3C1F-0DAB-854B4C6D6F9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8140"/>
          <a:stretch/>
        </p:blipFill>
        <p:spPr>
          <a:xfrm>
            <a:off x="3669982" y="1611114"/>
            <a:ext cx="4852035" cy="116117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01D3B1B-6CE8-B0D1-B2C3-40F33191E959}"/>
              </a:ext>
            </a:extLst>
          </p:cNvPr>
          <p:cNvSpPr/>
          <p:nvPr/>
        </p:nvSpPr>
        <p:spPr>
          <a:xfrm>
            <a:off x="0" y="0"/>
            <a:ext cx="11178272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7A44872-E048-C863-E7CC-339E8D7A1A62}"/>
              </a:ext>
            </a:extLst>
          </p:cNvPr>
          <p:cNvSpPr/>
          <p:nvPr/>
        </p:nvSpPr>
        <p:spPr>
          <a:xfrm>
            <a:off x="0" y="159226"/>
            <a:ext cx="149537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C744B13-5118-1384-B6C9-8EDD4A8C551B}"/>
              </a:ext>
            </a:extLst>
          </p:cNvPr>
          <p:cNvSpPr/>
          <p:nvPr/>
        </p:nvSpPr>
        <p:spPr>
          <a:xfrm>
            <a:off x="149537" y="6698774"/>
            <a:ext cx="12042463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968A22B-5336-ADC6-5B33-811C21E45CE3}"/>
              </a:ext>
            </a:extLst>
          </p:cNvPr>
          <p:cNvSpPr/>
          <p:nvPr/>
        </p:nvSpPr>
        <p:spPr>
          <a:xfrm>
            <a:off x="12042463" y="-10159"/>
            <a:ext cx="146674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剪去單一角落 13">
            <a:extLst>
              <a:ext uri="{FF2B5EF4-FFF2-40B4-BE49-F238E27FC236}">
                <a16:creationId xmlns:a16="http://schemas.microsoft.com/office/drawing/2014/main" id="{3107AEE3-E0BC-9DE6-4909-75C727C75EC5}"/>
              </a:ext>
            </a:extLst>
          </p:cNvPr>
          <p:cNvSpPr/>
          <p:nvPr/>
        </p:nvSpPr>
        <p:spPr>
          <a:xfrm rot="10800000">
            <a:off x="10993120" y="159225"/>
            <a:ext cx="179426" cy="80555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4E8044-289C-4E3B-E705-D15389D54185}"/>
              </a:ext>
            </a:extLst>
          </p:cNvPr>
          <p:cNvSpPr/>
          <p:nvPr/>
        </p:nvSpPr>
        <p:spPr>
          <a:xfrm>
            <a:off x="11175409" y="805557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6EE20B4-746E-A540-05BC-CD1BC46BA807}"/>
              </a:ext>
            </a:extLst>
          </p:cNvPr>
          <p:cNvSpPr/>
          <p:nvPr/>
        </p:nvSpPr>
        <p:spPr>
          <a:xfrm>
            <a:off x="11172546" y="-2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3038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B2EFEA02-E9FC-8FD9-2305-515724104D1C}"/>
              </a:ext>
            </a:extLst>
          </p:cNvPr>
          <p:cNvSpPr txBox="1"/>
          <p:nvPr/>
        </p:nvSpPr>
        <p:spPr>
          <a:xfrm>
            <a:off x="149537" y="159226"/>
            <a:ext cx="110287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chemeClr val="accent1">
                    <a:lumMod val="75000"/>
                  </a:schemeClr>
                </a:solidFill>
              </a:rPr>
              <a:t>Temporal Dependence Model: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3690CF-19AE-D02C-BC7C-F02A7736530C}"/>
              </a:ext>
            </a:extLst>
          </p:cNvPr>
          <p:cNvSpPr/>
          <p:nvPr/>
        </p:nvSpPr>
        <p:spPr>
          <a:xfrm>
            <a:off x="11178272" y="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TW" sz="5400" b="1" cap="none" spc="0" dirty="0">
                <a:ln/>
                <a:solidFill>
                  <a:schemeClr val="accent3"/>
                </a:solidFill>
                <a:effectLst/>
              </a:rPr>
              <a:t>16</a:t>
            </a:r>
            <a:endParaRPr lang="zh-TW" alt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F8BCA7E-2F28-93F6-274A-5FEDF75383A4}"/>
                  </a:ext>
                </a:extLst>
              </p:cNvPr>
              <p:cNvSpPr txBox="1"/>
              <p:nvPr/>
            </p:nvSpPr>
            <p:spPr>
              <a:xfrm>
                <a:off x="543560" y="805557"/>
                <a:ext cx="11104880" cy="58758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/>
                  <a:t>The calculation process of the above-mentioned GRU parameters for each task</a:t>
                </a:r>
                <a:r>
                  <a:rPr lang="el-GR" altLang="zh-TW" sz="2400" b="1" dirty="0"/>
                  <a:t> </a:t>
                </a:r>
                <a14:m>
                  <m:oMath xmlns:m="http://schemas.openxmlformats.org/officeDocument/2006/math">
                    <m:r>
                      <a:rPr lang="el-GR" altLang="zh-TW" sz="2400" b="1" i="0" dirty="0" smtClean="0">
                        <a:latin typeface="Cambria Math" panose="02040503050406030204" pitchFamily="18" charset="0"/>
                      </a:rPr>
                      <m:t>𝚪</m:t>
                    </m:r>
                  </m:oMath>
                </a14:m>
                <a:r>
                  <a:rPr lang="en-US" altLang="zh-TW" sz="2400" dirty="0"/>
                  <a:t>      at time </a:t>
                </a:r>
                <a:r>
                  <a:rPr lang="zh-TW" altLang="en-US" sz="2800" b="1" dirty="0"/>
                  <a:t>𝑡</a:t>
                </a:r>
                <a:r>
                  <a:rPr lang="zh-TW" altLang="en-US" sz="3600" b="1" baseline="-25000" dirty="0"/>
                  <a:t>𝑠 </a:t>
                </a:r>
                <a:r>
                  <a:rPr lang="en-US" altLang="zh-TW" sz="2400" dirty="0"/>
                  <a:t>is shown in Equation 6.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/>
                  <a:t>where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4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zh-TW" altLang="en-US" sz="2400" b="1" dirty="0"/>
                          <m:t>𝑢</m:t>
                        </m:r>
                      </m:e>
                      <m:sup>
                        <m:r>
                          <m:rPr>
                            <m:nor/>
                          </m:rPr>
                          <a:rPr lang="zh-TW" altLang="en-US" sz="2400" b="1" dirty="0"/>
                          <m:t>𝑡</m:t>
                        </m:r>
                        <m:r>
                          <m:rPr>
                            <m:nor/>
                          </m:rPr>
                          <a:rPr lang="zh-TW" altLang="en-US" sz="3200" b="1" baseline="-25000" dirty="0"/>
                          <m:t>𝑠</m:t>
                        </m:r>
                        <m:r>
                          <m:rPr>
                            <m:nor/>
                          </m:rPr>
                          <a:rPr lang="en-US" altLang="zh-TW" sz="2400" b="1" dirty="0"/>
                          <m:t>,</m:t>
                        </m:r>
                        <m:r>
                          <a:rPr lang="el-GR" altLang="zh-TW" sz="2400" b="1" dirty="0">
                            <a:latin typeface="Cambria Math" panose="02040503050406030204" pitchFamily="18" charset="0"/>
                          </a:rPr>
                          <m:t>𝚪</m:t>
                        </m:r>
                      </m:sup>
                    </m:sSup>
                  </m:oMath>
                </a14:m>
                <a:r>
                  <a:rPr lang="el-GR" altLang="zh-TW" sz="2400" dirty="0"/>
                  <a:t>,</a:t>
                </a: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zh-TW" altLang="el-GR" sz="2400" b="1" dirty="0"/>
                          <m:t>𝑟</m:t>
                        </m:r>
                      </m:e>
                      <m:sup>
                        <m:r>
                          <m:rPr>
                            <m:nor/>
                          </m:rPr>
                          <a:rPr lang="zh-TW" altLang="en-US" sz="2400" b="1" dirty="0"/>
                          <m:t>𝑡</m:t>
                        </m:r>
                        <m:r>
                          <m:rPr>
                            <m:nor/>
                          </m:rPr>
                          <a:rPr lang="zh-TW" altLang="en-US" sz="3200" b="1" baseline="-25000" dirty="0"/>
                          <m:t>𝑠</m:t>
                        </m:r>
                        <m:r>
                          <m:rPr>
                            <m:nor/>
                          </m:rPr>
                          <a:rPr lang="en-US" altLang="zh-TW" sz="2400" b="1" dirty="0"/>
                          <m:t>,</m:t>
                        </m:r>
                        <m:r>
                          <a:rPr lang="el-GR" altLang="zh-TW" sz="2400" b="1" i="1" dirty="0">
                            <a:latin typeface="Cambria Math" panose="02040503050406030204" pitchFamily="18" charset="0"/>
                          </a:rPr>
                          <m:t>𝜞</m:t>
                        </m:r>
                      </m:sup>
                    </m:sSup>
                  </m:oMath>
                </a14:m>
                <a:r>
                  <a:rPr lang="el-GR" altLang="zh-TW" sz="2400" dirty="0"/>
                  <a:t>, </a:t>
                </a:r>
                <a:r>
                  <a:rPr lang="en-US" altLang="zh-TW" sz="2400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400" b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zh-TW" altLang="en-US" sz="2400" b="1" dirty="0"/>
                          <m:t>𝑐</m:t>
                        </m:r>
                      </m:e>
                      <m:sup>
                        <m:r>
                          <m:rPr>
                            <m:nor/>
                          </m:rPr>
                          <a:rPr lang="zh-TW" altLang="en-US" sz="2400" b="1" dirty="0"/>
                          <m:t>𝑡</m:t>
                        </m:r>
                        <m:r>
                          <m:rPr>
                            <m:nor/>
                          </m:rPr>
                          <a:rPr lang="zh-TW" altLang="en-US" sz="3200" b="1" baseline="-25000" dirty="0"/>
                          <m:t>𝑠</m:t>
                        </m:r>
                        <m:r>
                          <m:rPr>
                            <m:nor/>
                          </m:rPr>
                          <a:rPr lang="en-US" altLang="zh-TW" sz="2400" b="1" dirty="0"/>
                          <m:t>,</m:t>
                        </m:r>
                        <m:r>
                          <a:rPr lang="el-GR" altLang="zh-TW" sz="2400" b="1" i="1" dirty="0">
                            <a:latin typeface="Cambria Math" panose="02040503050406030204" pitchFamily="18" charset="0"/>
                          </a:rPr>
                          <m:t>𝜞</m:t>
                        </m:r>
                      </m:sup>
                    </m:sSup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,</a:t>
                </a:r>
                <a:r>
                  <a:rPr lang="el-GR" altLang="zh-TW" sz="2400" b="1" dirty="0"/>
                  <a:t> </a:t>
                </a:r>
                <a14:m>
                  <m:oMath xmlns:m="http://schemas.openxmlformats.org/officeDocument/2006/math">
                    <m:r>
                      <a:rPr lang="el-GR" altLang="zh-TW" sz="2400" b="1" dirty="0">
                        <a:latin typeface="Cambria Math" panose="02040503050406030204" pitchFamily="18" charset="0"/>
                      </a:rPr>
                      <m:t>𝚪</m:t>
                    </m:r>
                  </m:oMath>
                </a14:m>
                <a:r>
                  <a:rPr lang="el-GR" altLang="zh-TW" sz="2400" dirty="0"/>
                  <a:t> </a:t>
                </a:r>
                <a:r>
                  <a:rPr lang="en-US" altLang="zh-TW" sz="2400" dirty="0"/>
                  <a:t>are respectively the </a:t>
                </a:r>
                <a:r>
                  <a:rPr lang="en-US" altLang="zh-TW" sz="2400" b="1" dirty="0"/>
                  <a:t>update gate</a:t>
                </a:r>
                <a:r>
                  <a:rPr lang="en-US" altLang="zh-TW" sz="2400" dirty="0"/>
                  <a:t>, </a:t>
                </a:r>
                <a:r>
                  <a:rPr lang="en-US" altLang="zh-TW" sz="2400" b="1" dirty="0"/>
                  <a:t>reset gate</a:t>
                </a:r>
                <a:r>
                  <a:rPr lang="en-US" altLang="zh-TW" sz="2400" dirty="0"/>
                  <a:t>, and </a:t>
                </a:r>
                <a:r>
                  <a:rPr lang="en-US" altLang="zh-TW" sz="2400" b="1" dirty="0"/>
                  <a:t>memory cell value </a:t>
                </a:r>
                <a:r>
                  <a:rPr lang="en-US" altLang="zh-TW" sz="2400" dirty="0"/>
                  <a:t>of the </a:t>
                </a:r>
                <a:r>
                  <a:rPr lang="en-US" altLang="zh-TW" sz="2400" b="1" dirty="0"/>
                  <a:t>current time step</a:t>
                </a:r>
                <a:r>
                  <a:rPr lang="en-US" altLang="zh-TW" sz="240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400" b="1" dirty="0"/>
                          <m:t>h</m:t>
                        </m:r>
                      </m:e>
                      <m:sup>
                        <m:r>
                          <m:rPr>
                            <m:nor/>
                          </m:rPr>
                          <a:rPr lang="zh-TW" altLang="en-US" sz="2400" b="1" dirty="0"/>
                          <m:t>𝑡</m:t>
                        </m:r>
                        <m:r>
                          <m:rPr>
                            <m:nor/>
                          </m:rPr>
                          <a:rPr lang="zh-TW" altLang="en-US" sz="3200" b="1" baseline="-25000" dirty="0"/>
                          <m:t>𝑠</m:t>
                        </m:r>
                        <m:r>
                          <m:rPr>
                            <m:nor/>
                          </m:rPr>
                          <a:rPr lang="en-US" altLang="zh-TW" sz="2400" b="1" dirty="0"/>
                          <m:t>,</m:t>
                        </m:r>
                        <m:r>
                          <a:rPr lang="el-GR" altLang="zh-TW" sz="2400" b="1" dirty="0">
                            <a:latin typeface="Cambria Math" panose="02040503050406030204" pitchFamily="18" charset="0"/>
                          </a:rPr>
                          <m:t>𝚪</m:t>
                        </m:r>
                      </m:sup>
                    </m:sSup>
                    <m:r>
                      <a:rPr lang="el-GR" altLang="zh-TW" sz="24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/>
                  <a:t>is the hidden state. </a:t>
                </a:r>
                <a:r>
                  <a:rPr lang="zh-TW" altLang="en-US" sz="2400" b="1" dirty="0"/>
                  <a:t>𝑊 </a:t>
                </a:r>
                <a:r>
                  <a:rPr lang="en-US" altLang="zh-TW" sz="2400" b="1" dirty="0"/>
                  <a:t>and</a:t>
                </a:r>
                <a:r>
                  <a:rPr lang="en-US" altLang="zh-TW" sz="2400" dirty="0"/>
                  <a:t> </a:t>
                </a:r>
                <a:r>
                  <a:rPr lang="zh-TW" altLang="en-US" sz="2400" b="1" dirty="0"/>
                  <a:t>𝑏 </a:t>
                </a:r>
                <a:r>
                  <a:rPr lang="en-US" altLang="zh-TW" sz="2400" dirty="0"/>
                  <a:t>correspond to </a:t>
                </a:r>
                <a:r>
                  <a:rPr lang="en-US" altLang="zh-TW" sz="2400" b="1" dirty="0"/>
                  <a:t>weights</a:t>
                </a:r>
                <a:r>
                  <a:rPr lang="en-US" altLang="zh-TW" sz="2400" dirty="0"/>
                  <a:t> </a:t>
                </a:r>
                <a:r>
                  <a:rPr lang="en-US" altLang="zh-TW" sz="2400" b="1" dirty="0"/>
                  <a:t>and biases</a:t>
                </a:r>
                <a:r>
                  <a:rPr lang="en-US" altLang="zh-TW" sz="2400" dirty="0"/>
                  <a:t> in the training process. For the </a:t>
                </a:r>
                <a:r>
                  <a:rPr lang="en-US" altLang="zh-TW" sz="2400" b="1" dirty="0"/>
                  <a:t>truck traffic features’ temporal dependence modeling</a:t>
                </a:r>
                <a:r>
                  <a:rPr lang="en-US" altLang="zh-TW" sz="24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400" b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zh-TW" altLang="en-US" sz="2400" b="1" dirty="0"/>
                          <m:t>𝐹</m:t>
                        </m:r>
                      </m:e>
                      <m:sup>
                        <m:r>
                          <m:rPr>
                            <m:nor/>
                          </m:rPr>
                          <a:rPr lang="zh-TW" altLang="en-US" sz="2400" b="1" dirty="0"/>
                          <m:t>𝑡</m:t>
                        </m:r>
                        <m:r>
                          <m:rPr>
                            <m:nor/>
                          </m:rPr>
                          <a:rPr lang="zh-TW" altLang="en-US" sz="3200" b="1" baseline="-25000" dirty="0"/>
                          <m:t>𝑠</m:t>
                        </m:r>
                        <m:r>
                          <m:rPr>
                            <m:nor/>
                          </m:rPr>
                          <a:rPr lang="en-US" altLang="zh-TW" sz="2400" b="1" dirty="0"/>
                          <m:t>,</m:t>
                        </m:r>
                        <m:r>
                          <a:rPr lang="el-GR" altLang="zh-TW" sz="2400" b="1" dirty="0">
                            <a:latin typeface="Cambria Math" panose="02040503050406030204" pitchFamily="18" charset="0"/>
                          </a:rPr>
                          <m:t>𝚪</m:t>
                        </m:r>
                      </m:sup>
                    </m:sSup>
                  </m:oMath>
                </a14:m>
                <a:r>
                  <a:rPr lang="en-US" altLang="zh-TW" sz="2400" dirty="0"/>
                  <a:t>stands for the outputs of the </a:t>
                </a:r>
                <a:r>
                  <a:rPr lang="en-US" altLang="zh-TW" sz="2400" b="1" dirty="0"/>
                  <a:t>GCN layers </a:t>
                </a:r>
                <a:r>
                  <a:rPr lang="en-US" altLang="zh-TW" sz="2400" dirty="0"/>
                  <a:t>at time </a:t>
                </a:r>
                <a:r>
                  <a:rPr lang="zh-TW" altLang="en-US" sz="2400" b="1" dirty="0"/>
                  <a:t>𝑡</a:t>
                </a:r>
                <a:r>
                  <a:rPr lang="zh-TW" altLang="en-US" sz="3200" b="1" baseline="-25000" dirty="0"/>
                  <a:t>𝑠</a:t>
                </a:r>
                <a:r>
                  <a:rPr lang="zh-TW" altLang="en-US" sz="2400" dirty="0"/>
                  <a:t> </a:t>
                </a:r>
                <a:r>
                  <a:rPr lang="en-US" altLang="zh-TW" sz="2400" dirty="0"/>
                  <a:t>(or </a:t>
                </a:r>
                <a:r>
                  <a:rPr lang="en-US" altLang="zh-TW" sz="2400" b="1" dirty="0"/>
                  <a:t>attention-based</a:t>
                </a:r>
                <a:r>
                  <a:rPr lang="en-US" altLang="zh-TW" sz="2400" dirty="0"/>
                  <a:t> model concatenated with the </a:t>
                </a:r>
                <a:r>
                  <a:rPr lang="en-US" altLang="zh-TW" sz="2400" b="1" dirty="0"/>
                  <a:t>contextual feature tensor </a:t>
                </a:r>
                <a:r>
                  <a:rPr lang="zh-TW" altLang="en-US" sz="2800" b="1" dirty="0"/>
                  <a:t>𝐶 </a:t>
                </a:r>
                <a:r>
                  <a:rPr lang="en-US" altLang="zh-TW" sz="2400" dirty="0"/>
                  <a:t>).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F8BCA7E-2F28-93F6-274A-5FEDF7538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60" y="805557"/>
                <a:ext cx="11104880" cy="5875839"/>
              </a:xfrm>
              <a:prstGeom prst="rect">
                <a:avLst/>
              </a:prstGeom>
              <a:blipFill>
                <a:blip r:embed="rId3"/>
                <a:stretch>
                  <a:fillRect l="-714" t="-830" r="-604" b="-17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B2E66C77-3088-047D-853D-783EF64E9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0355" y="1611114"/>
            <a:ext cx="7551289" cy="2490877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5EFAE163-95C7-B1E8-42B7-9528DC48CE3E}"/>
              </a:ext>
            </a:extLst>
          </p:cNvPr>
          <p:cNvSpPr/>
          <p:nvPr/>
        </p:nvSpPr>
        <p:spPr>
          <a:xfrm>
            <a:off x="0" y="0"/>
            <a:ext cx="11178272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BAC0B52-5E09-6943-D992-BD466A36E976}"/>
              </a:ext>
            </a:extLst>
          </p:cNvPr>
          <p:cNvSpPr/>
          <p:nvPr/>
        </p:nvSpPr>
        <p:spPr>
          <a:xfrm>
            <a:off x="0" y="159226"/>
            <a:ext cx="149537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A902B53-5CB3-860C-0183-F1DC5D01EC07}"/>
              </a:ext>
            </a:extLst>
          </p:cNvPr>
          <p:cNvSpPr/>
          <p:nvPr/>
        </p:nvSpPr>
        <p:spPr>
          <a:xfrm>
            <a:off x="149537" y="6698774"/>
            <a:ext cx="12042463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E47C643-6F32-DF7F-267B-7806291A89F7}"/>
              </a:ext>
            </a:extLst>
          </p:cNvPr>
          <p:cNvSpPr/>
          <p:nvPr/>
        </p:nvSpPr>
        <p:spPr>
          <a:xfrm>
            <a:off x="12042463" y="1"/>
            <a:ext cx="146674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: 剪去單一角落 29">
            <a:extLst>
              <a:ext uri="{FF2B5EF4-FFF2-40B4-BE49-F238E27FC236}">
                <a16:creationId xmlns:a16="http://schemas.microsoft.com/office/drawing/2014/main" id="{DBB964FE-9366-F863-92A5-C3DD59D031DA}"/>
              </a:ext>
            </a:extLst>
          </p:cNvPr>
          <p:cNvSpPr/>
          <p:nvPr/>
        </p:nvSpPr>
        <p:spPr>
          <a:xfrm rot="10800000">
            <a:off x="10993120" y="159225"/>
            <a:ext cx="179426" cy="80555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C4ADBBB-42CF-BEDE-967D-CBCB15A403A7}"/>
              </a:ext>
            </a:extLst>
          </p:cNvPr>
          <p:cNvSpPr/>
          <p:nvPr/>
        </p:nvSpPr>
        <p:spPr>
          <a:xfrm>
            <a:off x="11175409" y="805557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D44AB4A-173A-C827-AD9C-AF07AA4D405D}"/>
              </a:ext>
            </a:extLst>
          </p:cNvPr>
          <p:cNvSpPr/>
          <p:nvPr/>
        </p:nvSpPr>
        <p:spPr>
          <a:xfrm>
            <a:off x="11172546" y="-2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3803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A3690CF-19AE-D02C-BC7C-F02A7736530C}"/>
              </a:ext>
            </a:extLst>
          </p:cNvPr>
          <p:cNvSpPr/>
          <p:nvPr/>
        </p:nvSpPr>
        <p:spPr>
          <a:xfrm>
            <a:off x="11178272" y="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TW" sz="5400" b="1" cap="none" spc="0" dirty="0">
                <a:ln/>
                <a:solidFill>
                  <a:schemeClr val="accent3"/>
                </a:solidFill>
                <a:effectLst/>
              </a:rPr>
              <a:t>17</a:t>
            </a:r>
            <a:endParaRPr lang="zh-TW" alt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54667CF-ADB8-CC91-40D5-67473DC96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130" y="790580"/>
            <a:ext cx="9391023" cy="491593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D6C3C236-FA81-0E76-006F-E400753ECC43}"/>
              </a:ext>
            </a:extLst>
          </p:cNvPr>
          <p:cNvSpPr txBox="1"/>
          <p:nvPr/>
        </p:nvSpPr>
        <p:spPr>
          <a:xfrm>
            <a:off x="973928" y="5678165"/>
            <a:ext cx="103936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/>
              <a:t>Figure 2: </a:t>
            </a:r>
            <a:r>
              <a:rPr lang="en-US" altLang="zh-TW" sz="2000" dirty="0"/>
              <a:t>Illustration of the influence of </a:t>
            </a:r>
            <a:r>
              <a:rPr lang="en-US" altLang="zh-TW" sz="2000" b="1" dirty="0"/>
              <a:t>weather conditions </a:t>
            </a:r>
            <a:r>
              <a:rPr lang="en-US" altLang="zh-TW" sz="2000" dirty="0"/>
              <a:t>on </a:t>
            </a:r>
            <a:r>
              <a:rPr lang="en-US" altLang="zh-TW" sz="2000" b="1" dirty="0"/>
              <a:t>truck speed pattern</a:t>
            </a:r>
            <a:r>
              <a:rPr lang="en-US" altLang="zh-TW" sz="2000" dirty="0"/>
              <a:t>. </a:t>
            </a:r>
            <a:r>
              <a:rPr lang="en-US" altLang="zh-TW" sz="2000" b="1" dirty="0">
                <a:solidFill>
                  <a:srgbClr val="FF0000"/>
                </a:solidFill>
              </a:rPr>
              <a:t>Red</a:t>
            </a:r>
            <a:r>
              <a:rPr lang="en-US" altLang="zh-TW" sz="2000" dirty="0"/>
              <a:t> </a:t>
            </a:r>
            <a:r>
              <a:rPr lang="en-US" altLang="zh-TW" sz="2000" b="1" dirty="0">
                <a:solidFill>
                  <a:srgbClr val="FF0000"/>
                </a:solidFill>
              </a:rPr>
              <a:t>shows the amount of snow</a:t>
            </a:r>
            <a:r>
              <a:rPr lang="en-US" altLang="zh-TW" sz="2000" dirty="0"/>
              <a:t>, </a:t>
            </a:r>
            <a:r>
              <a:rPr lang="en-US" altLang="zh-TW" sz="2000" b="1" dirty="0">
                <a:solidFill>
                  <a:schemeClr val="accent1">
                    <a:lumMod val="75000"/>
                  </a:schemeClr>
                </a:solidFill>
              </a:rPr>
              <a:t>blue line shows the average speed of trucks across the city</a:t>
            </a:r>
            <a:r>
              <a:rPr lang="en-US" altLang="zh-TW" sz="2000" dirty="0"/>
              <a:t>, and </a:t>
            </a:r>
            <a:r>
              <a:rPr lang="en-US" altLang="zh-TW" sz="2000" dirty="0">
                <a:highlight>
                  <a:srgbClr val="008080"/>
                </a:highlight>
              </a:rPr>
              <a:t> </a:t>
            </a:r>
            <a:r>
              <a:rPr lang="en-US" altLang="zh-TW" sz="2000" b="1" dirty="0">
                <a:solidFill>
                  <a:schemeClr val="bg1">
                    <a:lumMod val="95000"/>
                  </a:schemeClr>
                </a:solidFill>
                <a:highlight>
                  <a:srgbClr val="008080"/>
                </a:highlight>
              </a:rPr>
              <a:t>blue area </a:t>
            </a:r>
            <a:r>
              <a:rPr lang="en-US" altLang="zh-TW" sz="2000" dirty="0"/>
              <a:t>represents the minimum and maximum </a:t>
            </a:r>
            <a:r>
              <a:rPr lang="en-US" altLang="zh-TW" sz="2000" b="1" dirty="0"/>
              <a:t>weather temperature</a:t>
            </a:r>
            <a:r>
              <a:rPr lang="en-US" altLang="zh-TW" sz="2000" dirty="0"/>
              <a:t>. </a:t>
            </a:r>
            <a:endParaRPr lang="zh-TW" altLang="en-US" sz="20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9E23BC4-45CF-F5DD-33D0-57BB64719C5C}"/>
              </a:ext>
            </a:extLst>
          </p:cNvPr>
          <p:cNvSpPr txBox="1"/>
          <p:nvPr/>
        </p:nvSpPr>
        <p:spPr>
          <a:xfrm>
            <a:off x="149537" y="159226"/>
            <a:ext cx="110287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chemeClr val="accent1">
                    <a:lumMod val="75000"/>
                  </a:schemeClr>
                </a:solidFill>
              </a:rPr>
              <a:t>Contextual Feature Model: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DFD3B99-AB3C-2EE6-C69B-0687D01A4E3B}"/>
              </a:ext>
            </a:extLst>
          </p:cNvPr>
          <p:cNvSpPr/>
          <p:nvPr/>
        </p:nvSpPr>
        <p:spPr>
          <a:xfrm>
            <a:off x="0" y="0"/>
            <a:ext cx="11178272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F1B9DB-565D-59D1-4403-7C6C1C575E34}"/>
              </a:ext>
            </a:extLst>
          </p:cNvPr>
          <p:cNvSpPr/>
          <p:nvPr/>
        </p:nvSpPr>
        <p:spPr>
          <a:xfrm>
            <a:off x="0" y="159226"/>
            <a:ext cx="149537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4375297-C44F-F25F-34FA-C12051744BB9}"/>
              </a:ext>
            </a:extLst>
          </p:cNvPr>
          <p:cNvSpPr/>
          <p:nvPr/>
        </p:nvSpPr>
        <p:spPr>
          <a:xfrm>
            <a:off x="149537" y="6698774"/>
            <a:ext cx="12042463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EB36990-C844-E003-B35A-A875AF411E8E}"/>
              </a:ext>
            </a:extLst>
          </p:cNvPr>
          <p:cNvSpPr/>
          <p:nvPr/>
        </p:nvSpPr>
        <p:spPr>
          <a:xfrm>
            <a:off x="12042463" y="1"/>
            <a:ext cx="146674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: 剪去單一角落 19">
            <a:extLst>
              <a:ext uri="{FF2B5EF4-FFF2-40B4-BE49-F238E27FC236}">
                <a16:creationId xmlns:a16="http://schemas.microsoft.com/office/drawing/2014/main" id="{1B16E066-B216-B97D-688F-DC2B9BEF2DCE}"/>
              </a:ext>
            </a:extLst>
          </p:cNvPr>
          <p:cNvSpPr/>
          <p:nvPr/>
        </p:nvSpPr>
        <p:spPr>
          <a:xfrm rot="10800000">
            <a:off x="10993120" y="159225"/>
            <a:ext cx="179426" cy="80555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967A77-CD98-C08D-E70C-C169A5A1D07D}"/>
              </a:ext>
            </a:extLst>
          </p:cNvPr>
          <p:cNvSpPr/>
          <p:nvPr/>
        </p:nvSpPr>
        <p:spPr>
          <a:xfrm>
            <a:off x="11175409" y="805557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2D0BDD7-0566-2C0E-0CE9-403B7901CF1D}"/>
              </a:ext>
            </a:extLst>
          </p:cNvPr>
          <p:cNvSpPr/>
          <p:nvPr/>
        </p:nvSpPr>
        <p:spPr>
          <a:xfrm>
            <a:off x="11172546" y="-2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6605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B2EFEA02-E9FC-8FD9-2305-515724104D1C}"/>
              </a:ext>
            </a:extLst>
          </p:cNvPr>
          <p:cNvSpPr txBox="1"/>
          <p:nvPr/>
        </p:nvSpPr>
        <p:spPr>
          <a:xfrm>
            <a:off x="149537" y="159226"/>
            <a:ext cx="110287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chemeClr val="accent1">
                    <a:lumMod val="75000"/>
                  </a:schemeClr>
                </a:solidFill>
              </a:rPr>
              <a:t> Multi-Task Learning Model: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3690CF-19AE-D02C-BC7C-F02A7736530C}"/>
              </a:ext>
            </a:extLst>
          </p:cNvPr>
          <p:cNvSpPr/>
          <p:nvPr/>
        </p:nvSpPr>
        <p:spPr>
          <a:xfrm>
            <a:off x="11178272" y="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TW" sz="5400" b="1" cap="none" spc="0" dirty="0">
                <a:ln/>
                <a:solidFill>
                  <a:schemeClr val="accent3"/>
                </a:solidFill>
                <a:effectLst/>
              </a:rPr>
              <a:t>18</a:t>
            </a:r>
            <a:endParaRPr lang="zh-TW" alt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2E9F19C-C0AD-EE47-1A5F-472DF6405CF2}"/>
                  </a:ext>
                </a:extLst>
              </p:cNvPr>
              <p:cNvSpPr txBox="1"/>
              <p:nvPr/>
            </p:nvSpPr>
            <p:spPr>
              <a:xfrm>
                <a:off x="1045048" y="626999"/>
                <a:ext cx="10251440" cy="60551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/>
                  <a:t>The attention mechanism can be described as follows for each task </a:t>
                </a:r>
                <a14:m>
                  <m:oMath xmlns:m="http://schemas.openxmlformats.org/officeDocument/2006/math">
                    <m:r>
                      <a:rPr lang="el-GR" altLang="zh-TW" sz="2800" b="1" dirty="0" smtClean="0">
                        <a:latin typeface="Cambria Math" panose="02040503050406030204" pitchFamily="18" charset="0"/>
                      </a:rPr>
                      <m:t>𝚪</m:t>
                    </m:r>
                    <m:r>
                      <a:rPr lang="el-GR" altLang="zh-TW" sz="28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altLang="zh-TW" sz="2400" dirty="0"/>
                  <a:t>:</a:t>
                </a:r>
                <a:endParaRPr lang="en-US" altLang="zh-TW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/>
                  <a:t>where </a:t>
                </a:r>
                <a:r>
                  <a:rPr lang="zh-TW" altLang="en-US" sz="2800" b="1" dirty="0"/>
                  <a:t>𝑑 </a:t>
                </a:r>
                <a:r>
                  <a:rPr lang="en-US" altLang="zh-TW" sz="2400" dirty="0"/>
                  <a:t>corresponds to the </a:t>
                </a:r>
                <a:r>
                  <a:rPr lang="en-US" altLang="zh-TW" sz="2400" b="1" dirty="0"/>
                  <a:t>embedding dimension</a:t>
                </a:r>
                <a:r>
                  <a:rPr lang="en-US" altLang="zh-TW" sz="2400" dirty="0"/>
                  <a:t>. To take advantage of parallelism, the </a:t>
                </a:r>
                <a:r>
                  <a:rPr lang="en-US" altLang="zh-TW" sz="2400" b="1" dirty="0"/>
                  <a:t>Query, Key, and Value </a:t>
                </a:r>
                <a:r>
                  <a:rPr lang="en-US" altLang="zh-TW" sz="2400" dirty="0"/>
                  <a:t>are mapped to </a:t>
                </a:r>
                <a:r>
                  <a:rPr lang="zh-TW" altLang="en-US" sz="2800" b="1" dirty="0"/>
                  <a:t>𝐻 </a:t>
                </a:r>
                <a:r>
                  <a:rPr lang="en-US" altLang="zh-TW" sz="2400" dirty="0"/>
                  <a:t>different sub-spaces. </a:t>
                </a:r>
                <a:r>
                  <a:rPr lang="zh-TW" altLang="en-US" sz="2800" dirty="0"/>
                  <a:t>𝑀</a:t>
                </a:r>
                <a14:m>
                  <m:oMath xmlns:m="http://schemas.openxmlformats.org/officeDocument/2006/math">
                    <m:r>
                      <a:rPr lang="el-GR" altLang="zh-TW" sz="3200" b="1" baseline="30000" dirty="0" smtClean="0">
                        <a:latin typeface="Cambria Math" panose="02040503050406030204" pitchFamily="18" charset="0"/>
                      </a:rPr>
                      <m:t>𝚪</m:t>
                    </m:r>
                  </m:oMath>
                </a14:m>
                <a:r>
                  <a:rPr lang="el-GR" altLang="zh-TW" sz="2800" dirty="0"/>
                  <a:t> </a:t>
                </a:r>
                <a:r>
                  <a:rPr lang="en-US" altLang="zh-TW" sz="2400" dirty="0"/>
                  <a:t>represents the output of the first layer of </a:t>
                </a:r>
                <a:r>
                  <a:rPr lang="en-US" altLang="zh-TW" sz="2400" b="1" dirty="0"/>
                  <a:t>GRU units</a:t>
                </a:r>
                <a:r>
                  <a:rPr lang="en-US" altLang="zh-TW" sz="2400" dirty="0"/>
                  <a:t>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/>
                  <a:t>where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zh-TW" altLang="en-US" sz="2400" b="1" dirty="0"/>
                          <m:t>𝑊</m:t>
                        </m:r>
                      </m:e>
                      <m:sub>
                        <m:r>
                          <m:rPr>
                            <m:nor/>
                          </m:rPr>
                          <a:rPr lang="zh-TW" altLang="el-GR" sz="2400" b="1" dirty="0"/>
                          <m:t>𝑄</m:t>
                        </m:r>
                        <m:r>
                          <m:rPr>
                            <m:nor/>
                          </m:rPr>
                          <a:rPr lang="zh-TW" altLang="el-GR" sz="3200" b="1" baseline="-25000" dirty="0"/>
                          <m:t>𝑖</m:t>
                        </m:r>
                      </m:sub>
                      <m:sup>
                        <m:r>
                          <a:rPr lang="el-GR" altLang="zh-TW" sz="2400" b="1" dirty="0">
                            <a:latin typeface="Cambria Math" panose="02040503050406030204" pitchFamily="18" charset="0"/>
                          </a:rPr>
                          <m:t>𝚪</m:t>
                        </m:r>
                      </m:sup>
                    </m:sSubSup>
                  </m:oMath>
                </a14:m>
                <a:r>
                  <a:rPr lang="el-GR" altLang="zh-TW" sz="2400" dirty="0"/>
                  <a:t>, </a:t>
                </a:r>
                <a:r>
                  <a:rPr lang="en-US" altLang="zh-TW" sz="2400" dirty="0"/>
                  <a:t>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zh-TW" altLang="el-GR" sz="2400" b="1" dirty="0"/>
                          <m:t>𝑊</m:t>
                        </m:r>
                      </m:e>
                      <m:sub>
                        <m:r>
                          <m:rPr>
                            <m:nor/>
                          </m:rPr>
                          <a:rPr lang="zh-TW" altLang="el-GR" sz="2400" b="1" dirty="0"/>
                          <m:t>𝐾</m:t>
                        </m:r>
                        <m:r>
                          <m:rPr>
                            <m:nor/>
                          </m:rPr>
                          <a:rPr lang="zh-TW" altLang="el-GR" sz="3200" b="1" baseline="-25000" dirty="0"/>
                          <m:t>𝑖</m:t>
                        </m:r>
                      </m:sub>
                      <m:sup>
                        <m:r>
                          <a:rPr lang="el-GR" altLang="zh-TW" sz="2400" b="1" dirty="0">
                            <a:latin typeface="Cambria Math" panose="02040503050406030204" pitchFamily="18" charset="0"/>
                          </a:rPr>
                          <m:t>𝚪</m:t>
                        </m:r>
                      </m:sup>
                    </m:sSubSup>
                  </m:oMath>
                </a14:m>
                <a:r>
                  <a:rPr lang="el-GR" altLang="zh-TW" sz="2400" dirty="0"/>
                  <a:t>, </a:t>
                </a:r>
                <a:r>
                  <a:rPr lang="en-US" altLang="zh-TW" sz="2400" dirty="0"/>
                  <a:t>and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zh-TW" altLang="en-US" sz="2400" b="1" dirty="0"/>
                          <m:t>𝑊</m:t>
                        </m:r>
                      </m:e>
                      <m:sub>
                        <m:r>
                          <m:rPr>
                            <m:nor/>
                          </m:rPr>
                          <a:rPr lang="zh-TW" altLang="el-GR" sz="2400" b="1" dirty="0"/>
                          <m:t>𝑉</m:t>
                        </m:r>
                        <m:r>
                          <m:rPr>
                            <m:nor/>
                          </m:rPr>
                          <a:rPr lang="zh-TW" altLang="el-GR" sz="3200" b="1" baseline="-25000" dirty="0"/>
                          <m:t>𝑖</m:t>
                        </m:r>
                      </m:sub>
                      <m:sup>
                        <m:r>
                          <a:rPr lang="el-GR" altLang="zh-TW" sz="2400" b="1" dirty="0">
                            <a:latin typeface="Cambria Math" panose="02040503050406030204" pitchFamily="18" charset="0"/>
                          </a:rPr>
                          <m:t>𝚪</m:t>
                        </m:r>
                      </m:sup>
                    </m:sSubSup>
                  </m:oMath>
                </a14:m>
                <a:r>
                  <a:rPr lang="el-GR" altLang="zh-TW" sz="2400" dirty="0"/>
                  <a:t> </a:t>
                </a:r>
                <a:r>
                  <a:rPr lang="en-US" altLang="zh-TW" sz="2400" dirty="0"/>
                  <a:t>are the conversion matrices.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2E9F19C-C0AD-EE47-1A5F-472DF6405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48" y="626999"/>
                <a:ext cx="10251440" cy="6055184"/>
              </a:xfrm>
              <a:prstGeom prst="rect">
                <a:avLst/>
              </a:prstGeom>
              <a:blipFill>
                <a:blip r:embed="rId3"/>
                <a:stretch>
                  <a:fillRect l="-773" r="-2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9A0A9AA1-B550-3FA7-1D12-FCFB68DB2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2266" y="1180859"/>
            <a:ext cx="6497003" cy="165532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226A201-8F4D-EB58-2C3F-F21B0C3BCE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6329" y="4256816"/>
            <a:ext cx="6159342" cy="1795627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7BE72F11-E579-7A43-EC08-7B5460CC5D82}"/>
              </a:ext>
            </a:extLst>
          </p:cNvPr>
          <p:cNvSpPr/>
          <p:nvPr/>
        </p:nvSpPr>
        <p:spPr>
          <a:xfrm>
            <a:off x="0" y="0"/>
            <a:ext cx="11178272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4A1AF7-D57D-9AFE-F73C-BB0B5D09B3B5}"/>
              </a:ext>
            </a:extLst>
          </p:cNvPr>
          <p:cNvSpPr/>
          <p:nvPr/>
        </p:nvSpPr>
        <p:spPr>
          <a:xfrm>
            <a:off x="0" y="159226"/>
            <a:ext cx="149537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45E6D1-7C5F-D9A0-66E2-D65F1905D4DA}"/>
              </a:ext>
            </a:extLst>
          </p:cNvPr>
          <p:cNvSpPr/>
          <p:nvPr/>
        </p:nvSpPr>
        <p:spPr>
          <a:xfrm>
            <a:off x="149537" y="6698774"/>
            <a:ext cx="12042463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DB73E3F-A68A-6713-BBC1-A5C720FE10AF}"/>
              </a:ext>
            </a:extLst>
          </p:cNvPr>
          <p:cNvSpPr/>
          <p:nvPr/>
        </p:nvSpPr>
        <p:spPr>
          <a:xfrm>
            <a:off x="12042463" y="1"/>
            <a:ext cx="146674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: 剪去單一角落 20">
            <a:extLst>
              <a:ext uri="{FF2B5EF4-FFF2-40B4-BE49-F238E27FC236}">
                <a16:creationId xmlns:a16="http://schemas.microsoft.com/office/drawing/2014/main" id="{5A4CA725-13C0-AFFF-A43E-C89A5889DA39}"/>
              </a:ext>
            </a:extLst>
          </p:cNvPr>
          <p:cNvSpPr/>
          <p:nvPr/>
        </p:nvSpPr>
        <p:spPr>
          <a:xfrm rot="10800000">
            <a:off x="10993120" y="159225"/>
            <a:ext cx="179426" cy="80555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CD7515F-CCBD-6635-BE72-1F9ED681F198}"/>
              </a:ext>
            </a:extLst>
          </p:cNvPr>
          <p:cNvSpPr/>
          <p:nvPr/>
        </p:nvSpPr>
        <p:spPr>
          <a:xfrm>
            <a:off x="11175409" y="805557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D5E6747-3291-734A-5C38-DD1FF274E5E9}"/>
              </a:ext>
            </a:extLst>
          </p:cNvPr>
          <p:cNvSpPr/>
          <p:nvPr/>
        </p:nvSpPr>
        <p:spPr>
          <a:xfrm>
            <a:off x="11172546" y="-2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7157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B2EFEA02-E9FC-8FD9-2305-515724104D1C}"/>
              </a:ext>
            </a:extLst>
          </p:cNvPr>
          <p:cNvSpPr txBox="1"/>
          <p:nvPr/>
        </p:nvSpPr>
        <p:spPr>
          <a:xfrm>
            <a:off x="149537" y="159226"/>
            <a:ext cx="110287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chemeClr val="tx2">
                    <a:lumMod val="75000"/>
                  </a:schemeClr>
                </a:solidFill>
              </a:rPr>
              <a:t>Experiment: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3690CF-19AE-D02C-BC7C-F02A7736530C}"/>
              </a:ext>
            </a:extLst>
          </p:cNvPr>
          <p:cNvSpPr/>
          <p:nvPr/>
        </p:nvSpPr>
        <p:spPr>
          <a:xfrm>
            <a:off x="11178272" y="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TW" sz="5400" b="1" cap="none" spc="0" dirty="0">
                <a:ln/>
                <a:solidFill>
                  <a:schemeClr val="accent3"/>
                </a:solidFill>
                <a:effectLst/>
              </a:rPr>
              <a:t>19</a:t>
            </a:r>
            <a:endParaRPr lang="zh-TW" alt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BE72F11-E579-7A43-EC08-7B5460CC5D82}"/>
              </a:ext>
            </a:extLst>
          </p:cNvPr>
          <p:cNvSpPr/>
          <p:nvPr/>
        </p:nvSpPr>
        <p:spPr>
          <a:xfrm>
            <a:off x="0" y="0"/>
            <a:ext cx="11178272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4A1AF7-D57D-9AFE-F73C-BB0B5D09B3B5}"/>
              </a:ext>
            </a:extLst>
          </p:cNvPr>
          <p:cNvSpPr/>
          <p:nvPr/>
        </p:nvSpPr>
        <p:spPr>
          <a:xfrm>
            <a:off x="0" y="159226"/>
            <a:ext cx="149537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45E6D1-7C5F-D9A0-66E2-D65F1905D4DA}"/>
              </a:ext>
            </a:extLst>
          </p:cNvPr>
          <p:cNvSpPr/>
          <p:nvPr/>
        </p:nvSpPr>
        <p:spPr>
          <a:xfrm>
            <a:off x="149537" y="6698774"/>
            <a:ext cx="12042463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DB73E3F-A68A-6713-BBC1-A5C720FE10AF}"/>
              </a:ext>
            </a:extLst>
          </p:cNvPr>
          <p:cNvSpPr/>
          <p:nvPr/>
        </p:nvSpPr>
        <p:spPr>
          <a:xfrm>
            <a:off x="12042463" y="1"/>
            <a:ext cx="146674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: 剪去單一角落 20">
            <a:extLst>
              <a:ext uri="{FF2B5EF4-FFF2-40B4-BE49-F238E27FC236}">
                <a16:creationId xmlns:a16="http://schemas.microsoft.com/office/drawing/2014/main" id="{5A4CA725-13C0-AFFF-A43E-C89A5889DA39}"/>
              </a:ext>
            </a:extLst>
          </p:cNvPr>
          <p:cNvSpPr/>
          <p:nvPr/>
        </p:nvSpPr>
        <p:spPr>
          <a:xfrm rot="10800000">
            <a:off x="10993120" y="159225"/>
            <a:ext cx="179426" cy="80555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CD7515F-CCBD-6635-BE72-1F9ED681F198}"/>
              </a:ext>
            </a:extLst>
          </p:cNvPr>
          <p:cNvSpPr/>
          <p:nvPr/>
        </p:nvSpPr>
        <p:spPr>
          <a:xfrm>
            <a:off x="11175409" y="805557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D5E6747-3291-734A-5C38-DD1FF274E5E9}"/>
              </a:ext>
            </a:extLst>
          </p:cNvPr>
          <p:cNvSpPr/>
          <p:nvPr/>
        </p:nvSpPr>
        <p:spPr>
          <a:xfrm>
            <a:off x="11172546" y="-2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489A030-B2D1-3292-5112-07AA00585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810" y="1024127"/>
            <a:ext cx="8673917" cy="491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174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B2EFEA02-E9FC-8FD9-2305-515724104D1C}"/>
              </a:ext>
            </a:extLst>
          </p:cNvPr>
          <p:cNvSpPr txBox="1"/>
          <p:nvPr/>
        </p:nvSpPr>
        <p:spPr>
          <a:xfrm>
            <a:off x="149537" y="159226"/>
            <a:ext cx="110287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chemeClr val="tx2">
                    <a:lumMod val="75000"/>
                  </a:schemeClr>
                </a:solidFill>
              </a:rPr>
              <a:t>Experiment</a:t>
            </a:r>
            <a:r>
              <a:rPr lang="en-US" altLang="zh-TW" sz="3600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3690CF-19AE-D02C-BC7C-F02A7736530C}"/>
              </a:ext>
            </a:extLst>
          </p:cNvPr>
          <p:cNvSpPr/>
          <p:nvPr/>
        </p:nvSpPr>
        <p:spPr>
          <a:xfrm>
            <a:off x="11178272" y="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TW" sz="5400" b="1" dirty="0">
                <a:ln/>
                <a:solidFill>
                  <a:schemeClr val="accent3"/>
                </a:solidFill>
              </a:rPr>
              <a:t>20</a:t>
            </a:r>
            <a:endParaRPr lang="zh-TW" alt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BE72F11-E579-7A43-EC08-7B5460CC5D82}"/>
              </a:ext>
            </a:extLst>
          </p:cNvPr>
          <p:cNvSpPr/>
          <p:nvPr/>
        </p:nvSpPr>
        <p:spPr>
          <a:xfrm>
            <a:off x="0" y="0"/>
            <a:ext cx="11178272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4A1AF7-D57D-9AFE-F73C-BB0B5D09B3B5}"/>
              </a:ext>
            </a:extLst>
          </p:cNvPr>
          <p:cNvSpPr/>
          <p:nvPr/>
        </p:nvSpPr>
        <p:spPr>
          <a:xfrm>
            <a:off x="0" y="159226"/>
            <a:ext cx="149537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45E6D1-7C5F-D9A0-66E2-D65F1905D4DA}"/>
              </a:ext>
            </a:extLst>
          </p:cNvPr>
          <p:cNvSpPr/>
          <p:nvPr/>
        </p:nvSpPr>
        <p:spPr>
          <a:xfrm>
            <a:off x="149537" y="6698774"/>
            <a:ext cx="12042463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DB73E3F-A68A-6713-BBC1-A5C720FE10AF}"/>
              </a:ext>
            </a:extLst>
          </p:cNvPr>
          <p:cNvSpPr/>
          <p:nvPr/>
        </p:nvSpPr>
        <p:spPr>
          <a:xfrm>
            <a:off x="12042463" y="1"/>
            <a:ext cx="146674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: 剪去單一角落 20">
            <a:extLst>
              <a:ext uri="{FF2B5EF4-FFF2-40B4-BE49-F238E27FC236}">
                <a16:creationId xmlns:a16="http://schemas.microsoft.com/office/drawing/2014/main" id="{5A4CA725-13C0-AFFF-A43E-C89A5889DA39}"/>
              </a:ext>
            </a:extLst>
          </p:cNvPr>
          <p:cNvSpPr/>
          <p:nvPr/>
        </p:nvSpPr>
        <p:spPr>
          <a:xfrm rot="10800000">
            <a:off x="10993120" y="159225"/>
            <a:ext cx="179426" cy="80555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CD7515F-CCBD-6635-BE72-1F9ED681F198}"/>
              </a:ext>
            </a:extLst>
          </p:cNvPr>
          <p:cNvSpPr/>
          <p:nvPr/>
        </p:nvSpPr>
        <p:spPr>
          <a:xfrm>
            <a:off x="11175409" y="805557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D5E6747-3291-734A-5C38-DD1FF274E5E9}"/>
              </a:ext>
            </a:extLst>
          </p:cNvPr>
          <p:cNvSpPr/>
          <p:nvPr/>
        </p:nvSpPr>
        <p:spPr>
          <a:xfrm>
            <a:off x="11172546" y="-2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1FBCB83-FA16-21C6-1C2B-A882E68FB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302" y="805557"/>
            <a:ext cx="9129395" cy="560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328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B2EFEA02-E9FC-8FD9-2305-515724104D1C}"/>
              </a:ext>
            </a:extLst>
          </p:cNvPr>
          <p:cNvSpPr txBox="1"/>
          <p:nvPr/>
        </p:nvSpPr>
        <p:spPr>
          <a:xfrm>
            <a:off x="149537" y="159226"/>
            <a:ext cx="110287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chemeClr val="tx2">
                    <a:lumMod val="75000"/>
                  </a:schemeClr>
                </a:solidFill>
              </a:rPr>
              <a:t>Experiment</a:t>
            </a:r>
            <a:r>
              <a:rPr lang="en-US" altLang="zh-TW" sz="3600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3690CF-19AE-D02C-BC7C-F02A7736530C}"/>
              </a:ext>
            </a:extLst>
          </p:cNvPr>
          <p:cNvSpPr/>
          <p:nvPr/>
        </p:nvSpPr>
        <p:spPr>
          <a:xfrm>
            <a:off x="11178272" y="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TW" sz="5400" b="1" dirty="0">
                <a:ln/>
                <a:solidFill>
                  <a:schemeClr val="accent3"/>
                </a:solidFill>
              </a:rPr>
              <a:t>21</a:t>
            </a:r>
            <a:endParaRPr lang="zh-TW" alt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BE72F11-E579-7A43-EC08-7B5460CC5D82}"/>
              </a:ext>
            </a:extLst>
          </p:cNvPr>
          <p:cNvSpPr/>
          <p:nvPr/>
        </p:nvSpPr>
        <p:spPr>
          <a:xfrm>
            <a:off x="0" y="0"/>
            <a:ext cx="11178272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4A1AF7-D57D-9AFE-F73C-BB0B5D09B3B5}"/>
              </a:ext>
            </a:extLst>
          </p:cNvPr>
          <p:cNvSpPr/>
          <p:nvPr/>
        </p:nvSpPr>
        <p:spPr>
          <a:xfrm>
            <a:off x="0" y="159226"/>
            <a:ext cx="149537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45E6D1-7C5F-D9A0-66E2-D65F1905D4DA}"/>
              </a:ext>
            </a:extLst>
          </p:cNvPr>
          <p:cNvSpPr/>
          <p:nvPr/>
        </p:nvSpPr>
        <p:spPr>
          <a:xfrm>
            <a:off x="149537" y="6698774"/>
            <a:ext cx="12042463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DB73E3F-A68A-6713-BBC1-A5C720FE10AF}"/>
              </a:ext>
            </a:extLst>
          </p:cNvPr>
          <p:cNvSpPr/>
          <p:nvPr/>
        </p:nvSpPr>
        <p:spPr>
          <a:xfrm>
            <a:off x="12042463" y="1"/>
            <a:ext cx="146674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: 剪去單一角落 20">
            <a:extLst>
              <a:ext uri="{FF2B5EF4-FFF2-40B4-BE49-F238E27FC236}">
                <a16:creationId xmlns:a16="http://schemas.microsoft.com/office/drawing/2014/main" id="{5A4CA725-13C0-AFFF-A43E-C89A5889DA39}"/>
              </a:ext>
            </a:extLst>
          </p:cNvPr>
          <p:cNvSpPr/>
          <p:nvPr/>
        </p:nvSpPr>
        <p:spPr>
          <a:xfrm rot="10800000">
            <a:off x="10993120" y="159225"/>
            <a:ext cx="179426" cy="80555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CD7515F-CCBD-6635-BE72-1F9ED681F198}"/>
              </a:ext>
            </a:extLst>
          </p:cNvPr>
          <p:cNvSpPr/>
          <p:nvPr/>
        </p:nvSpPr>
        <p:spPr>
          <a:xfrm>
            <a:off x="11175409" y="805557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D5E6747-3291-734A-5C38-DD1FF274E5E9}"/>
              </a:ext>
            </a:extLst>
          </p:cNvPr>
          <p:cNvSpPr/>
          <p:nvPr/>
        </p:nvSpPr>
        <p:spPr>
          <a:xfrm>
            <a:off x="11172546" y="-2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A587679-1607-DAA6-BD6A-1EB66C2A8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894" y="1066888"/>
            <a:ext cx="10296211" cy="521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5854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B2EFEA02-E9FC-8FD9-2305-515724104D1C}"/>
              </a:ext>
            </a:extLst>
          </p:cNvPr>
          <p:cNvSpPr txBox="1"/>
          <p:nvPr/>
        </p:nvSpPr>
        <p:spPr>
          <a:xfrm>
            <a:off x="149537" y="159226"/>
            <a:ext cx="110287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chemeClr val="tx2">
                    <a:lumMod val="75000"/>
                  </a:schemeClr>
                </a:solidFill>
              </a:rPr>
              <a:t>Experiment</a:t>
            </a:r>
            <a:r>
              <a:rPr lang="en-US" altLang="zh-TW" sz="3600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3690CF-19AE-D02C-BC7C-F02A7736530C}"/>
              </a:ext>
            </a:extLst>
          </p:cNvPr>
          <p:cNvSpPr/>
          <p:nvPr/>
        </p:nvSpPr>
        <p:spPr>
          <a:xfrm>
            <a:off x="11178272" y="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TW" sz="5400" b="1" dirty="0">
                <a:ln/>
                <a:solidFill>
                  <a:schemeClr val="accent3"/>
                </a:solidFill>
              </a:rPr>
              <a:t>22</a:t>
            </a:r>
            <a:endParaRPr lang="zh-TW" alt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BE72F11-E579-7A43-EC08-7B5460CC5D82}"/>
              </a:ext>
            </a:extLst>
          </p:cNvPr>
          <p:cNvSpPr/>
          <p:nvPr/>
        </p:nvSpPr>
        <p:spPr>
          <a:xfrm>
            <a:off x="0" y="0"/>
            <a:ext cx="11178272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4A1AF7-D57D-9AFE-F73C-BB0B5D09B3B5}"/>
              </a:ext>
            </a:extLst>
          </p:cNvPr>
          <p:cNvSpPr/>
          <p:nvPr/>
        </p:nvSpPr>
        <p:spPr>
          <a:xfrm>
            <a:off x="0" y="159226"/>
            <a:ext cx="149537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45E6D1-7C5F-D9A0-66E2-D65F1905D4DA}"/>
              </a:ext>
            </a:extLst>
          </p:cNvPr>
          <p:cNvSpPr/>
          <p:nvPr/>
        </p:nvSpPr>
        <p:spPr>
          <a:xfrm>
            <a:off x="149537" y="6698774"/>
            <a:ext cx="12042463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DB73E3F-A68A-6713-BBC1-A5C720FE10AF}"/>
              </a:ext>
            </a:extLst>
          </p:cNvPr>
          <p:cNvSpPr/>
          <p:nvPr/>
        </p:nvSpPr>
        <p:spPr>
          <a:xfrm>
            <a:off x="12042463" y="1"/>
            <a:ext cx="146674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: 剪去單一角落 20">
            <a:extLst>
              <a:ext uri="{FF2B5EF4-FFF2-40B4-BE49-F238E27FC236}">
                <a16:creationId xmlns:a16="http://schemas.microsoft.com/office/drawing/2014/main" id="{5A4CA725-13C0-AFFF-A43E-C89A5889DA39}"/>
              </a:ext>
            </a:extLst>
          </p:cNvPr>
          <p:cNvSpPr/>
          <p:nvPr/>
        </p:nvSpPr>
        <p:spPr>
          <a:xfrm rot="10800000">
            <a:off x="10993120" y="159225"/>
            <a:ext cx="179426" cy="80555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CD7515F-CCBD-6635-BE72-1F9ED681F198}"/>
              </a:ext>
            </a:extLst>
          </p:cNvPr>
          <p:cNvSpPr/>
          <p:nvPr/>
        </p:nvSpPr>
        <p:spPr>
          <a:xfrm>
            <a:off x="11175409" y="805557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D5E6747-3291-734A-5C38-DD1FF274E5E9}"/>
              </a:ext>
            </a:extLst>
          </p:cNvPr>
          <p:cNvSpPr/>
          <p:nvPr/>
        </p:nvSpPr>
        <p:spPr>
          <a:xfrm>
            <a:off x="11172546" y="-2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2D7B28F-9C7B-8859-74EC-C9302301D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42" y="1188345"/>
            <a:ext cx="10748916" cy="464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98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B2EFEA02-E9FC-8FD9-2305-515724104D1C}"/>
              </a:ext>
            </a:extLst>
          </p:cNvPr>
          <p:cNvSpPr txBox="1"/>
          <p:nvPr/>
        </p:nvSpPr>
        <p:spPr>
          <a:xfrm>
            <a:off x="149537" y="159226"/>
            <a:ext cx="110287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chemeClr val="tx2">
                    <a:lumMod val="75000"/>
                  </a:schemeClr>
                </a:solidFill>
              </a:rPr>
              <a:t>Experiment</a:t>
            </a:r>
            <a:r>
              <a:rPr lang="en-US" altLang="zh-TW" sz="3600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3690CF-19AE-D02C-BC7C-F02A7736530C}"/>
              </a:ext>
            </a:extLst>
          </p:cNvPr>
          <p:cNvSpPr/>
          <p:nvPr/>
        </p:nvSpPr>
        <p:spPr>
          <a:xfrm>
            <a:off x="11178272" y="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TW" sz="5400" b="1" dirty="0">
                <a:ln/>
                <a:solidFill>
                  <a:schemeClr val="accent3"/>
                </a:solidFill>
              </a:rPr>
              <a:t>23</a:t>
            </a:r>
            <a:endParaRPr lang="zh-TW" alt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BE72F11-E579-7A43-EC08-7B5460CC5D82}"/>
              </a:ext>
            </a:extLst>
          </p:cNvPr>
          <p:cNvSpPr/>
          <p:nvPr/>
        </p:nvSpPr>
        <p:spPr>
          <a:xfrm>
            <a:off x="0" y="0"/>
            <a:ext cx="11178272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4A1AF7-D57D-9AFE-F73C-BB0B5D09B3B5}"/>
              </a:ext>
            </a:extLst>
          </p:cNvPr>
          <p:cNvSpPr/>
          <p:nvPr/>
        </p:nvSpPr>
        <p:spPr>
          <a:xfrm>
            <a:off x="0" y="159226"/>
            <a:ext cx="149537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45E6D1-7C5F-D9A0-66E2-D65F1905D4DA}"/>
              </a:ext>
            </a:extLst>
          </p:cNvPr>
          <p:cNvSpPr/>
          <p:nvPr/>
        </p:nvSpPr>
        <p:spPr>
          <a:xfrm>
            <a:off x="149537" y="6698774"/>
            <a:ext cx="12042463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DB73E3F-A68A-6713-BBC1-A5C720FE10AF}"/>
              </a:ext>
            </a:extLst>
          </p:cNvPr>
          <p:cNvSpPr/>
          <p:nvPr/>
        </p:nvSpPr>
        <p:spPr>
          <a:xfrm>
            <a:off x="12042463" y="1"/>
            <a:ext cx="146674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: 剪去單一角落 20">
            <a:extLst>
              <a:ext uri="{FF2B5EF4-FFF2-40B4-BE49-F238E27FC236}">
                <a16:creationId xmlns:a16="http://schemas.microsoft.com/office/drawing/2014/main" id="{5A4CA725-13C0-AFFF-A43E-C89A5889DA39}"/>
              </a:ext>
            </a:extLst>
          </p:cNvPr>
          <p:cNvSpPr/>
          <p:nvPr/>
        </p:nvSpPr>
        <p:spPr>
          <a:xfrm rot="10800000">
            <a:off x="10993120" y="159225"/>
            <a:ext cx="179426" cy="80555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CD7515F-CCBD-6635-BE72-1F9ED681F198}"/>
              </a:ext>
            </a:extLst>
          </p:cNvPr>
          <p:cNvSpPr/>
          <p:nvPr/>
        </p:nvSpPr>
        <p:spPr>
          <a:xfrm>
            <a:off x="11175409" y="805557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D5E6747-3291-734A-5C38-DD1FF274E5E9}"/>
              </a:ext>
            </a:extLst>
          </p:cNvPr>
          <p:cNvSpPr/>
          <p:nvPr/>
        </p:nvSpPr>
        <p:spPr>
          <a:xfrm>
            <a:off x="11172546" y="-2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988B7F8-8C7B-36EF-35D6-EED593D1D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07" y="1522888"/>
            <a:ext cx="7254573" cy="412781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9CD1614-3573-2FE7-2E19-5CB27CEB7487}"/>
              </a:ext>
            </a:extLst>
          </p:cNvPr>
          <p:cNvSpPr txBox="1"/>
          <p:nvPr/>
        </p:nvSpPr>
        <p:spPr>
          <a:xfrm>
            <a:off x="8124567" y="964780"/>
            <a:ext cx="394048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The figure contains a comparison of </a:t>
            </a:r>
            <a:r>
              <a:rPr lang="en-US" altLang="zh-TW" sz="2400" b="1" dirty="0"/>
              <a:t>truck speed predictions</a:t>
            </a:r>
            <a:r>
              <a:rPr lang="en-US" altLang="zh-TW" sz="2400" dirty="0"/>
              <a:t> from </a:t>
            </a:r>
            <a:r>
              <a:rPr lang="en-US" altLang="zh-TW" sz="2400" b="1" dirty="0">
                <a:solidFill>
                  <a:schemeClr val="accent1">
                    <a:lumMod val="75000"/>
                  </a:schemeClr>
                </a:solidFill>
              </a:rPr>
              <a:t>MT-G2C</a:t>
            </a:r>
            <a:r>
              <a:rPr lang="en-US" altLang="zh-TW" sz="2400" dirty="0"/>
              <a:t> and  </a:t>
            </a:r>
            <a:r>
              <a:rPr lang="en-US" altLang="zh-TW" sz="2400" b="1" dirty="0">
                <a:solidFill>
                  <a:schemeClr val="accent1">
                    <a:lumMod val="75000"/>
                  </a:schemeClr>
                </a:solidFill>
              </a:rPr>
              <a:t>MT-G2C</a:t>
            </a:r>
            <a:r>
              <a:rPr lang="en-US" altLang="zh-TW" sz="2400" b="1" dirty="0"/>
              <a:t> </a:t>
            </a:r>
            <a:r>
              <a:rPr lang="en-US" altLang="zh-TW" sz="2400" b="1" dirty="0">
                <a:solidFill>
                  <a:schemeClr val="accent2">
                    <a:lumMod val="75000"/>
                  </a:schemeClr>
                </a:solidFill>
              </a:rPr>
              <a:t>without SMOTE</a:t>
            </a:r>
            <a:r>
              <a:rPr lang="en-US" altLang="zh-TW" sz="2400" dirty="0"/>
              <a:t>, for the 1 hour time horizon.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One possible explanation for the sudden changes at peaks could be  attributed to factors other than the </a:t>
            </a:r>
            <a:r>
              <a:rPr lang="zh-TW" altLang="en-US" sz="2400" b="1" dirty="0"/>
              <a:t>contextual factors </a:t>
            </a:r>
            <a:r>
              <a:rPr lang="zh-TW" altLang="en-US" sz="2400" dirty="0"/>
              <a:t>considered  in this study, such as </a:t>
            </a:r>
            <a:r>
              <a:rPr lang="zh-TW" altLang="en-US" sz="2400" b="1" dirty="0"/>
              <a:t>traffic accidents </a:t>
            </a:r>
            <a:r>
              <a:rPr lang="zh-TW" altLang="en-US" sz="2400" dirty="0"/>
              <a:t>and </a:t>
            </a:r>
            <a:r>
              <a:rPr lang="zh-TW" altLang="en-US" sz="2400" b="1" dirty="0"/>
              <a:t>road construction</a:t>
            </a:r>
            <a:r>
              <a:rPr lang="zh-TW" alt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5303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B2EFEA02-E9FC-8FD9-2305-515724104D1C}"/>
              </a:ext>
            </a:extLst>
          </p:cNvPr>
          <p:cNvSpPr txBox="1"/>
          <p:nvPr/>
        </p:nvSpPr>
        <p:spPr>
          <a:xfrm>
            <a:off x="149537" y="159226"/>
            <a:ext cx="110287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contributions: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3690CF-19AE-D02C-BC7C-F02A7736530C}"/>
              </a:ext>
            </a:extLst>
          </p:cNvPr>
          <p:cNvSpPr/>
          <p:nvPr/>
        </p:nvSpPr>
        <p:spPr>
          <a:xfrm>
            <a:off x="11178272" y="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TW" sz="5400" b="1" dirty="0">
                <a:ln/>
                <a:solidFill>
                  <a:schemeClr val="accent3"/>
                </a:solidFill>
              </a:rPr>
              <a:t>24</a:t>
            </a:r>
            <a:endParaRPr lang="zh-TW" alt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BE72F11-E579-7A43-EC08-7B5460CC5D82}"/>
              </a:ext>
            </a:extLst>
          </p:cNvPr>
          <p:cNvSpPr/>
          <p:nvPr/>
        </p:nvSpPr>
        <p:spPr>
          <a:xfrm>
            <a:off x="0" y="0"/>
            <a:ext cx="11178272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4A1AF7-D57D-9AFE-F73C-BB0B5D09B3B5}"/>
              </a:ext>
            </a:extLst>
          </p:cNvPr>
          <p:cNvSpPr/>
          <p:nvPr/>
        </p:nvSpPr>
        <p:spPr>
          <a:xfrm>
            <a:off x="0" y="159226"/>
            <a:ext cx="149537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45E6D1-7C5F-D9A0-66E2-D65F1905D4DA}"/>
              </a:ext>
            </a:extLst>
          </p:cNvPr>
          <p:cNvSpPr/>
          <p:nvPr/>
        </p:nvSpPr>
        <p:spPr>
          <a:xfrm>
            <a:off x="149537" y="6698774"/>
            <a:ext cx="12042463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DB73E3F-A68A-6713-BBC1-A5C720FE10AF}"/>
              </a:ext>
            </a:extLst>
          </p:cNvPr>
          <p:cNvSpPr/>
          <p:nvPr/>
        </p:nvSpPr>
        <p:spPr>
          <a:xfrm>
            <a:off x="12042463" y="1"/>
            <a:ext cx="146674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: 剪去單一角落 20">
            <a:extLst>
              <a:ext uri="{FF2B5EF4-FFF2-40B4-BE49-F238E27FC236}">
                <a16:creationId xmlns:a16="http://schemas.microsoft.com/office/drawing/2014/main" id="{5A4CA725-13C0-AFFF-A43E-C89A5889DA39}"/>
              </a:ext>
            </a:extLst>
          </p:cNvPr>
          <p:cNvSpPr/>
          <p:nvPr/>
        </p:nvSpPr>
        <p:spPr>
          <a:xfrm rot="10800000">
            <a:off x="10993120" y="159225"/>
            <a:ext cx="179426" cy="80555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CD7515F-CCBD-6635-BE72-1F9ED681F198}"/>
              </a:ext>
            </a:extLst>
          </p:cNvPr>
          <p:cNvSpPr/>
          <p:nvPr/>
        </p:nvSpPr>
        <p:spPr>
          <a:xfrm>
            <a:off x="11175409" y="805557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D5E6747-3291-734A-5C38-DD1FF274E5E9}"/>
              </a:ext>
            </a:extLst>
          </p:cNvPr>
          <p:cNvSpPr/>
          <p:nvPr/>
        </p:nvSpPr>
        <p:spPr>
          <a:xfrm>
            <a:off x="11172546" y="-2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93D3D55-4D6B-40F0-53F0-62984D02D251}"/>
              </a:ext>
            </a:extLst>
          </p:cNvPr>
          <p:cNvSpPr txBox="1"/>
          <p:nvPr/>
        </p:nvSpPr>
        <p:spPr>
          <a:xfrm>
            <a:off x="561544" y="1451888"/>
            <a:ext cx="1121844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accent1">
                    <a:lumMod val="75000"/>
                  </a:schemeClr>
                </a:solidFill>
              </a:rPr>
              <a:t>MT-C2G</a:t>
            </a:r>
            <a:r>
              <a:rPr lang="en-US" altLang="zh-TW" sz="2400" dirty="0"/>
              <a:t> takes the </a:t>
            </a:r>
            <a:r>
              <a:rPr lang="en-US" altLang="zh-TW" sz="2400" b="1" dirty="0"/>
              <a:t>contextual features </a:t>
            </a:r>
            <a:r>
              <a:rPr lang="en-US" altLang="zh-TW" sz="2400" dirty="0"/>
              <a:t>into account when  predicting truck speed. It employs a layer of </a:t>
            </a:r>
            <a:r>
              <a:rPr lang="en-US" altLang="zh-TW" sz="2400" b="1" dirty="0"/>
              <a:t>GRU units</a:t>
            </a:r>
            <a:r>
              <a:rPr lang="en-US" altLang="zh-TW" sz="2400" dirty="0"/>
              <a:t> to </a:t>
            </a:r>
            <a:r>
              <a:rPr lang="en-US" altLang="zh-TW" sz="2400" b="1" dirty="0"/>
              <a:t>capture the temporal dependence </a:t>
            </a:r>
            <a:r>
              <a:rPr lang="en-US" altLang="zh-TW" sz="2400" dirty="0"/>
              <a:t>in multivariate time series  of external factors, including temporal patterns shown in the historical truck traffic and </a:t>
            </a:r>
            <a:r>
              <a:rPr lang="en-US" altLang="zh-TW" sz="2400" b="1" dirty="0"/>
              <a:t>contextual factors</a:t>
            </a:r>
            <a:r>
              <a:rPr lang="en-US" altLang="zh-TW" sz="2400" dirty="0"/>
              <a:t>. </a:t>
            </a:r>
          </a:p>
          <a:p>
            <a:pPr lvl="1"/>
            <a:r>
              <a:rPr lang="en-US" altLang="zh-TW" sz="2400" dirty="0"/>
              <a:t> 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accent1">
                    <a:lumMod val="75000"/>
                  </a:schemeClr>
                </a:solidFill>
              </a:rPr>
              <a:t>MT-C2G </a:t>
            </a:r>
            <a:r>
              <a:rPr lang="en-US" altLang="zh-TW" sz="2400" dirty="0"/>
              <a:t>utilizes </a:t>
            </a:r>
            <a:r>
              <a:rPr lang="en-US" altLang="zh-TW" sz="2400" b="1" dirty="0"/>
              <a:t>MTL model </a:t>
            </a:r>
            <a:r>
              <a:rPr lang="en-US" altLang="zh-TW" sz="2400" dirty="0"/>
              <a:t>to obtain a reasonable speed prediction based on real-world truck speed and flow historical data. </a:t>
            </a:r>
          </a:p>
          <a:p>
            <a:pPr lvl="1"/>
            <a:r>
              <a:rPr lang="en-US" altLang="zh-TW" sz="2400" dirty="0"/>
              <a:t>    -	Considering </a:t>
            </a:r>
            <a:r>
              <a:rPr lang="en-US" altLang="zh-TW" sz="2400" b="1" dirty="0"/>
              <a:t>truck speed and flow </a:t>
            </a:r>
            <a:r>
              <a:rPr lang="en-US" altLang="zh-TW" sz="2400" dirty="0"/>
              <a:t>simultaneously, </a:t>
            </a:r>
            <a:r>
              <a:rPr lang="en-US" altLang="zh-TW" sz="2400" b="1" dirty="0">
                <a:solidFill>
                  <a:schemeClr val="accent1">
                    <a:lumMod val="75000"/>
                  </a:schemeClr>
                </a:solidFill>
              </a:rPr>
              <a:t>MT-C2G</a:t>
            </a:r>
            <a:r>
              <a:rPr lang="en-US" altLang="zh-TW" sz="2400" dirty="0"/>
              <a:t> makes full use of the 	interactions between these two variables, as well as </a:t>
            </a:r>
            <a:r>
              <a:rPr lang="en-US" altLang="zh-TW" sz="2400" b="1" dirty="0"/>
              <a:t>reducing the impact </a:t>
            </a:r>
            <a:r>
              <a:rPr lang="en-US" altLang="zh-TW" sz="2400" dirty="0"/>
              <a:t>of </a:t>
            </a:r>
            <a:r>
              <a:rPr lang="en-US" altLang="zh-TW" sz="2400" b="1" dirty="0"/>
              <a:t>noise</a:t>
            </a:r>
            <a:r>
              <a:rPr lang="en-US" altLang="zh-TW" sz="2400" dirty="0"/>
              <a:t> 	</a:t>
            </a:r>
            <a:r>
              <a:rPr lang="en-US" altLang="zh-TW" sz="2400" b="1" dirty="0"/>
              <a:t>and sparseness </a:t>
            </a:r>
            <a:r>
              <a:rPr lang="en-US" altLang="zh-TW" sz="2400" dirty="0"/>
              <a:t>in the data, focusing on the relevant feature that  provides more 	evidence, reducing the likelihood of </a:t>
            </a:r>
            <a:r>
              <a:rPr lang="en-US" altLang="zh-TW" sz="2400" b="1" dirty="0"/>
              <a:t>overfitting</a:t>
            </a:r>
            <a:r>
              <a:rPr lang="en-US" altLang="zh-TW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0050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A3690CF-19AE-D02C-BC7C-F02A7736530C}"/>
              </a:ext>
            </a:extLst>
          </p:cNvPr>
          <p:cNvSpPr/>
          <p:nvPr/>
        </p:nvSpPr>
        <p:spPr>
          <a:xfrm>
            <a:off x="11178272" y="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TW" sz="5400" b="1" dirty="0">
                <a:ln/>
                <a:solidFill>
                  <a:schemeClr val="accent3"/>
                </a:solidFill>
              </a:rPr>
              <a:t>25</a:t>
            </a:r>
            <a:endParaRPr lang="zh-TW" alt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BE72F11-E579-7A43-EC08-7B5460CC5D82}"/>
              </a:ext>
            </a:extLst>
          </p:cNvPr>
          <p:cNvSpPr/>
          <p:nvPr/>
        </p:nvSpPr>
        <p:spPr>
          <a:xfrm>
            <a:off x="0" y="0"/>
            <a:ext cx="11178272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4A1AF7-D57D-9AFE-F73C-BB0B5D09B3B5}"/>
              </a:ext>
            </a:extLst>
          </p:cNvPr>
          <p:cNvSpPr/>
          <p:nvPr/>
        </p:nvSpPr>
        <p:spPr>
          <a:xfrm>
            <a:off x="0" y="159226"/>
            <a:ext cx="149537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45E6D1-7C5F-D9A0-66E2-D65F1905D4DA}"/>
              </a:ext>
            </a:extLst>
          </p:cNvPr>
          <p:cNvSpPr/>
          <p:nvPr/>
        </p:nvSpPr>
        <p:spPr>
          <a:xfrm>
            <a:off x="149537" y="6698774"/>
            <a:ext cx="12042463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DB73E3F-A68A-6713-BBC1-A5C720FE10AF}"/>
              </a:ext>
            </a:extLst>
          </p:cNvPr>
          <p:cNvSpPr/>
          <p:nvPr/>
        </p:nvSpPr>
        <p:spPr>
          <a:xfrm>
            <a:off x="12042463" y="1"/>
            <a:ext cx="146674" cy="66987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: 剪去單一角落 20">
            <a:extLst>
              <a:ext uri="{FF2B5EF4-FFF2-40B4-BE49-F238E27FC236}">
                <a16:creationId xmlns:a16="http://schemas.microsoft.com/office/drawing/2014/main" id="{5A4CA725-13C0-AFFF-A43E-C89A5889DA39}"/>
              </a:ext>
            </a:extLst>
          </p:cNvPr>
          <p:cNvSpPr/>
          <p:nvPr/>
        </p:nvSpPr>
        <p:spPr>
          <a:xfrm rot="10800000">
            <a:off x="10993120" y="159225"/>
            <a:ext cx="179426" cy="80555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CD7515F-CCBD-6635-BE72-1F9ED681F198}"/>
              </a:ext>
            </a:extLst>
          </p:cNvPr>
          <p:cNvSpPr/>
          <p:nvPr/>
        </p:nvSpPr>
        <p:spPr>
          <a:xfrm>
            <a:off x="11175409" y="805557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D5E6747-3291-734A-5C38-DD1FF274E5E9}"/>
              </a:ext>
            </a:extLst>
          </p:cNvPr>
          <p:cNvSpPr/>
          <p:nvPr/>
        </p:nvSpPr>
        <p:spPr>
          <a:xfrm>
            <a:off x="11172546" y="-2"/>
            <a:ext cx="861328" cy="1592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7CEBF27-A240-D09C-24F7-0C8F646F127B}"/>
              </a:ext>
            </a:extLst>
          </p:cNvPr>
          <p:cNvSpPr txBox="1"/>
          <p:nvPr/>
        </p:nvSpPr>
        <p:spPr>
          <a:xfrm>
            <a:off x="149537" y="159226"/>
            <a:ext cx="110287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contributions: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AFCC34A-A968-90DA-8815-08003C5A63EE}"/>
              </a:ext>
            </a:extLst>
          </p:cNvPr>
          <p:cNvSpPr txBox="1"/>
          <p:nvPr/>
        </p:nvSpPr>
        <p:spPr>
          <a:xfrm>
            <a:off x="922721" y="1235928"/>
            <a:ext cx="1034655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b="1" dirty="0"/>
              <a:t>Truck speed and flow </a:t>
            </a:r>
            <a:r>
              <a:rPr lang="zh-TW" altLang="en-US" sz="2400" dirty="0"/>
              <a:t>samples that are synchronized with </a:t>
            </a:r>
            <a:r>
              <a:rPr lang="zh-TW" altLang="en-US" sz="2400" b="1" dirty="0"/>
              <a:t>extreme weather conditions</a:t>
            </a:r>
            <a:r>
              <a:rPr lang="zh-TW" altLang="en-US" sz="2400" dirty="0"/>
              <a:t> are under-represented, but the  samples should be emphasized during the training. </a:t>
            </a:r>
            <a:endParaRPr lang="en-US" altLang="zh-TW" sz="2400" dirty="0"/>
          </a:p>
          <a:p>
            <a:r>
              <a:rPr lang="en-US" altLang="zh-TW" sz="2400" dirty="0"/>
              <a:t>           -	</a:t>
            </a:r>
            <a:r>
              <a:rPr lang="zh-TW" altLang="en-US" sz="2400" dirty="0"/>
              <a:t>To addresses the issue, </a:t>
            </a:r>
            <a:r>
              <a:rPr lang="zh-TW" altLang="en-US" sz="2400" b="1" dirty="0">
                <a:solidFill>
                  <a:schemeClr val="accent1">
                    <a:lumMod val="75000"/>
                  </a:schemeClr>
                </a:solidFill>
              </a:rPr>
              <a:t>MT-C2G</a:t>
            </a:r>
            <a:r>
              <a:rPr lang="zh-TW" altLang="en-US" sz="2400" dirty="0"/>
              <a:t> utilizes the Synthetic Minority  </a:t>
            </a:r>
            <a:r>
              <a:rPr lang="en-US" altLang="zh-TW" sz="2400" dirty="0"/>
              <a:t>	</a:t>
            </a:r>
            <a:r>
              <a:rPr lang="zh-TW" altLang="en-US" sz="2400" dirty="0"/>
              <a:t>Oversampling Technique (</a:t>
            </a:r>
            <a:r>
              <a:rPr lang="zh-TW" altLang="en-US" sz="2400" b="1" dirty="0">
                <a:solidFill>
                  <a:schemeClr val="accent2">
                    <a:lumMod val="75000"/>
                  </a:schemeClr>
                </a:solidFill>
              </a:rPr>
              <a:t>SMOTE</a:t>
            </a:r>
            <a:r>
              <a:rPr lang="zh-TW" altLang="en-US" sz="2400" dirty="0"/>
              <a:t>) to over-sample the data  under the </a:t>
            </a:r>
            <a:r>
              <a:rPr lang="en-US" altLang="zh-TW" sz="2400" dirty="0"/>
              <a:t>	</a:t>
            </a:r>
            <a:r>
              <a:rPr lang="zh-TW" altLang="en-US" sz="2400" dirty="0"/>
              <a:t>extreme weather conditions, which improves the truck speed prediction </a:t>
            </a:r>
            <a:r>
              <a:rPr lang="en-US" altLang="zh-TW" sz="2400" dirty="0"/>
              <a:t>	</a:t>
            </a:r>
            <a:r>
              <a:rPr lang="zh-TW" altLang="en-US" sz="2400" dirty="0"/>
              <a:t>accuracy for extreme weather conditions. </a:t>
            </a:r>
          </a:p>
          <a:p>
            <a:endParaRPr lang="zh-TW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We conduct extensive experiments on two real-world datasets,  i.e. Calgary and Brussels truck traffic data, for evaluating  the performance of </a:t>
            </a:r>
            <a:r>
              <a:rPr lang="zh-TW" altLang="en-US" sz="2400" b="1" dirty="0">
                <a:solidFill>
                  <a:schemeClr val="accent1">
                    <a:lumMod val="75000"/>
                  </a:schemeClr>
                </a:solidFill>
              </a:rPr>
              <a:t>MT-C2G</a:t>
            </a:r>
            <a:r>
              <a:rPr lang="zh-TW" altLang="en-US" sz="2400" dirty="0"/>
              <a:t> model. Results prove that the  proposed approach obtains significant improvement over state-of-the-art baseline methods.</a:t>
            </a:r>
          </a:p>
        </p:txBody>
      </p:sp>
    </p:spTree>
    <p:extLst>
      <p:ext uri="{BB962C8B-B14F-4D97-AF65-F5344CB8AC3E}">
        <p14:creationId xmlns:p14="http://schemas.microsoft.com/office/powerpoint/2010/main" val="42429484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2EFEA02-E9FC-8FD9-2305-515724104D1C}"/>
              </a:ext>
            </a:extLst>
          </p:cNvPr>
          <p:cNvSpPr txBox="1"/>
          <p:nvPr/>
        </p:nvSpPr>
        <p:spPr>
          <a:xfrm>
            <a:off x="6590662" y="4267832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TW" sz="6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 END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A85CE77F-76B1-7C42-40FF-98B7E7077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03562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4464</TotalTime>
  <Words>2697</Words>
  <Application>Microsoft Office PowerPoint</Application>
  <PresentationFormat>寬螢幕</PresentationFormat>
  <Paragraphs>192</Paragraphs>
  <Slides>26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3" baseType="lpstr">
      <vt:lpstr>PingFang SC</vt:lpstr>
      <vt:lpstr>Arial</vt:lpstr>
      <vt:lpstr>Calibri</vt:lpstr>
      <vt:lpstr>Calibri Light</vt:lpstr>
      <vt:lpstr>Cambria Math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張汶煜</dc:creator>
  <cp:lastModifiedBy>汶煜 張</cp:lastModifiedBy>
  <cp:revision>26</cp:revision>
  <dcterms:created xsi:type="dcterms:W3CDTF">2023-03-20T08:28:59Z</dcterms:created>
  <dcterms:modified xsi:type="dcterms:W3CDTF">2023-05-08T07:09:14Z</dcterms:modified>
</cp:coreProperties>
</file>